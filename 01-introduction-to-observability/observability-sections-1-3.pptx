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Today we cover the concepts only. No cluster yet. By the end of section 3 you will understand why the Helm install in section 4 looks as complicated as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Pure concept, no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question at a time. Ask the room what they would do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question at a time. Ask the room what they would do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engineers under pressure go straight to question 3 and start reading logs. You cannot read logs usefully until you know which component and which time window. Answering 1 and 2 first turns millions of log lines into a few hundred.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on the practical test. Most hands go up. Observability means the data was already there before you knew you needed it. Monitoring is a subset of observability, you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 number, a timestamp, labels. A few bytes. This is the only pillar you can afford to collect for everything, all the time. What it cannot do is tell you about one specific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carry the detail metrics threw away. The cost is volume, gigabytes per hour. This is why you narrow the window with metrics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Traces follow one request across every service. In a monolith a slow request is a slow function. In microservices, twelve services and the user sees three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three questions, one incident. The dashboard found the spike, the logs found the blast radius, the trace found the root cause. The order is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three questions, one incident. The dashboard found the spike, the logs found the blast radius, the trace found the root cause. The order is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three questions, one incident. The dashboard found the spike, the logs found the blast radius, the trace found the root cause. The order is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come back to whenever someone asks which tool to reach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One design decision explains almost everything about how Prometheus behaves.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looks like an implementation detail. It is not. It is the single decision that explains most of Prometheus's behaviour, including the parts that surprise people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before showing the answer. Ask the room what silence from a tower actually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Failure is a recorded fact, not missing data. Next slide makes that concrete with the up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 metric is not exposed by the target. Prometheus generates it. This is the concrete answer to why pull is better, and it comes up in interviews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Interviewers ask about the short-lived batch job specifically to find out whether someone learned Prometheus from a tutorial or actually understands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jobs, keep them separate in your head. It scrapes, it stores, it evaluates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node-exporter tells you about the machine. kube-state-metrics tells you what the API server believes about your workloads. That distinction is a very common interview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these two separate is deliberate. Prometheus knows about data. Alertmanager knows about people and schedules.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a Grafana dashboard was fetched from Prometheus at page load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last line matters. Metrics are samples, not a complete record. This is why you do not use metrics to audit individual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curl this endpoint yourself. It is text over HTTP,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Multi-dimensionality. Total requests per service, error rate per method, traffic by status code, all from the same underlying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remember one operational warning from this whole module,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inside out. Two things to carry forward: counters are almost always wrapped in rate(), and [5m] is a lookback window, not a time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section that does not run on Kubernetes, and the only one whose result we throw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use this approach in production on Kubernetes. That is the point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it. This is a reasonable tool for fixed infrastructure. The problem is specific to dynamic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of the entire section. Pause here. Let the room read the word static_configs and work out the implication before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this comparison. It is the single strongest argument in the module and it costs no explanation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clean up: purge the packages and terminate the VM. Everything from here runs on the EKS jump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section 3 here. Break, then move to the jump box for the Helm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24"/>
        </a:solidFill>
      </p:bgPr>
    </p:bg>
    <p:spTree>
      <p:nvGrpSpPr>
        <p:cNvPr id="1" name=""/>
        <p:cNvGrpSpPr/>
        <p:nvPr/>
      </p:nvGrpSpPr>
      <p:grpSpPr>
        <a:xfrm>
          <a:off x="0" y="0"/>
          <a:ext cx="0" cy="0"/>
          <a:chOff x="0" y="0"/>
          <a:chExt cx="0" cy="0"/>
        </a:xfrm>
      </p:grpSpPr>
      <p:sp>
        <p:nvSpPr>
          <p:cNvPr id="2" name="Shape 0"/>
          <p:cNvSpPr/>
          <p:nvPr/>
        </p:nvSpPr>
        <p:spPr>
          <a:xfrm>
            <a:off x="640080" y="1371600"/>
            <a:ext cx="822960" cy="822960"/>
          </a:xfrm>
          <a:prstGeom prst="roundRect">
            <a:avLst>
              <a:gd name="adj" fmla="val 11111"/>
            </a:avLst>
          </a:prstGeom>
          <a:solidFill>
            <a:srgbClr val="E8590C"/>
          </a:solidFill>
          <a:ln w="12700">
            <a:solidFill>
              <a:srgbClr val="E8590C"/>
            </a:solidFill>
            <a:prstDash val="solid"/>
          </a:ln>
        </p:spPr>
      </p:sp>
      <p:sp>
        <p:nvSpPr>
          <p:cNvPr id="3" name="Text 1"/>
          <p:cNvSpPr/>
          <p:nvPr/>
        </p:nvSpPr>
        <p:spPr>
          <a:xfrm>
            <a:off x="640080" y="137160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01</a:t>
            </a:r>
            <a:endParaRPr lang="en-US" sz="2600" dirty="0"/>
          </a:p>
        </p:txBody>
      </p:sp>
      <p:sp>
        <p:nvSpPr>
          <p:cNvPr id="4" name="Text 2"/>
          <p:cNvSpPr/>
          <p:nvPr/>
        </p:nvSpPr>
        <p:spPr>
          <a:xfrm>
            <a:off x="640080" y="2423160"/>
            <a:ext cx="10881360" cy="868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Introduction to Observability</a:t>
            </a:r>
            <a:endParaRPr lang="en-US" sz="4800" dirty="0"/>
          </a:p>
        </p:txBody>
      </p:sp>
      <p:sp>
        <p:nvSpPr>
          <p:cNvPr id="5" name="Text 3"/>
          <p:cNvSpPr/>
          <p:nvPr/>
        </p:nvSpPr>
        <p:spPr>
          <a:xfrm>
            <a:off x="640080" y="3291840"/>
            <a:ext cx="10881360" cy="457200"/>
          </a:xfrm>
          <a:prstGeom prst="rect">
            <a:avLst/>
          </a:prstGeom>
          <a:noFill/>
          <a:ln/>
        </p:spPr>
        <p:txBody>
          <a:bodyPr wrap="square" lIns="0" tIns="0" rIns="0" bIns="0" rtlCol="0" anchor="ctr"/>
          <a:lstStyle/>
          <a:p>
            <a:pPr indent="0" marL="0">
              <a:buNone/>
            </a:pPr>
            <a:r>
              <a:rPr lang="en-US" sz="2200" dirty="0">
                <a:solidFill>
                  <a:srgbClr val="9AA4B8"/>
                </a:solidFill>
                <a:latin typeface="Calibri" pitchFamily="34" charset="0"/>
                <a:ea typeface="Calibri" pitchFamily="34" charset="-122"/>
                <a:cs typeface="Calibri" pitchFamily="34" charset="-120"/>
              </a:rPr>
              <a:t>Prometheus and Grafana on Kubernetes</a:t>
            </a:r>
            <a:endParaRPr lang="en-US" sz="2200" dirty="0"/>
          </a:p>
        </p:txBody>
      </p:sp>
      <p:sp>
        <p:nvSpPr>
          <p:cNvPr id="6" name="Shape 4"/>
          <p:cNvSpPr/>
          <p:nvPr/>
        </p:nvSpPr>
        <p:spPr>
          <a:xfrm>
            <a:off x="640080" y="4069080"/>
            <a:ext cx="1583741" cy="384048"/>
          </a:xfrm>
          <a:prstGeom prst="roundRect">
            <a:avLst>
              <a:gd name="adj" fmla="val 47619"/>
            </a:avLst>
          </a:prstGeom>
          <a:solidFill>
            <a:srgbClr val="1F2437"/>
          </a:solidFill>
          <a:ln w="15875">
            <a:solidFill>
              <a:srgbClr val="E8590C"/>
            </a:solidFill>
            <a:prstDash val="solid"/>
          </a:ln>
        </p:spPr>
      </p:sp>
      <p:sp>
        <p:nvSpPr>
          <p:cNvPr id="7" name="Text 5"/>
          <p:cNvSpPr/>
          <p:nvPr/>
        </p:nvSpPr>
        <p:spPr>
          <a:xfrm>
            <a:off x="640080" y="4069080"/>
            <a:ext cx="1583741" cy="384048"/>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Sections 1 - 3</a:t>
            </a:r>
            <a:endParaRPr lang="en-US" sz="1250" dirty="0"/>
          </a:p>
        </p:txBody>
      </p:sp>
      <p:sp>
        <p:nvSpPr>
          <p:cNvPr id="8" name="Shape 6"/>
          <p:cNvSpPr/>
          <p:nvPr/>
        </p:nvSpPr>
        <p:spPr>
          <a:xfrm>
            <a:off x="2424989" y="4069080"/>
            <a:ext cx="991210" cy="384048"/>
          </a:xfrm>
          <a:prstGeom prst="roundRect">
            <a:avLst>
              <a:gd name="adj" fmla="val 47619"/>
            </a:avLst>
          </a:prstGeom>
          <a:solidFill>
            <a:srgbClr val="1F2437"/>
          </a:solidFill>
          <a:ln w="15875">
            <a:solidFill>
              <a:srgbClr val="2F9E44"/>
            </a:solidFill>
            <a:prstDash val="solid"/>
          </a:ln>
        </p:spPr>
      </p:sp>
      <p:sp>
        <p:nvSpPr>
          <p:cNvPr id="9" name="Text 7"/>
          <p:cNvSpPr/>
          <p:nvPr/>
        </p:nvSpPr>
        <p:spPr>
          <a:xfrm>
            <a:off x="2424989" y="4069080"/>
            <a:ext cx="991210" cy="384048"/>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Concepts</a:t>
            </a:r>
            <a:endParaRPr lang="en-US" sz="1250" dirty="0"/>
          </a:p>
        </p:txBody>
      </p:sp>
      <p:sp>
        <p:nvSpPr>
          <p:cNvPr id="10" name="Shape 8"/>
          <p:cNvSpPr/>
          <p:nvPr/>
        </p:nvSpPr>
        <p:spPr>
          <a:xfrm>
            <a:off x="3617366" y="4069080"/>
            <a:ext cx="2867558" cy="384048"/>
          </a:xfrm>
          <a:prstGeom prst="roundRect">
            <a:avLst>
              <a:gd name="adj" fmla="val 47619"/>
            </a:avLst>
          </a:prstGeom>
          <a:solidFill>
            <a:srgbClr val="1F2437"/>
          </a:solidFill>
          <a:ln w="15875">
            <a:solidFill>
              <a:srgbClr val="6741D9"/>
            </a:solidFill>
            <a:prstDash val="solid"/>
          </a:ln>
        </p:spPr>
      </p:sp>
      <p:sp>
        <p:nvSpPr>
          <p:cNvPr id="11" name="Text 9"/>
          <p:cNvSpPr/>
          <p:nvPr/>
        </p:nvSpPr>
        <p:spPr>
          <a:xfrm>
            <a:off x="3617366" y="4069080"/>
            <a:ext cx="2867558" cy="384048"/>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Before we touch the cluster</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824"/>
        </a:solidFill>
      </p:bgPr>
    </p:bg>
    <p:spTree>
      <p:nvGrpSpPr>
        <p:cNvPr id="1" name=""/>
        <p:cNvGrpSpPr/>
        <p:nvPr/>
      </p:nvGrpSpPr>
      <p:grpSpPr>
        <a:xfrm>
          <a:off x="0" y="0"/>
          <a:ext cx="0" cy="0"/>
          <a:chOff x="0" y="0"/>
          <a:chExt cx="0" cy="0"/>
        </a:xfrm>
      </p:grpSpPr>
      <p:sp>
        <p:nvSpPr>
          <p:cNvPr id="2" name="Text 0"/>
          <p:cNvSpPr/>
          <p:nvPr/>
        </p:nvSpPr>
        <p:spPr>
          <a:xfrm>
            <a:off x="640080" y="2468880"/>
            <a:ext cx="10881360" cy="457200"/>
          </a:xfrm>
          <a:prstGeom prst="rect">
            <a:avLst/>
          </a:prstGeom>
          <a:noFill/>
          <a:ln/>
        </p:spPr>
        <p:txBody>
          <a:bodyPr wrap="square" lIns="0" tIns="0" rIns="0" bIns="0" rtlCol="0" anchor="ctr"/>
          <a:lstStyle/>
          <a:p>
            <a:pPr indent="0" marL="0">
              <a:buNone/>
            </a:pPr>
            <a:r>
              <a:rPr lang="en-US" sz="1700" b="1" spc="300" kern="0" dirty="0">
                <a:solidFill>
                  <a:srgbClr val="E8590C"/>
                </a:solidFill>
                <a:latin typeface="Calibri" pitchFamily="34" charset="0"/>
                <a:ea typeface="Calibri" pitchFamily="34" charset="-122"/>
                <a:cs typeface="Calibri" pitchFamily="34" charset="-120"/>
              </a:rPr>
              <a:t>Section 1</a:t>
            </a:r>
            <a:endParaRPr lang="en-US" sz="1700" dirty="0"/>
          </a:p>
        </p:txBody>
      </p:sp>
      <p:sp>
        <p:nvSpPr>
          <p:cNvPr id="3" name="Text 1"/>
          <p:cNvSpPr/>
          <p:nvPr/>
        </p:nvSpPr>
        <p:spPr>
          <a:xfrm>
            <a:off x="640080" y="2926080"/>
            <a:ext cx="1088136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What is Observability?</a:t>
            </a:r>
            <a:endParaRPr lang="en-US" sz="4600" dirty="0"/>
          </a:p>
        </p:txBody>
      </p:sp>
      <p:sp>
        <p:nvSpPr>
          <p:cNvPr id="4" name="Text 2"/>
          <p:cNvSpPr/>
          <p:nvPr/>
        </p:nvSpPr>
        <p:spPr>
          <a:xfrm>
            <a:off x="640080" y="3840480"/>
            <a:ext cx="10881360" cy="365760"/>
          </a:xfrm>
          <a:prstGeom prst="rect">
            <a:avLst/>
          </a:prstGeom>
          <a:noFill/>
          <a:ln/>
        </p:spPr>
        <p:txBody>
          <a:bodyPr wrap="square" lIns="0" tIns="0" rIns="0" bIns="0" rtlCol="0" anchor="ctr"/>
          <a:lstStyle/>
          <a:p>
            <a:pPr indent="0" marL="0">
              <a:buNone/>
            </a:pPr>
            <a:r>
              <a:rPr lang="en-US" sz="1500" dirty="0">
                <a:solidFill>
                  <a:srgbClr val="9AA4B8"/>
                </a:solidFill>
                <a:latin typeface="Calibri" pitchFamily="34" charset="0"/>
                <a:ea typeface="Calibri" pitchFamily="34" charset="-122"/>
                <a:cs typeface="Calibri" pitchFamily="34" charset="-120"/>
              </a:rPr>
              <a:t>Roughly 7 minutes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THE 2 AM PROBLEM</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Three questions, in this order</a:t>
            </a:r>
            <a:endParaRPr lang="en-US" sz="3400" dirty="0"/>
          </a:p>
        </p:txBody>
      </p:sp>
      <p:sp>
        <p:nvSpPr>
          <p:cNvPr id="4" name="Text 2"/>
          <p:cNvSpPr/>
          <p:nvPr/>
        </p:nvSpPr>
        <p:spPr>
          <a:xfrm>
            <a:off x="640080" y="1481328"/>
            <a:ext cx="10881360" cy="365760"/>
          </a:xfrm>
          <a:prstGeom prst="rect">
            <a:avLst/>
          </a:prstGeom>
          <a:noFill/>
          <a:ln/>
        </p:spPr>
        <p:txBody>
          <a:bodyPr wrap="square" lIns="0" tIns="0" rIns="0" bIns="0" rtlCol="0" anchor="ctr"/>
          <a:lstStyle/>
          <a:p>
            <a:pPr indent="0" marL="0">
              <a:buNone/>
            </a:pPr>
            <a:r>
              <a:rPr lang="en-US" sz="1600" dirty="0">
                <a:solidFill>
                  <a:srgbClr val="3D4351"/>
                </a:solidFill>
                <a:latin typeface="Calibri" pitchFamily="34" charset="0"/>
                <a:ea typeface="Calibri" pitchFamily="34" charset="-122"/>
                <a:cs typeface="Calibri" pitchFamily="34" charset="-120"/>
              </a:rPr>
              <a:t>Your phone buzzes at 2 AM. Checkout is failing. Customers are dropping.</a:t>
            </a:r>
            <a:endParaRPr lang="en-US" sz="1600" dirty="0"/>
          </a:p>
        </p:txBody>
      </p:sp>
      <p:sp>
        <p:nvSpPr>
          <p:cNvPr id="5" name="Shape 3"/>
          <p:cNvSpPr/>
          <p:nvPr/>
        </p:nvSpPr>
        <p:spPr>
          <a:xfrm>
            <a:off x="640080" y="2148840"/>
            <a:ext cx="10881360" cy="1051560"/>
          </a:xfrm>
          <a:prstGeom prst="roundRect">
            <a:avLst>
              <a:gd name="adj" fmla="val 6957"/>
            </a:avLst>
          </a:prstGeom>
          <a:solidFill>
            <a:srgbClr val="FFE8D6"/>
          </a:solidFill>
          <a:ln w="19050">
            <a:solidFill>
              <a:srgbClr val="E8590C"/>
            </a:solidFill>
            <a:prstDash val="solid"/>
          </a:ln>
        </p:spPr>
      </p:sp>
      <p:sp>
        <p:nvSpPr>
          <p:cNvPr id="6" name="Shape 4"/>
          <p:cNvSpPr/>
          <p:nvPr/>
        </p:nvSpPr>
        <p:spPr>
          <a:xfrm>
            <a:off x="914400" y="2423160"/>
            <a:ext cx="502920" cy="502920"/>
          </a:xfrm>
          <a:prstGeom prst="ellipse">
            <a:avLst/>
          </a:prstGeom>
          <a:solidFill>
            <a:srgbClr val="E8590C"/>
          </a:solidFill>
          <a:ln w="12700">
            <a:solidFill>
              <a:srgbClr val="E8590C"/>
            </a:solidFill>
            <a:prstDash val="solid"/>
          </a:ln>
        </p:spPr>
      </p:sp>
      <p:sp>
        <p:nvSpPr>
          <p:cNvPr id="7" name="Text 5"/>
          <p:cNvSpPr/>
          <p:nvPr/>
        </p:nvSpPr>
        <p:spPr>
          <a:xfrm>
            <a:off x="914400" y="24231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645920" y="2331720"/>
            <a:ext cx="4572000" cy="384048"/>
          </a:xfrm>
          <a:prstGeom prst="rect">
            <a:avLst/>
          </a:prstGeom>
          <a:noFill/>
          <a:ln/>
        </p:spPr>
        <p:txBody>
          <a:bodyPr wrap="square" lIns="0" tIns="0" rIns="0" bIns="0" rtlCol="0" anchor="ctr"/>
          <a:lstStyle/>
          <a:p>
            <a:pPr indent="0" marL="0">
              <a:buNone/>
            </a:pPr>
            <a:r>
              <a:rPr lang="en-US" sz="2200" b="1" dirty="0">
                <a:solidFill>
                  <a:srgbClr val="1A1D26"/>
                </a:solidFill>
                <a:latin typeface="Cambria" pitchFamily="34" charset="0"/>
                <a:ea typeface="Cambria" pitchFamily="34" charset="-122"/>
                <a:cs typeface="Cambria" pitchFamily="34" charset="-120"/>
              </a:rPr>
              <a:t>What is broken?</a:t>
            </a:r>
            <a:endParaRPr lang="en-US" sz="2200" dirty="0"/>
          </a:p>
        </p:txBody>
      </p:sp>
      <p:sp>
        <p:nvSpPr>
          <p:cNvPr id="9" name="Text 7"/>
          <p:cNvSpPr/>
          <p:nvPr/>
        </p:nvSpPr>
        <p:spPr>
          <a:xfrm>
            <a:off x="1645920" y="2724912"/>
            <a:ext cx="5669280" cy="320040"/>
          </a:xfrm>
          <a:prstGeom prst="rect">
            <a:avLst/>
          </a:prstGeom>
          <a:noFill/>
          <a:ln/>
        </p:spPr>
        <p:txBody>
          <a:bodyPr wrap="square" lIns="0" tIns="0" rIns="0" bIns="0" rtlCol="0" anchor="ctr"/>
          <a:lstStyle/>
          <a:p>
            <a:pPr indent="0" marL="0">
              <a:buNone/>
            </a:pPr>
            <a:r>
              <a:rPr lang="en-US" sz="1400" dirty="0">
                <a:solidFill>
                  <a:srgbClr val="3D4351"/>
                </a:solidFill>
                <a:latin typeface="Calibri" pitchFamily="34" charset="0"/>
                <a:ea typeface="Calibri" pitchFamily="34" charset="-122"/>
                <a:cs typeface="Calibri" pitchFamily="34" charset="-120"/>
              </a:rPr>
              <a:t>Which component deviated from normal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THE 2 AM PROBLEM</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Three questions, in this order</a:t>
            </a:r>
            <a:endParaRPr lang="en-US" sz="3400" dirty="0"/>
          </a:p>
        </p:txBody>
      </p:sp>
      <p:sp>
        <p:nvSpPr>
          <p:cNvPr id="4" name="Text 2"/>
          <p:cNvSpPr/>
          <p:nvPr/>
        </p:nvSpPr>
        <p:spPr>
          <a:xfrm>
            <a:off x="640080" y="1481328"/>
            <a:ext cx="10881360" cy="365760"/>
          </a:xfrm>
          <a:prstGeom prst="rect">
            <a:avLst/>
          </a:prstGeom>
          <a:noFill/>
          <a:ln/>
        </p:spPr>
        <p:txBody>
          <a:bodyPr wrap="square" lIns="0" tIns="0" rIns="0" bIns="0" rtlCol="0" anchor="ctr"/>
          <a:lstStyle/>
          <a:p>
            <a:pPr indent="0" marL="0">
              <a:buNone/>
            </a:pPr>
            <a:r>
              <a:rPr lang="en-US" sz="1600" dirty="0">
                <a:solidFill>
                  <a:srgbClr val="3D4351"/>
                </a:solidFill>
                <a:latin typeface="Calibri" pitchFamily="34" charset="0"/>
                <a:ea typeface="Calibri" pitchFamily="34" charset="-122"/>
                <a:cs typeface="Calibri" pitchFamily="34" charset="-120"/>
              </a:rPr>
              <a:t>Your phone buzzes at 2 AM. Checkout is failing. Customers are dropping.</a:t>
            </a:r>
            <a:endParaRPr lang="en-US" sz="1600" dirty="0"/>
          </a:p>
        </p:txBody>
      </p:sp>
      <p:sp>
        <p:nvSpPr>
          <p:cNvPr id="5" name="Shape 3"/>
          <p:cNvSpPr/>
          <p:nvPr/>
        </p:nvSpPr>
        <p:spPr>
          <a:xfrm>
            <a:off x="640080" y="2148840"/>
            <a:ext cx="10881360" cy="1051560"/>
          </a:xfrm>
          <a:prstGeom prst="roundRect">
            <a:avLst>
              <a:gd name="adj" fmla="val 6957"/>
            </a:avLst>
          </a:prstGeom>
          <a:solidFill>
            <a:srgbClr val="FFE8D6"/>
          </a:solidFill>
          <a:ln w="19050">
            <a:solidFill>
              <a:srgbClr val="E8590C"/>
            </a:solidFill>
            <a:prstDash val="solid"/>
          </a:ln>
        </p:spPr>
      </p:sp>
      <p:sp>
        <p:nvSpPr>
          <p:cNvPr id="6" name="Shape 4"/>
          <p:cNvSpPr/>
          <p:nvPr/>
        </p:nvSpPr>
        <p:spPr>
          <a:xfrm>
            <a:off x="914400" y="2423160"/>
            <a:ext cx="502920" cy="502920"/>
          </a:xfrm>
          <a:prstGeom prst="ellipse">
            <a:avLst/>
          </a:prstGeom>
          <a:solidFill>
            <a:srgbClr val="E8590C"/>
          </a:solidFill>
          <a:ln w="12700">
            <a:solidFill>
              <a:srgbClr val="E8590C"/>
            </a:solidFill>
            <a:prstDash val="solid"/>
          </a:ln>
        </p:spPr>
      </p:sp>
      <p:sp>
        <p:nvSpPr>
          <p:cNvPr id="7" name="Text 5"/>
          <p:cNvSpPr/>
          <p:nvPr/>
        </p:nvSpPr>
        <p:spPr>
          <a:xfrm>
            <a:off x="914400" y="24231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645920" y="2331720"/>
            <a:ext cx="4572000" cy="384048"/>
          </a:xfrm>
          <a:prstGeom prst="rect">
            <a:avLst/>
          </a:prstGeom>
          <a:noFill/>
          <a:ln/>
        </p:spPr>
        <p:txBody>
          <a:bodyPr wrap="square" lIns="0" tIns="0" rIns="0" bIns="0" rtlCol="0" anchor="ctr"/>
          <a:lstStyle/>
          <a:p>
            <a:pPr indent="0" marL="0">
              <a:buNone/>
            </a:pPr>
            <a:r>
              <a:rPr lang="en-US" sz="2200" b="1" dirty="0">
                <a:solidFill>
                  <a:srgbClr val="1A1D26"/>
                </a:solidFill>
                <a:latin typeface="Cambria" pitchFamily="34" charset="0"/>
                <a:ea typeface="Cambria" pitchFamily="34" charset="-122"/>
                <a:cs typeface="Cambria" pitchFamily="34" charset="-120"/>
              </a:rPr>
              <a:t>What is broken?</a:t>
            </a:r>
            <a:endParaRPr lang="en-US" sz="2200" dirty="0"/>
          </a:p>
        </p:txBody>
      </p:sp>
      <p:sp>
        <p:nvSpPr>
          <p:cNvPr id="9" name="Text 7"/>
          <p:cNvSpPr/>
          <p:nvPr/>
        </p:nvSpPr>
        <p:spPr>
          <a:xfrm>
            <a:off x="1645920" y="2724912"/>
            <a:ext cx="5669280" cy="320040"/>
          </a:xfrm>
          <a:prstGeom prst="rect">
            <a:avLst/>
          </a:prstGeom>
          <a:noFill/>
          <a:ln/>
        </p:spPr>
        <p:txBody>
          <a:bodyPr wrap="square" lIns="0" tIns="0" rIns="0" bIns="0" rtlCol="0" anchor="ctr"/>
          <a:lstStyle/>
          <a:p>
            <a:pPr indent="0" marL="0">
              <a:buNone/>
            </a:pPr>
            <a:r>
              <a:rPr lang="en-US" sz="1400" dirty="0">
                <a:solidFill>
                  <a:srgbClr val="3D4351"/>
                </a:solidFill>
                <a:latin typeface="Calibri" pitchFamily="34" charset="0"/>
                <a:ea typeface="Calibri" pitchFamily="34" charset="-122"/>
                <a:cs typeface="Calibri" pitchFamily="34" charset="-120"/>
              </a:rPr>
              <a:t>Which component deviated from normal</a:t>
            </a:r>
            <a:endParaRPr lang="en-US" sz="1400" dirty="0"/>
          </a:p>
        </p:txBody>
      </p:sp>
      <p:sp>
        <p:nvSpPr>
          <p:cNvPr id="10" name="Shape 8"/>
          <p:cNvSpPr/>
          <p:nvPr/>
        </p:nvSpPr>
        <p:spPr>
          <a:xfrm>
            <a:off x="640080" y="3447288"/>
            <a:ext cx="10881360" cy="1051560"/>
          </a:xfrm>
          <a:prstGeom prst="roundRect">
            <a:avLst>
              <a:gd name="adj" fmla="val 6957"/>
            </a:avLst>
          </a:prstGeom>
          <a:solidFill>
            <a:srgbClr val="DFF3E3"/>
          </a:solidFill>
          <a:ln w="19050">
            <a:solidFill>
              <a:srgbClr val="2F9E44"/>
            </a:solidFill>
            <a:prstDash val="solid"/>
          </a:ln>
        </p:spPr>
      </p:sp>
      <p:sp>
        <p:nvSpPr>
          <p:cNvPr id="11" name="Shape 9"/>
          <p:cNvSpPr/>
          <p:nvPr/>
        </p:nvSpPr>
        <p:spPr>
          <a:xfrm>
            <a:off x="914400" y="3721608"/>
            <a:ext cx="502920" cy="502920"/>
          </a:xfrm>
          <a:prstGeom prst="ellipse">
            <a:avLst/>
          </a:prstGeom>
          <a:solidFill>
            <a:srgbClr val="2F9E44"/>
          </a:solidFill>
          <a:ln w="12700">
            <a:solidFill>
              <a:srgbClr val="2F9E44"/>
            </a:solidFill>
            <a:prstDash val="solid"/>
          </a:ln>
        </p:spPr>
      </p:sp>
      <p:sp>
        <p:nvSpPr>
          <p:cNvPr id="12" name="Text 10"/>
          <p:cNvSpPr/>
          <p:nvPr/>
        </p:nvSpPr>
        <p:spPr>
          <a:xfrm>
            <a:off x="914400" y="372160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645920" y="3630168"/>
            <a:ext cx="4572000" cy="384048"/>
          </a:xfrm>
          <a:prstGeom prst="rect">
            <a:avLst/>
          </a:prstGeom>
          <a:noFill/>
          <a:ln/>
        </p:spPr>
        <p:txBody>
          <a:bodyPr wrap="square" lIns="0" tIns="0" rIns="0" bIns="0" rtlCol="0" anchor="ctr"/>
          <a:lstStyle/>
          <a:p>
            <a:pPr indent="0" marL="0">
              <a:buNone/>
            </a:pPr>
            <a:r>
              <a:rPr lang="en-US" sz="2200" b="1" dirty="0">
                <a:solidFill>
                  <a:srgbClr val="1A1D26"/>
                </a:solidFill>
                <a:latin typeface="Cambria" pitchFamily="34" charset="0"/>
                <a:ea typeface="Cambria" pitchFamily="34" charset="-122"/>
                <a:cs typeface="Cambria" pitchFamily="34" charset="-120"/>
              </a:rPr>
              <a:t>When did it start?</a:t>
            </a:r>
            <a:endParaRPr lang="en-US" sz="2200" dirty="0"/>
          </a:p>
        </p:txBody>
      </p:sp>
      <p:sp>
        <p:nvSpPr>
          <p:cNvPr id="14" name="Text 12"/>
          <p:cNvSpPr/>
          <p:nvPr/>
        </p:nvSpPr>
        <p:spPr>
          <a:xfrm>
            <a:off x="1645920" y="4023360"/>
            <a:ext cx="5669280" cy="320040"/>
          </a:xfrm>
          <a:prstGeom prst="rect">
            <a:avLst/>
          </a:prstGeom>
          <a:noFill/>
          <a:ln/>
        </p:spPr>
        <p:txBody>
          <a:bodyPr wrap="square" lIns="0" tIns="0" rIns="0" bIns="0" rtlCol="0" anchor="ctr"/>
          <a:lstStyle/>
          <a:p>
            <a:pPr indent="0" marL="0">
              <a:buNone/>
            </a:pPr>
            <a:r>
              <a:rPr lang="en-US" sz="1400" dirty="0">
                <a:solidFill>
                  <a:srgbClr val="3D4351"/>
                </a:solidFill>
                <a:latin typeface="Calibri" pitchFamily="34" charset="0"/>
                <a:ea typeface="Calibri" pitchFamily="34" charset="-122"/>
                <a:cs typeface="Calibri" pitchFamily="34" charset="-120"/>
              </a:rPr>
              <a:t>Pin the time window down to minutes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THE 2 AM PROBLEM</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Three questions, in this order</a:t>
            </a:r>
            <a:endParaRPr lang="en-US" sz="3400" dirty="0"/>
          </a:p>
        </p:txBody>
      </p:sp>
      <p:sp>
        <p:nvSpPr>
          <p:cNvPr id="4" name="Text 2"/>
          <p:cNvSpPr/>
          <p:nvPr/>
        </p:nvSpPr>
        <p:spPr>
          <a:xfrm>
            <a:off x="640080" y="1481328"/>
            <a:ext cx="10881360" cy="365760"/>
          </a:xfrm>
          <a:prstGeom prst="rect">
            <a:avLst/>
          </a:prstGeom>
          <a:noFill/>
          <a:ln/>
        </p:spPr>
        <p:txBody>
          <a:bodyPr wrap="square" lIns="0" tIns="0" rIns="0" bIns="0" rtlCol="0" anchor="ctr"/>
          <a:lstStyle/>
          <a:p>
            <a:pPr indent="0" marL="0">
              <a:buNone/>
            </a:pPr>
            <a:r>
              <a:rPr lang="en-US" sz="1600" dirty="0">
                <a:solidFill>
                  <a:srgbClr val="3D4351"/>
                </a:solidFill>
                <a:latin typeface="Calibri" pitchFamily="34" charset="0"/>
                <a:ea typeface="Calibri" pitchFamily="34" charset="-122"/>
                <a:cs typeface="Calibri" pitchFamily="34" charset="-120"/>
              </a:rPr>
              <a:t>Your phone buzzes at 2 AM. Checkout is failing. Customers are dropping.</a:t>
            </a:r>
            <a:endParaRPr lang="en-US" sz="1600" dirty="0"/>
          </a:p>
        </p:txBody>
      </p:sp>
      <p:sp>
        <p:nvSpPr>
          <p:cNvPr id="5" name="Shape 3"/>
          <p:cNvSpPr/>
          <p:nvPr/>
        </p:nvSpPr>
        <p:spPr>
          <a:xfrm>
            <a:off x="640080" y="2148840"/>
            <a:ext cx="10881360" cy="1051560"/>
          </a:xfrm>
          <a:prstGeom prst="roundRect">
            <a:avLst>
              <a:gd name="adj" fmla="val 6957"/>
            </a:avLst>
          </a:prstGeom>
          <a:solidFill>
            <a:srgbClr val="FFE8D6"/>
          </a:solidFill>
          <a:ln w="19050">
            <a:solidFill>
              <a:srgbClr val="E8590C"/>
            </a:solidFill>
            <a:prstDash val="solid"/>
          </a:ln>
        </p:spPr>
      </p:sp>
      <p:sp>
        <p:nvSpPr>
          <p:cNvPr id="6" name="Shape 4"/>
          <p:cNvSpPr/>
          <p:nvPr/>
        </p:nvSpPr>
        <p:spPr>
          <a:xfrm>
            <a:off x="914400" y="2423160"/>
            <a:ext cx="502920" cy="502920"/>
          </a:xfrm>
          <a:prstGeom prst="ellipse">
            <a:avLst/>
          </a:prstGeom>
          <a:solidFill>
            <a:srgbClr val="E8590C"/>
          </a:solidFill>
          <a:ln w="12700">
            <a:solidFill>
              <a:srgbClr val="E8590C"/>
            </a:solidFill>
            <a:prstDash val="solid"/>
          </a:ln>
        </p:spPr>
      </p:sp>
      <p:sp>
        <p:nvSpPr>
          <p:cNvPr id="7" name="Text 5"/>
          <p:cNvSpPr/>
          <p:nvPr/>
        </p:nvSpPr>
        <p:spPr>
          <a:xfrm>
            <a:off x="914400" y="24231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645920" y="2331720"/>
            <a:ext cx="4572000" cy="384048"/>
          </a:xfrm>
          <a:prstGeom prst="rect">
            <a:avLst/>
          </a:prstGeom>
          <a:noFill/>
          <a:ln/>
        </p:spPr>
        <p:txBody>
          <a:bodyPr wrap="square" lIns="0" tIns="0" rIns="0" bIns="0" rtlCol="0" anchor="ctr"/>
          <a:lstStyle/>
          <a:p>
            <a:pPr indent="0" marL="0">
              <a:buNone/>
            </a:pPr>
            <a:r>
              <a:rPr lang="en-US" sz="2200" b="1" dirty="0">
                <a:solidFill>
                  <a:srgbClr val="1A1D26"/>
                </a:solidFill>
                <a:latin typeface="Cambria" pitchFamily="34" charset="0"/>
                <a:ea typeface="Cambria" pitchFamily="34" charset="-122"/>
                <a:cs typeface="Cambria" pitchFamily="34" charset="-120"/>
              </a:rPr>
              <a:t>What is broken?</a:t>
            </a:r>
            <a:endParaRPr lang="en-US" sz="2200" dirty="0"/>
          </a:p>
        </p:txBody>
      </p:sp>
      <p:sp>
        <p:nvSpPr>
          <p:cNvPr id="9" name="Text 7"/>
          <p:cNvSpPr/>
          <p:nvPr/>
        </p:nvSpPr>
        <p:spPr>
          <a:xfrm>
            <a:off x="1645920" y="2724912"/>
            <a:ext cx="5669280" cy="320040"/>
          </a:xfrm>
          <a:prstGeom prst="rect">
            <a:avLst/>
          </a:prstGeom>
          <a:noFill/>
          <a:ln/>
        </p:spPr>
        <p:txBody>
          <a:bodyPr wrap="square" lIns="0" tIns="0" rIns="0" bIns="0" rtlCol="0" anchor="ctr"/>
          <a:lstStyle/>
          <a:p>
            <a:pPr indent="0" marL="0">
              <a:buNone/>
            </a:pPr>
            <a:r>
              <a:rPr lang="en-US" sz="1400" dirty="0">
                <a:solidFill>
                  <a:srgbClr val="3D4351"/>
                </a:solidFill>
                <a:latin typeface="Calibri" pitchFamily="34" charset="0"/>
                <a:ea typeface="Calibri" pitchFamily="34" charset="-122"/>
                <a:cs typeface="Calibri" pitchFamily="34" charset="-120"/>
              </a:rPr>
              <a:t>Which component deviated from normal</a:t>
            </a:r>
            <a:endParaRPr lang="en-US" sz="1400" dirty="0"/>
          </a:p>
        </p:txBody>
      </p:sp>
      <p:sp>
        <p:nvSpPr>
          <p:cNvPr id="10" name="Shape 8"/>
          <p:cNvSpPr/>
          <p:nvPr/>
        </p:nvSpPr>
        <p:spPr>
          <a:xfrm>
            <a:off x="640080" y="3447288"/>
            <a:ext cx="10881360" cy="1051560"/>
          </a:xfrm>
          <a:prstGeom prst="roundRect">
            <a:avLst>
              <a:gd name="adj" fmla="val 6957"/>
            </a:avLst>
          </a:prstGeom>
          <a:solidFill>
            <a:srgbClr val="DFF3E3"/>
          </a:solidFill>
          <a:ln w="19050">
            <a:solidFill>
              <a:srgbClr val="2F9E44"/>
            </a:solidFill>
            <a:prstDash val="solid"/>
          </a:ln>
        </p:spPr>
      </p:sp>
      <p:sp>
        <p:nvSpPr>
          <p:cNvPr id="11" name="Shape 9"/>
          <p:cNvSpPr/>
          <p:nvPr/>
        </p:nvSpPr>
        <p:spPr>
          <a:xfrm>
            <a:off x="914400" y="3721608"/>
            <a:ext cx="502920" cy="502920"/>
          </a:xfrm>
          <a:prstGeom prst="ellipse">
            <a:avLst/>
          </a:prstGeom>
          <a:solidFill>
            <a:srgbClr val="2F9E44"/>
          </a:solidFill>
          <a:ln w="12700">
            <a:solidFill>
              <a:srgbClr val="2F9E44"/>
            </a:solidFill>
            <a:prstDash val="solid"/>
          </a:ln>
        </p:spPr>
      </p:sp>
      <p:sp>
        <p:nvSpPr>
          <p:cNvPr id="12" name="Text 10"/>
          <p:cNvSpPr/>
          <p:nvPr/>
        </p:nvSpPr>
        <p:spPr>
          <a:xfrm>
            <a:off x="914400" y="372160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645920" y="3630168"/>
            <a:ext cx="4572000" cy="384048"/>
          </a:xfrm>
          <a:prstGeom prst="rect">
            <a:avLst/>
          </a:prstGeom>
          <a:noFill/>
          <a:ln/>
        </p:spPr>
        <p:txBody>
          <a:bodyPr wrap="square" lIns="0" tIns="0" rIns="0" bIns="0" rtlCol="0" anchor="ctr"/>
          <a:lstStyle/>
          <a:p>
            <a:pPr indent="0" marL="0">
              <a:buNone/>
            </a:pPr>
            <a:r>
              <a:rPr lang="en-US" sz="2200" b="1" dirty="0">
                <a:solidFill>
                  <a:srgbClr val="1A1D26"/>
                </a:solidFill>
                <a:latin typeface="Cambria" pitchFamily="34" charset="0"/>
                <a:ea typeface="Cambria" pitchFamily="34" charset="-122"/>
                <a:cs typeface="Cambria" pitchFamily="34" charset="-120"/>
              </a:rPr>
              <a:t>When did it start?</a:t>
            </a:r>
            <a:endParaRPr lang="en-US" sz="2200" dirty="0"/>
          </a:p>
        </p:txBody>
      </p:sp>
      <p:sp>
        <p:nvSpPr>
          <p:cNvPr id="14" name="Text 12"/>
          <p:cNvSpPr/>
          <p:nvPr/>
        </p:nvSpPr>
        <p:spPr>
          <a:xfrm>
            <a:off x="1645920" y="4023360"/>
            <a:ext cx="5669280" cy="320040"/>
          </a:xfrm>
          <a:prstGeom prst="rect">
            <a:avLst/>
          </a:prstGeom>
          <a:noFill/>
          <a:ln/>
        </p:spPr>
        <p:txBody>
          <a:bodyPr wrap="square" lIns="0" tIns="0" rIns="0" bIns="0" rtlCol="0" anchor="ctr"/>
          <a:lstStyle/>
          <a:p>
            <a:pPr indent="0" marL="0">
              <a:buNone/>
            </a:pPr>
            <a:r>
              <a:rPr lang="en-US" sz="1400" dirty="0">
                <a:solidFill>
                  <a:srgbClr val="3D4351"/>
                </a:solidFill>
                <a:latin typeface="Calibri" pitchFamily="34" charset="0"/>
                <a:ea typeface="Calibri" pitchFamily="34" charset="-122"/>
                <a:cs typeface="Calibri" pitchFamily="34" charset="-120"/>
              </a:rPr>
              <a:t>Pin the time window down to minutes</a:t>
            </a:r>
            <a:endParaRPr lang="en-US" sz="1400" dirty="0"/>
          </a:p>
        </p:txBody>
      </p:sp>
      <p:sp>
        <p:nvSpPr>
          <p:cNvPr id="15" name="Shape 13"/>
          <p:cNvSpPr/>
          <p:nvPr/>
        </p:nvSpPr>
        <p:spPr>
          <a:xfrm>
            <a:off x="640080" y="4745736"/>
            <a:ext cx="10881360" cy="1051560"/>
          </a:xfrm>
          <a:prstGeom prst="roundRect">
            <a:avLst>
              <a:gd name="adj" fmla="val 6957"/>
            </a:avLst>
          </a:prstGeom>
          <a:solidFill>
            <a:srgbClr val="E9E2FB"/>
          </a:solidFill>
          <a:ln w="19050">
            <a:solidFill>
              <a:srgbClr val="6741D9"/>
            </a:solidFill>
            <a:prstDash val="solid"/>
          </a:ln>
        </p:spPr>
      </p:sp>
      <p:sp>
        <p:nvSpPr>
          <p:cNvPr id="16" name="Shape 14"/>
          <p:cNvSpPr/>
          <p:nvPr/>
        </p:nvSpPr>
        <p:spPr>
          <a:xfrm>
            <a:off x="914400" y="5020056"/>
            <a:ext cx="502920" cy="502920"/>
          </a:xfrm>
          <a:prstGeom prst="ellipse">
            <a:avLst/>
          </a:prstGeom>
          <a:solidFill>
            <a:srgbClr val="6741D9"/>
          </a:solidFill>
          <a:ln w="12700">
            <a:solidFill>
              <a:srgbClr val="6741D9"/>
            </a:solidFill>
            <a:prstDash val="solid"/>
          </a:ln>
        </p:spPr>
      </p:sp>
      <p:sp>
        <p:nvSpPr>
          <p:cNvPr id="17" name="Text 15"/>
          <p:cNvSpPr/>
          <p:nvPr/>
        </p:nvSpPr>
        <p:spPr>
          <a:xfrm>
            <a:off x="914400" y="502005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645920" y="4928616"/>
            <a:ext cx="4572000" cy="384048"/>
          </a:xfrm>
          <a:prstGeom prst="rect">
            <a:avLst/>
          </a:prstGeom>
          <a:noFill/>
          <a:ln/>
        </p:spPr>
        <p:txBody>
          <a:bodyPr wrap="square" lIns="0" tIns="0" rIns="0" bIns="0" rtlCol="0" anchor="ctr"/>
          <a:lstStyle/>
          <a:p>
            <a:pPr indent="0" marL="0">
              <a:buNone/>
            </a:pPr>
            <a:r>
              <a:rPr lang="en-US" sz="2200" b="1" dirty="0">
                <a:solidFill>
                  <a:srgbClr val="1A1D26"/>
                </a:solidFill>
                <a:latin typeface="Cambria" pitchFamily="34" charset="0"/>
                <a:ea typeface="Cambria" pitchFamily="34" charset="-122"/>
                <a:cs typeface="Cambria" pitchFamily="34" charset="-120"/>
              </a:rPr>
              <a:t>Why did it break?</a:t>
            </a:r>
            <a:endParaRPr lang="en-US" sz="2200" dirty="0"/>
          </a:p>
        </p:txBody>
      </p:sp>
      <p:sp>
        <p:nvSpPr>
          <p:cNvPr id="19" name="Text 17"/>
          <p:cNvSpPr/>
          <p:nvPr/>
        </p:nvSpPr>
        <p:spPr>
          <a:xfrm>
            <a:off x="1645920" y="5321808"/>
            <a:ext cx="5669280" cy="320040"/>
          </a:xfrm>
          <a:prstGeom prst="rect">
            <a:avLst/>
          </a:prstGeom>
          <a:noFill/>
          <a:ln/>
        </p:spPr>
        <p:txBody>
          <a:bodyPr wrap="square" lIns="0" tIns="0" rIns="0" bIns="0" rtlCol="0" anchor="ctr"/>
          <a:lstStyle/>
          <a:p>
            <a:pPr indent="0" marL="0">
              <a:buNone/>
            </a:pPr>
            <a:r>
              <a:rPr lang="en-US" sz="1400" dirty="0">
                <a:solidFill>
                  <a:srgbClr val="3D4351"/>
                </a:solidFill>
                <a:latin typeface="Calibri" pitchFamily="34" charset="0"/>
                <a:ea typeface="Calibri" pitchFamily="34" charset="-122"/>
                <a:cs typeface="Calibri" pitchFamily="34" charset="-120"/>
              </a:rPr>
              <a:t>What actually caused it</a:t>
            </a:r>
            <a:endParaRPr lang="en-US" sz="1400" dirty="0"/>
          </a:p>
        </p:txBody>
      </p:sp>
      <p:sp>
        <p:nvSpPr>
          <p:cNvPr id="20" name="Text 18"/>
          <p:cNvSpPr/>
          <p:nvPr/>
        </p:nvSpPr>
        <p:spPr>
          <a:xfrm>
            <a:off x="640080" y="6144768"/>
            <a:ext cx="10881360" cy="365760"/>
          </a:xfrm>
          <a:prstGeom prst="rect">
            <a:avLst/>
          </a:prstGeom>
          <a:noFill/>
          <a:ln/>
        </p:spPr>
        <p:txBody>
          <a:bodyPr wrap="square" lIns="0" tIns="0" rIns="0" bIns="0" rtlCol="0" anchor="ctr"/>
          <a:lstStyle/>
          <a:p>
            <a:pPr indent="0" marL="0">
              <a:buNone/>
            </a:pPr>
            <a:r>
              <a:rPr lang="en-US" sz="1500" i="1" dirty="0">
                <a:solidFill>
                  <a:srgbClr val="E8590C"/>
                </a:solidFill>
                <a:latin typeface="Calibri" pitchFamily="34" charset="0"/>
                <a:ea typeface="Calibri" pitchFamily="34" charset="-122"/>
                <a:cs typeface="Calibri" pitchFamily="34" charset="-120"/>
              </a:rPr>
              <a:t>The order is not negotiable. Jumping straight to "why" is the slowest path there is.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TERMINOLOGY</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Monitoring is not observability</a:t>
            </a:r>
            <a:endParaRPr lang="en-US" sz="3400" dirty="0"/>
          </a:p>
        </p:txBody>
      </p:sp>
      <p:sp>
        <p:nvSpPr>
          <p:cNvPr id="4" name="Shape 2"/>
          <p:cNvSpPr/>
          <p:nvPr/>
        </p:nvSpPr>
        <p:spPr>
          <a:xfrm>
            <a:off x="640080" y="1600200"/>
            <a:ext cx="5257800" cy="3200400"/>
          </a:xfrm>
          <a:prstGeom prst="roundRect">
            <a:avLst>
              <a:gd name="adj" fmla="val 2286"/>
            </a:avLst>
          </a:prstGeom>
          <a:solidFill>
            <a:srgbClr val="FFE8D6"/>
          </a:solidFill>
          <a:ln w="19050">
            <a:solidFill>
              <a:srgbClr val="E8590C"/>
            </a:solidFill>
            <a:prstDash val="solid"/>
          </a:ln>
        </p:spPr>
      </p:sp>
      <p:sp>
        <p:nvSpPr>
          <p:cNvPr id="5" name="Text 3"/>
          <p:cNvSpPr/>
          <p:nvPr/>
        </p:nvSpPr>
        <p:spPr>
          <a:xfrm>
            <a:off x="1005840" y="1828800"/>
            <a:ext cx="4572000" cy="411480"/>
          </a:xfrm>
          <a:prstGeom prst="rect">
            <a:avLst/>
          </a:prstGeom>
          <a:noFill/>
          <a:ln/>
        </p:spPr>
        <p:txBody>
          <a:bodyPr wrap="square" lIns="0" tIns="0" rIns="0" bIns="0" rtlCol="0" anchor="ctr"/>
          <a:lstStyle/>
          <a:p>
            <a:pPr indent="0" marL="0">
              <a:buNone/>
            </a:pPr>
            <a:r>
              <a:rPr lang="en-US" sz="2000" b="1" spc="100" kern="0" dirty="0">
                <a:solidFill>
                  <a:srgbClr val="E8590C"/>
                </a:solidFill>
                <a:latin typeface="Cambria" pitchFamily="34" charset="0"/>
                <a:ea typeface="Cambria" pitchFamily="34" charset="-122"/>
                <a:cs typeface="Cambria" pitchFamily="34" charset="-120"/>
              </a:rPr>
              <a:t>MONITORING</a:t>
            </a:r>
            <a:endParaRPr lang="en-US" sz="2000" dirty="0"/>
          </a:p>
        </p:txBody>
      </p:sp>
      <p:sp>
        <p:nvSpPr>
          <p:cNvPr id="6" name="Text 4"/>
          <p:cNvSpPr/>
          <p:nvPr/>
        </p:nvSpPr>
        <p:spPr>
          <a:xfrm>
            <a:off x="1005840" y="2286000"/>
            <a:ext cx="4572000" cy="548640"/>
          </a:xfrm>
          <a:prstGeom prst="rect">
            <a:avLst/>
          </a:prstGeom>
          <a:noFill/>
          <a:ln/>
        </p:spPr>
        <p:txBody>
          <a:bodyPr wrap="square" lIns="0" tIns="0" rIns="0" bIns="0" rtlCol="0" anchor="ctr"/>
          <a:lstStyle/>
          <a:p>
            <a:pPr indent="0" marL="0">
              <a:buNone/>
            </a:pPr>
            <a:r>
              <a:rPr lang="en-US" sz="1500" b="1" dirty="0">
                <a:solidFill>
                  <a:srgbClr val="1A1D26"/>
                </a:solidFill>
                <a:latin typeface="Calibri" pitchFamily="34" charset="0"/>
                <a:ea typeface="Calibri" pitchFamily="34" charset="-122"/>
                <a:cs typeface="Calibri" pitchFamily="34" charset="-120"/>
              </a:rPr>
              <a:t>Answers questions you decided to ask in advance.</a:t>
            </a:r>
            <a:endParaRPr lang="en-US" sz="1500" dirty="0"/>
          </a:p>
        </p:txBody>
      </p:sp>
      <p:sp>
        <p:nvSpPr>
          <p:cNvPr id="7" name="Text 5"/>
          <p:cNvSpPr/>
          <p:nvPr/>
        </p:nvSpPr>
        <p:spPr>
          <a:xfrm>
            <a:off x="1005840" y="2880360"/>
            <a:ext cx="4572000" cy="1737360"/>
          </a:xfrm>
          <a:prstGeom prst="rect">
            <a:avLst/>
          </a:prstGeom>
          <a:noFill/>
          <a:ln/>
        </p:spPr>
        <p:txBody>
          <a:bodyPr wrap="square" lIns="0" tIns="0" rIns="0" bIns="0" rtlCol="0" anchor="ctr"/>
          <a:lstStyle/>
          <a:p>
            <a:pPr indent="0" marL="0">
              <a:lnSpc>
                <a:spcPts val="1900"/>
              </a:lnSpc>
              <a:buNone/>
            </a:pPr>
            <a:r>
              <a:rPr lang="en-US" sz="1350" dirty="0">
                <a:solidFill>
                  <a:srgbClr val="3D4351"/>
                </a:solidFill>
                <a:latin typeface="Calibri" pitchFamily="34" charset="0"/>
                <a:ea typeface="Calibri" pitchFamily="34" charset="-122"/>
                <a:cs typeface="Calibri" pitchFamily="34" charset="-120"/>
              </a:rPr>
              <a:t>You built a dashboard with CPU, memory and request rate.</a:t>
            </a:r>
            <a:endParaRPr lang="en-US" sz="1350" dirty="0"/>
          </a:p>
          <a:p>
            <a:pPr indent="0" marL="0">
              <a:lnSpc>
                <a:spcPts val="1900"/>
              </a:lnSpc>
              <a:buNone/>
            </a:pPr>
            <a:r>
              <a:rPr lang="en-US" sz="1350" dirty="0">
                <a:solidFill>
                  <a:srgbClr val="3D4351"/>
                </a:solidFill>
                <a:latin typeface="Calibri" pitchFamily="34" charset="0"/>
                <a:ea typeface="Calibri" pitchFamily="34" charset="-122"/>
                <a:cs typeface="Calibri" pitchFamily="34" charset="-120"/>
              </a:rPr>
              <a:t>When CPU crosses 80 percent, you get paged.</a:t>
            </a:r>
            <a:endParaRPr lang="en-US" sz="1350" dirty="0"/>
          </a:p>
          <a:p>
            <a:pPr indent="0" marL="0">
              <a:lnSpc>
                <a:spcPts val="1900"/>
              </a:lnSpc>
              <a:buNone/>
            </a:pPr>
            <a:endParaRPr lang="en-US" sz="1350" dirty="0"/>
          </a:p>
          <a:p>
            <a:pPr indent="0" marL="0">
              <a:lnSpc>
                <a:spcPts val="1900"/>
              </a:lnSpc>
              <a:buNone/>
            </a:pPr>
            <a:r>
              <a:rPr lang="en-US" sz="1350" dirty="0">
                <a:solidFill>
                  <a:srgbClr val="3D4351"/>
                </a:solidFill>
                <a:latin typeface="Calibri" pitchFamily="34" charset="0"/>
                <a:ea typeface="Calibri" pitchFamily="34" charset="-122"/>
                <a:cs typeface="Calibri" pitchFamily="34" charset="-120"/>
              </a:rPr>
              <a:t>A fixed set of predefined questions, asked continuously.</a:t>
            </a:r>
            <a:endParaRPr lang="en-US" sz="1350" dirty="0"/>
          </a:p>
        </p:txBody>
      </p:sp>
      <p:sp>
        <p:nvSpPr>
          <p:cNvPr id="8" name="Shape 6"/>
          <p:cNvSpPr/>
          <p:nvPr/>
        </p:nvSpPr>
        <p:spPr>
          <a:xfrm>
            <a:off x="6263640" y="1600200"/>
            <a:ext cx="5257800" cy="3200400"/>
          </a:xfrm>
          <a:prstGeom prst="roundRect">
            <a:avLst>
              <a:gd name="adj" fmla="val 2286"/>
            </a:avLst>
          </a:prstGeom>
          <a:solidFill>
            <a:srgbClr val="E9E2FB"/>
          </a:solidFill>
          <a:ln w="19050">
            <a:solidFill>
              <a:srgbClr val="6741D9"/>
            </a:solidFill>
            <a:prstDash val="solid"/>
          </a:ln>
        </p:spPr>
      </p:sp>
      <p:sp>
        <p:nvSpPr>
          <p:cNvPr id="9" name="Text 7"/>
          <p:cNvSpPr/>
          <p:nvPr/>
        </p:nvSpPr>
        <p:spPr>
          <a:xfrm>
            <a:off x="6629400" y="1828800"/>
            <a:ext cx="4572000" cy="411480"/>
          </a:xfrm>
          <a:prstGeom prst="rect">
            <a:avLst/>
          </a:prstGeom>
          <a:noFill/>
          <a:ln/>
        </p:spPr>
        <p:txBody>
          <a:bodyPr wrap="square" lIns="0" tIns="0" rIns="0" bIns="0" rtlCol="0" anchor="ctr"/>
          <a:lstStyle/>
          <a:p>
            <a:pPr indent="0" marL="0">
              <a:buNone/>
            </a:pPr>
            <a:r>
              <a:rPr lang="en-US" sz="2000" b="1" spc="100" kern="0" dirty="0">
                <a:solidFill>
                  <a:srgbClr val="6741D9"/>
                </a:solidFill>
                <a:latin typeface="Cambria" pitchFamily="34" charset="0"/>
                <a:ea typeface="Cambria" pitchFamily="34" charset="-122"/>
                <a:cs typeface="Cambria" pitchFamily="34" charset="-120"/>
              </a:rPr>
              <a:t>OBSERVABILITY</a:t>
            </a:r>
            <a:endParaRPr lang="en-US" sz="2000" dirty="0"/>
          </a:p>
        </p:txBody>
      </p:sp>
      <p:sp>
        <p:nvSpPr>
          <p:cNvPr id="10" name="Text 8"/>
          <p:cNvSpPr/>
          <p:nvPr/>
        </p:nvSpPr>
        <p:spPr>
          <a:xfrm>
            <a:off x="6629400" y="2286000"/>
            <a:ext cx="4572000" cy="548640"/>
          </a:xfrm>
          <a:prstGeom prst="rect">
            <a:avLst/>
          </a:prstGeom>
          <a:noFill/>
          <a:ln/>
        </p:spPr>
        <p:txBody>
          <a:bodyPr wrap="square" lIns="0" tIns="0" rIns="0" bIns="0" rtlCol="0" anchor="ctr"/>
          <a:lstStyle/>
          <a:p>
            <a:pPr indent="0" marL="0">
              <a:buNone/>
            </a:pPr>
            <a:r>
              <a:rPr lang="en-US" sz="1500" b="1" dirty="0">
                <a:solidFill>
                  <a:srgbClr val="1A1D26"/>
                </a:solidFill>
                <a:latin typeface="Calibri" pitchFamily="34" charset="0"/>
                <a:ea typeface="Calibri" pitchFamily="34" charset="-122"/>
                <a:cs typeface="Calibri" pitchFamily="34" charset="-120"/>
              </a:rPr>
              <a:t>Lets you ask questions you did not anticipate.</a:t>
            </a:r>
            <a:endParaRPr lang="en-US" sz="1500" dirty="0"/>
          </a:p>
        </p:txBody>
      </p:sp>
      <p:sp>
        <p:nvSpPr>
          <p:cNvPr id="11" name="Text 9"/>
          <p:cNvSpPr/>
          <p:nvPr/>
        </p:nvSpPr>
        <p:spPr>
          <a:xfrm>
            <a:off x="6629400" y="2880360"/>
            <a:ext cx="4572000" cy="1737360"/>
          </a:xfrm>
          <a:prstGeom prst="rect">
            <a:avLst/>
          </a:prstGeom>
          <a:noFill/>
          <a:ln/>
        </p:spPr>
        <p:txBody>
          <a:bodyPr wrap="square" lIns="0" tIns="0" rIns="0" bIns="0" rtlCol="0" anchor="ctr"/>
          <a:lstStyle/>
          <a:p>
            <a:pPr indent="0" marL="0">
              <a:lnSpc>
                <a:spcPts val="1900"/>
              </a:lnSpc>
              <a:buNone/>
            </a:pPr>
            <a:r>
              <a:rPr lang="en-US" sz="1350" dirty="0">
                <a:solidFill>
                  <a:srgbClr val="3D4351"/>
                </a:solidFill>
                <a:latin typeface="Calibri" pitchFamily="34" charset="0"/>
                <a:ea typeface="Calibri" pitchFamily="34" charset="-122"/>
                <a:cs typeface="Calibri" pitchFamily="34" charset="-120"/>
              </a:rPr>
              <a:t>"Which pods, in which namespace, on which node, started</a:t>
            </a:r>
            <a:endParaRPr lang="en-US" sz="1350" dirty="0"/>
          </a:p>
          <a:p>
            <a:pPr indent="0" marL="0">
              <a:lnSpc>
                <a:spcPts val="1900"/>
              </a:lnSpc>
              <a:buNone/>
            </a:pPr>
            <a:r>
              <a:rPr lang="en-US" sz="1350" dirty="0">
                <a:solidFill>
                  <a:srgbClr val="3D4351"/>
                </a:solidFill>
                <a:latin typeface="Calibri" pitchFamily="34" charset="0"/>
                <a:ea typeface="Calibri" pitchFamily="34" charset="-122"/>
                <a:cs typeface="Calibri" pitchFamily="34" charset="-120"/>
              </a:rPr>
              <a:t>climbing at the same moment as the latency spike?"</a:t>
            </a:r>
            <a:endParaRPr lang="en-US" sz="1350" dirty="0"/>
          </a:p>
          <a:p>
            <a:pPr indent="0" marL="0">
              <a:lnSpc>
                <a:spcPts val="1900"/>
              </a:lnSpc>
              <a:buNone/>
            </a:pPr>
            <a:endParaRPr lang="en-US" sz="1350" dirty="0"/>
          </a:p>
          <a:p>
            <a:pPr indent="0" marL="0">
              <a:lnSpc>
                <a:spcPts val="1900"/>
              </a:lnSpc>
              <a:buNone/>
            </a:pPr>
            <a:r>
              <a:rPr lang="en-US" sz="1350" dirty="0">
                <a:solidFill>
                  <a:srgbClr val="3D4351"/>
                </a:solidFill>
                <a:latin typeface="Calibri" pitchFamily="34" charset="0"/>
                <a:ea typeface="Calibri" pitchFamily="34" charset="-122"/>
                <a:cs typeface="Calibri" pitchFamily="34" charset="-120"/>
              </a:rPr>
              <a:t>Nobody built a dashboard for that. Nobody could have.</a:t>
            </a:r>
            <a:endParaRPr lang="en-US" sz="1350" dirty="0"/>
          </a:p>
        </p:txBody>
      </p:sp>
      <p:sp>
        <p:nvSpPr>
          <p:cNvPr id="12" name="Shape 10"/>
          <p:cNvSpPr/>
          <p:nvPr/>
        </p:nvSpPr>
        <p:spPr>
          <a:xfrm>
            <a:off x="640080" y="5029200"/>
            <a:ext cx="10881360" cy="1234440"/>
          </a:xfrm>
          <a:prstGeom prst="roundRect">
            <a:avLst>
              <a:gd name="adj" fmla="val 5926"/>
            </a:avLst>
          </a:prstGeom>
          <a:solidFill>
            <a:srgbClr val="F4F6F9"/>
          </a:solidFill>
          <a:ln w="19050">
            <a:solidFill>
              <a:srgbClr val="1A1D26"/>
            </a:solidFill>
            <a:prstDash val="solid"/>
          </a:ln>
        </p:spPr>
      </p:sp>
      <p:sp>
        <p:nvSpPr>
          <p:cNvPr id="13" name="Text 11"/>
          <p:cNvSpPr/>
          <p:nvPr/>
        </p:nvSpPr>
        <p:spPr>
          <a:xfrm>
            <a:off x="1005840" y="5193792"/>
            <a:ext cx="4572000" cy="320040"/>
          </a:xfrm>
          <a:prstGeom prst="rect">
            <a:avLst/>
          </a:prstGeom>
          <a:noFill/>
          <a:ln/>
        </p:spPr>
        <p:txBody>
          <a:bodyPr wrap="square" lIns="0" tIns="0" rIns="0" bIns="0" rtlCol="0" anchor="ctr"/>
          <a:lstStyle/>
          <a:p>
            <a:pPr indent="0" marL="0">
              <a:buNone/>
            </a:pPr>
            <a:r>
              <a:rPr lang="en-US" sz="1500" b="1" dirty="0">
                <a:solidFill>
                  <a:srgbClr val="1A1D26"/>
                </a:solidFill>
                <a:latin typeface="Cambria" pitchFamily="34" charset="0"/>
                <a:ea typeface="Cambria" pitchFamily="34" charset="-122"/>
                <a:cs typeface="Cambria" pitchFamily="34" charset="-120"/>
              </a:rPr>
              <a:t>The practical test</a:t>
            </a:r>
            <a:endParaRPr lang="en-US" sz="1500" dirty="0"/>
          </a:p>
        </p:txBody>
      </p:sp>
      <p:sp>
        <p:nvSpPr>
          <p:cNvPr id="14" name="Text 12"/>
          <p:cNvSpPr/>
          <p:nvPr/>
        </p:nvSpPr>
        <p:spPr>
          <a:xfrm>
            <a:off x="1005840" y="5532120"/>
            <a:ext cx="10149840" cy="548640"/>
          </a:xfrm>
          <a:prstGeom prst="rect">
            <a:avLst/>
          </a:prstGeom>
          <a:noFill/>
          <a:ln/>
        </p:spPr>
        <p:txBody>
          <a:bodyPr wrap="square" lIns="0" tIns="0" rIns="0" bIns="0" rtlCol="0" anchor="ctr"/>
          <a:lstStyle/>
          <a:p>
            <a:pPr indent="0" marL="0">
              <a:buNone/>
            </a:pPr>
            <a:r>
              <a:rPr lang="en-US" sz="1400" dirty="0">
                <a:solidFill>
                  <a:srgbClr val="3D4351"/>
                </a:solidFill>
                <a:latin typeface="Calibri" pitchFamily="34" charset="0"/>
                <a:ea typeface="Calibri" pitchFamily="34" charset="-122"/>
                <a:cs typeface="Calibri" pitchFamily="34" charset="-120"/>
              </a:rPr>
              <a:t>Have you ever added a log line to production just to debug something? That is the gap. You had to change the system in order to ask it a question.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OBSERVABILITY</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The three pillars</a:t>
            </a:r>
            <a:endParaRPr lang="en-US" sz="3400" dirty="0"/>
          </a:p>
        </p:txBody>
      </p:sp>
      <p:sp>
        <p:nvSpPr>
          <p:cNvPr id="4" name="Shape 2"/>
          <p:cNvSpPr/>
          <p:nvPr/>
        </p:nvSpPr>
        <p:spPr>
          <a:xfrm>
            <a:off x="640080" y="1600200"/>
            <a:ext cx="3429000" cy="4114800"/>
          </a:xfrm>
          <a:prstGeom prst="roundRect">
            <a:avLst>
              <a:gd name="adj" fmla="val 2133"/>
            </a:avLst>
          </a:prstGeom>
          <a:solidFill>
            <a:srgbClr val="FFE8D6"/>
          </a:solidFill>
          <a:ln w="19050">
            <a:solidFill>
              <a:srgbClr val="E8590C"/>
            </a:solidFill>
            <a:prstDash val="solid"/>
          </a:ln>
        </p:spPr>
      </p:sp>
      <p:sp>
        <p:nvSpPr>
          <p:cNvPr id="5" name="Text 3"/>
          <p:cNvSpPr/>
          <p:nvPr/>
        </p:nvSpPr>
        <p:spPr>
          <a:xfrm>
            <a:off x="932688" y="1810512"/>
            <a:ext cx="2834640" cy="411480"/>
          </a:xfrm>
          <a:prstGeom prst="rect">
            <a:avLst/>
          </a:prstGeom>
          <a:noFill/>
          <a:ln/>
        </p:spPr>
        <p:txBody>
          <a:bodyPr wrap="square" lIns="0" tIns="0" rIns="0" bIns="0" rtlCol="0" anchor="ctr"/>
          <a:lstStyle/>
          <a:p>
            <a:pPr indent="0" marL="0">
              <a:buNone/>
            </a:pPr>
            <a:r>
              <a:rPr lang="en-US" sz="2200" b="1" dirty="0">
                <a:solidFill>
                  <a:srgbClr val="E8590C"/>
                </a:solidFill>
                <a:latin typeface="Cambria" pitchFamily="34" charset="0"/>
                <a:ea typeface="Cambria" pitchFamily="34" charset="-122"/>
                <a:cs typeface="Cambria" pitchFamily="34" charset="-120"/>
              </a:rPr>
              <a:t>METRICS</a:t>
            </a:r>
            <a:endParaRPr lang="en-US" sz="2200" dirty="0"/>
          </a:p>
        </p:txBody>
      </p:sp>
      <p:sp>
        <p:nvSpPr>
          <p:cNvPr id="6" name="Text 4"/>
          <p:cNvSpPr/>
          <p:nvPr/>
        </p:nvSpPr>
        <p:spPr>
          <a:xfrm>
            <a:off x="932688" y="2231136"/>
            <a:ext cx="2834640" cy="292608"/>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Numbers over time</a:t>
            </a:r>
            <a:endParaRPr lang="en-US" sz="1300" dirty="0"/>
          </a:p>
        </p:txBody>
      </p:sp>
      <p:sp>
        <p:nvSpPr>
          <p:cNvPr id="7" name="Shape 5"/>
          <p:cNvSpPr/>
          <p:nvPr/>
        </p:nvSpPr>
        <p:spPr>
          <a:xfrm>
            <a:off x="932688" y="2606040"/>
            <a:ext cx="2834640" cy="749808"/>
          </a:xfrm>
          <a:prstGeom prst="roundRect">
            <a:avLst>
              <a:gd name="adj" fmla="val 6098"/>
            </a:avLst>
          </a:prstGeom>
          <a:solidFill>
            <a:srgbClr val="F4F6F9"/>
          </a:solidFill>
          <a:ln w="12700">
            <a:solidFill>
              <a:srgbClr val="D8DCE3"/>
            </a:solidFill>
            <a:prstDash val="solid"/>
          </a:ln>
        </p:spPr>
      </p:sp>
      <p:sp>
        <p:nvSpPr>
          <p:cNvPr id="8" name="Text 6"/>
          <p:cNvSpPr/>
          <p:nvPr/>
        </p:nvSpPr>
        <p:spPr>
          <a:xfrm>
            <a:off x="1097280" y="2715768"/>
            <a:ext cx="2505456" cy="530352"/>
          </a:xfrm>
          <a:prstGeom prst="rect">
            <a:avLst/>
          </a:prstGeom>
          <a:noFill/>
          <a:ln/>
        </p:spPr>
        <p:txBody>
          <a:bodyPr wrap="square" lIns="0" tIns="0" rIns="0" bIns="0" rtlCol="0" anchor="t"/>
          <a:lstStyle/>
          <a:p>
            <a:pPr indent="0" marL="0">
              <a:buNone/>
            </a:pPr>
            <a:r>
              <a:rPr lang="en-US" sz="1000" dirty="0">
                <a:solidFill>
                  <a:srgbClr val="3D4351"/>
                </a:solidFill>
                <a:latin typeface="Courier New" pitchFamily="34" charset="0"/>
                <a:ea typeface="Courier New" pitchFamily="34" charset="-122"/>
                <a:cs typeface="Courier New" pitchFamily="34" charset="-120"/>
              </a:rPr>
              <a:t>cpu_usage{pod="checkout"}</a:t>
            </a:r>
            <a:endParaRPr lang="en-US" sz="1000" dirty="0"/>
          </a:p>
          <a:p>
            <a:pPr indent="0" marL="0">
              <a:buNone/>
            </a:pPr>
            <a:r>
              <a:rPr lang="en-US" sz="1000" dirty="0">
                <a:solidFill>
                  <a:srgbClr val="3D4351"/>
                </a:solidFill>
                <a:latin typeface="Courier New" pitchFamily="34" charset="0"/>
                <a:ea typeface="Courier New" pitchFamily="34" charset="-122"/>
                <a:cs typeface="Courier New" pitchFamily="34" charset="-120"/>
              </a:rPr>
              <a:t>  = 0.87  @ 02:14:30</a:t>
            </a:r>
            <a:endParaRPr lang="en-US" sz="1000" dirty="0"/>
          </a:p>
        </p:txBody>
      </p:sp>
      <p:sp>
        <p:nvSpPr>
          <p:cNvPr id="9" name="Text 7"/>
          <p:cNvSpPr/>
          <p:nvPr/>
        </p:nvSpPr>
        <p:spPr>
          <a:xfrm>
            <a:off x="932688" y="3520440"/>
            <a:ext cx="2834640" cy="640080"/>
          </a:xfrm>
          <a:prstGeom prst="rect">
            <a:avLst/>
          </a:prstGeom>
          <a:noFill/>
          <a:ln/>
        </p:spPr>
        <p:txBody>
          <a:bodyPr wrap="square" lIns="0" tIns="0" rIns="0" bIns="0" rtlCol="0" anchor="ctr"/>
          <a:lstStyle/>
          <a:p>
            <a:pPr indent="0" marL="0">
              <a:lnSpc>
                <a:spcPts val="1800"/>
              </a:lnSpc>
              <a:buNone/>
            </a:pPr>
            <a:r>
              <a:rPr lang="en-US" sz="1350" dirty="0">
                <a:solidFill>
                  <a:srgbClr val="1A1D26"/>
                </a:solidFill>
                <a:latin typeface="Calibri" pitchFamily="34" charset="0"/>
                <a:ea typeface="Calibri" pitchFamily="34" charset="-122"/>
                <a:cs typeface="Calibri" pitchFamily="34" charset="-120"/>
              </a:rPr>
              <a:t>Cheap and aggregatable</a:t>
            </a:r>
            <a:endParaRPr lang="en-US" sz="1350" dirty="0"/>
          </a:p>
          <a:p>
            <a:pPr indent="0" marL="0">
              <a:lnSpc>
                <a:spcPts val="1800"/>
              </a:lnSpc>
              <a:buNone/>
            </a:pPr>
            <a:r>
              <a:rPr lang="en-US" sz="1350" dirty="0">
                <a:solidFill>
                  <a:srgbClr val="1A1D26"/>
                </a:solidFill>
                <a:latin typeface="Calibri" pitchFamily="34" charset="0"/>
                <a:ea typeface="Calibri" pitchFamily="34" charset="-122"/>
                <a:cs typeface="Calibri" pitchFamily="34" charset="-120"/>
              </a:rPr>
              <a:t>Keep for months</a:t>
            </a:r>
            <a:endParaRPr lang="en-US" sz="1350" dirty="0"/>
          </a:p>
        </p:txBody>
      </p:sp>
      <p:sp>
        <p:nvSpPr>
          <p:cNvPr id="10" name="Text 8"/>
          <p:cNvSpPr/>
          <p:nvPr/>
        </p:nvSpPr>
        <p:spPr>
          <a:xfrm>
            <a:off x="932688" y="4892040"/>
            <a:ext cx="2834640" cy="228600"/>
          </a:xfrm>
          <a:prstGeom prst="rect">
            <a:avLst/>
          </a:prstGeom>
          <a:noFill/>
          <a:ln/>
        </p:spPr>
        <p:txBody>
          <a:bodyPr wrap="square" lIns="0" tIns="0" rIns="0" bIns="0" rtlCol="0" anchor="ctr"/>
          <a:lstStyle/>
          <a:p>
            <a:pPr indent="0" marL="0">
              <a:buNone/>
            </a:pPr>
            <a:r>
              <a:rPr lang="en-US" sz="1000" b="1" spc="150" kern="0" dirty="0">
                <a:solidFill>
                  <a:srgbClr val="6B7280"/>
                </a:solidFill>
                <a:latin typeface="Calibri" pitchFamily="34" charset="0"/>
                <a:ea typeface="Calibri" pitchFamily="34" charset="-122"/>
                <a:cs typeface="Calibri" pitchFamily="34" charset="-120"/>
              </a:rPr>
              <a:t>TOOLS</a:t>
            </a:r>
            <a:endParaRPr lang="en-US" sz="1000" dirty="0"/>
          </a:p>
        </p:txBody>
      </p:sp>
      <p:sp>
        <p:nvSpPr>
          <p:cNvPr id="11" name="Text 9"/>
          <p:cNvSpPr/>
          <p:nvPr/>
        </p:nvSpPr>
        <p:spPr>
          <a:xfrm>
            <a:off x="932688" y="5138928"/>
            <a:ext cx="2834640" cy="320040"/>
          </a:xfrm>
          <a:prstGeom prst="rect">
            <a:avLst/>
          </a:prstGeom>
          <a:noFill/>
          <a:ln/>
        </p:spPr>
        <p:txBody>
          <a:bodyPr wrap="square" lIns="0" tIns="0" rIns="0" bIns="0" rtlCol="0" anchor="ctr"/>
          <a:lstStyle/>
          <a:p>
            <a:pPr indent="0" marL="0">
              <a:buNone/>
            </a:pPr>
            <a:r>
              <a:rPr lang="en-US" sz="1400" dirty="0">
                <a:solidFill>
                  <a:srgbClr val="E8590C"/>
                </a:solidFill>
                <a:latin typeface="Calibri" pitchFamily="34" charset="0"/>
                <a:ea typeface="Calibri" pitchFamily="34" charset="-122"/>
                <a:cs typeface="Calibri" pitchFamily="34" charset="-120"/>
              </a:rPr>
              <a:t>Prometheus, Grafana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OBSERVABILITY</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The three pillars</a:t>
            </a:r>
            <a:endParaRPr lang="en-US" sz="3400" dirty="0"/>
          </a:p>
        </p:txBody>
      </p:sp>
      <p:sp>
        <p:nvSpPr>
          <p:cNvPr id="4" name="Shape 2"/>
          <p:cNvSpPr/>
          <p:nvPr/>
        </p:nvSpPr>
        <p:spPr>
          <a:xfrm>
            <a:off x="640080" y="1600200"/>
            <a:ext cx="3429000" cy="4114800"/>
          </a:xfrm>
          <a:prstGeom prst="roundRect">
            <a:avLst>
              <a:gd name="adj" fmla="val 2133"/>
            </a:avLst>
          </a:prstGeom>
          <a:solidFill>
            <a:srgbClr val="FFE8D6"/>
          </a:solidFill>
          <a:ln w="19050">
            <a:solidFill>
              <a:srgbClr val="E8590C"/>
            </a:solidFill>
            <a:prstDash val="solid"/>
          </a:ln>
        </p:spPr>
      </p:sp>
      <p:sp>
        <p:nvSpPr>
          <p:cNvPr id="5" name="Text 3"/>
          <p:cNvSpPr/>
          <p:nvPr/>
        </p:nvSpPr>
        <p:spPr>
          <a:xfrm>
            <a:off x="932688" y="1810512"/>
            <a:ext cx="2834640" cy="411480"/>
          </a:xfrm>
          <a:prstGeom prst="rect">
            <a:avLst/>
          </a:prstGeom>
          <a:noFill/>
          <a:ln/>
        </p:spPr>
        <p:txBody>
          <a:bodyPr wrap="square" lIns="0" tIns="0" rIns="0" bIns="0" rtlCol="0" anchor="ctr"/>
          <a:lstStyle/>
          <a:p>
            <a:pPr indent="0" marL="0">
              <a:buNone/>
            </a:pPr>
            <a:r>
              <a:rPr lang="en-US" sz="2200" b="1" dirty="0">
                <a:solidFill>
                  <a:srgbClr val="E8590C"/>
                </a:solidFill>
                <a:latin typeface="Cambria" pitchFamily="34" charset="0"/>
                <a:ea typeface="Cambria" pitchFamily="34" charset="-122"/>
                <a:cs typeface="Cambria" pitchFamily="34" charset="-120"/>
              </a:rPr>
              <a:t>METRICS</a:t>
            </a:r>
            <a:endParaRPr lang="en-US" sz="2200" dirty="0"/>
          </a:p>
        </p:txBody>
      </p:sp>
      <p:sp>
        <p:nvSpPr>
          <p:cNvPr id="6" name="Text 4"/>
          <p:cNvSpPr/>
          <p:nvPr/>
        </p:nvSpPr>
        <p:spPr>
          <a:xfrm>
            <a:off x="932688" y="2231136"/>
            <a:ext cx="2834640" cy="292608"/>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Numbers over time</a:t>
            </a:r>
            <a:endParaRPr lang="en-US" sz="1300" dirty="0"/>
          </a:p>
        </p:txBody>
      </p:sp>
      <p:sp>
        <p:nvSpPr>
          <p:cNvPr id="7" name="Shape 5"/>
          <p:cNvSpPr/>
          <p:nvPr/>
        </p:nvSpPr>
        <p:spPr>
          <a:xfrm>
            <a:off x="932688" y="2606040"/>
            <a:ext cx="2834640" cy="749808"/>
          </a:xfrm>
          <a:prstGeom prst="roundRect">
            <a:avLst>
              <a:gd name="adj" fmla="val 6098"/>
            </a:avLst>
          </a:prstGeom>
          <a:solidFill>
            <a:srgbClr val="F4F6F9"/>
          </a:solidFill>
          <a:ln w="12700">
            <a:solidFill>
              <a:srgbClr val="D8DCE3"/>
            </a:solidFill>
            <a:prstDash val="solid"/>
          </a:ln>
        </p:spPr>
      </p:sp>
      <p:sp>
        <p:nvSpPr>
          <p:cNvPr id="8" name="Text 6"/>
          <p:cNvSpPr/>
          <p:nvPr/>
        </p:nvSpPr>
        <p:spPr>
          <a:xfrm>
            <a:off x="1097280" y="2715768"/>
            <a:ext cx="2505456" cy="530352"/>
          </a:xfrm>
          <a:prstGeom prst="rect">
            <a:avLst/>
          </a:prstGeom>
          <a:noFill/>
          <a:ln/>
        </p:spPr>
        <p:txBody>
          <a:bodyPr wrap="square" lIns="0" tIns="0" rIns="0" bIns="0" rtlCol="0" anchor="t"/>
          <a:lstStyle/>
          <a:p>
            <a:pPr indent="0" marL="0">
              <a:buNone/>
            </a:pPr>
            <a:r>
              <a:rPr lang="en-US" sz="1000" dirty="0">
                <a:solidFill>
                  <a:srgbClr val="3D4351"/>
                </a:solidFill>
                <a:latin typeface="Courier New" pitchFamily="34" charset="0"/>
                <a:ea typeface="Courier New" pitchFamily="34" charset="-122"/>
                <a:cs typeface="Courier New" pitchFamily="34" charset="-120"/>
              </a:rPr>
              <a:t>cpu_usage{pod="checkout"}</a:t>
            </a:r>
            <a:endParaRPr lang="en-US" sz="1000" dirty="0"/>
          </a:p>
          <a:p>
            <a:pPr indent="0" marL="0">
              <a:buNone/>
            </a:pPr>
            <a:r>
              <a:rPr lang="en-US" sz="1000" dirty="0">
                <a:solidFill>
                  <a:srgbClr val="3D4351"/>
                </a:solidFill>
                <a:latin typeface="Courier New" pitchFamily="34" charset="0"/>
                <a:ea typeface="Courier New" pitchFamily="34" charset="-122"/>
                <a:cs typeface="Courier New" pitchFamily="34" charset="-120"/>
              </a:rPr>
              <a:t>  = 0.87  @ 02:14:30</a:t>
            </a:r>
            <a:endParaRPr lang="en-US" sz="1000" dirty="0"/>
          </a:p>
        </p:txBody>
      </p:sp>
      <p:sp>
        <p:nvSpPr>
          <p:cNvPr id="9" name="Text 7"/>
          <p:cNvSpPr/>
          <p:nvPr/>
        </p:nvSpPr>
        <p:spPr>
          <a:xfrm>
            <a:off x="932688" y="3520440"/>
            <a:ext cx="2834640" cy="640080"/>
          </a:xfrm>
          <a:prstGeom prst="rect">
            <a:avLst/>
          </a:prstGeom>
          <a:noFill/>
          <a:ln/>
        </p:spPr>
        <p:txBody>
          <a:bodyPr wrap="square" lIns="0" tIns="0" rIns="0" bIns="0" rtlCol="0" anchor="ctr"/>
          <a:lstStyle/>
          <a:p>
            <a:pPr indent="0" marL="0">
              <a:lnSpc>
                <a:spcPts val="1800"/>
              </a:lnSpc>
              <a:buNone/>
            </a:pPr>
            <a:r>
              <a:rPr lang="en-US" sz="1350" dirty="0">
                <a:solidFill>
                  <a:srgbClr val="1A1D26"/>
                </a:solidFill>
                <a:latin typeface="Calibri" pitchFamily="34" charset="0"/>
                <a:ea typeface="Calibri" pitchFamily="34" charset="-122"/>
                <a:cs typeface="Calibri" pitchFamily="34" charset="-120"/>
              </a:rPr>
              <a:t>Cheap and aggregatable</a:t>
            </a:r>
            <a:endParaRPr lang="en-US" sz="1350" dirty="0"/>
          </a:p>
          <a:p>
            <a:pPr indent="0" marL="0">
              <a:lnSpc>
                <a:spcPts val="1800"/>
              </a:lnSpc>
              <a:buNone/>
            </a:pPr>
            <a:r>
              <a:rPr lang="en-US" sz="1350" dirty="0">
                <a:solidFill>
                  <a:srgbClr val="1A1D26"/>
                </a:solidFill>
                <a:latin typeface="Calibri" pitchFamily="34" charset="0"/>
                <a:ea typeface="Calibri" pitchFamily="34" charset="-122"/>
                <a:cs typeface="Calibri" pitchFamily="34" charset="-120"/>
              </a:rPr>
              <a:t>Keep for months</a:t>
            </a:r>
            <a:endParaRPr lang="en-US" sz="1350" dirty="0"/>
          </a:p>
        </p:txBody>
      </p:sp>
      <p:sp>
        <p:nvSpPr>
          <p:cNvPr id="10" name="Text 8"/>
          <p:cNvSpPr/>
          <p:nvPr/>
        </p:nvSpPr>
        <p:spPr>
          <a:xfrm>
            <a:off x="932688" y="4892040"/>
            <a:ext cx="2834640" cy="228600"/>
          </a:xfrm>
          <a:prstGeom prst="rect">
            <a:avLst/>
          </a:prstGeom>
          <a:noFill/>
          <a:ln/>
        </p:spPr>
        <p:txBody>
          <a:bodyPr wrap="square" lIns="0" tIns="0" rIns="0" bIns="0" rtlCol="0" anchor="ctr"/>
          <a:lstStyle/>
          <a:p>
            <a:pPr indent="0" marL="0">
              <a:buNone/>
            </a:pPr>
            <a:r>
              <a:rPr lang="en-US" sz="1000" b="1" spc="150" kern="0" dirty="0">
                <a:solidFill>
                  <a:srgbClr val="6B7280"/>
                </a:solidFill>
                <a:latin typeface="Calibri" pitchFamily="34" charset="0"/>
                <a:ea typeface="Calibri" pitchFamily="34" charset="-122"/>
                <a:cs typeface="Calibri" pitchFamily="34" charset="-120"/>
              </a:rPr>
              <a:t>TOOLS</a:t>
            </a:r>
            <a:endParaRPr lang="en-US" sz="1000" dirty="0"/>
          </a:p>
        </p:txBody>
      </p:sp>
      <p:sp>
        <p:nvSpPr>
          <p:cNvPr id="11" name="Text 9"/>
          <p:cNvSpPr/>
          <p:nvPr/>
        </p:nvSpPr>
        <p:spPr>
          <a:xfrm>
            <a:off x="932688" y="5138928"/>
            <a:ext cx="2834640" cy="320040"/>
          </a:xfrm>
          <a:prstGeom prst="rect">
            <a:avLst/>
          </a:prstGeom>
          <a:noFill/>
          <a:ln/>
        </p:spPr>
        <p:txBody>
          <a:bodyPr wrap="square" lIns="0" tIns="0" rIns="0" bIns="0" rtlCol="0" anchor="ctr"/>
          <a:lstStyle/>
          <a:p>
            <a:pPr indent="0" marL="0">
              <a:buNone/>
            </a:pPr>
            <a:r>
              <a:rPr lang="en-US" sz="1400" dirty="0">
                <a:solidFill>
                  <a:srgbClr val="E8590C"/>
                </a:solidFill>
                <a:latin typeface="Calibri" pitchFamily="34" charset="0"/>
                <a:ea typeface="Calibri" pitchFamily="34" charset="-122"/>
                <a:cs typeface="Calibri" pitchFamily="34" charset="-120"/>
              </a:rPr>
              <a:t>Prometheus, Grafana</a:t>
            </a:r>
            <a:endParaRPr lang="en-US" sz="1400" dirty="0"/>
          </a:p>
        </p:txBody>
      </p:sp>
      <p:sp>
        <p:nvSpPr>
          <p:cNvPr id="12" name="Shape 10"/>
          <p:cNvSpPr/>
          <p:nvPr/>
        </p:nvSpPr>
        <p:spPr>
          <a:xfrm>
            <a:off x="4361688" y="1600200"/>
            <a:ext cx="3429000" cy="4114800"/>
          </a:xfrm>
          <a:prstGeom prst="roundRect">
            <a:avLst>
              <a:gd name="adj" fmla="val 2133"/>
            </a:avLst>
          </a:prstGeom>
          <a:solidFill>
            <a:srgbClr val="DFF3E3"/>
          </a:solidFill>
          <a:ln w="19050">
            <a:solidFill>
              <a:srgbClr val="2F9E44"/>
            </a:solidFill>
            <a:prstDash val="solid"/>
          </a:ln>
        </p:spPr>
      </p:sp>
      <p:sp>
        <p:nvSpPr>
          <p:cNvPr id="13" name="Text 11"/>
          <p:cNvSpPr/>
          <p:nvPr/>
        </p:nvSpPr>
        <p:spPr>
          <a:xfrm>
            <a:off x="4654296" y="1810512"/>
            <a:ext cx="2834640" cy="411480"/>
          </a:xfrm>
          <a:prstGeom prst="rect">
            <a:avLst/>
          </a:prstGeom>
          <a:noFill/>
          <a:ln/>
        </p:spPr>
        <p:txBody>
          <a:bodyPr wrap="square" lIns="0" tIns="0" rIns="0" bIns="0" rtlCol="0" anchor="ctr"/>
          <a:lstStyle/>
          <a:p>
            <a:pPr indent="0" marL="0">
              <a:buNone/>
            </a:pPr>
            <a:r>
              <a:rPr lang="en-US" sz="2200" b="1" dirty="0">
                <a:solidFill>
                  <a:srgbClr val="2F9E44"/>
                </a:solidFill>
                <a:latin typeface="Cambria" pitchFamily="34" charset="0"/>
                <a:ea typeface="Cambria" pitchFamily="34" charset="-122"/>
                <a:cs typeface="Cambria" pitchFamily="34" charset="-120"/>
              </a:rPr>
              <a:t>LOGS</a:t>
            </a:r>
            <a:endParaRPr lang="en-US" sz="2200" dirty="0"/>
          </a:p>
        </p:txBody>
      </p:sp>
      <p:sp>
        <p:nvSpPr>
          <p:cNvPr id="14" name="Text 12"/>
          <p:cNvSpPr/>
          <p:nvPr/>
        </p:nvSpPr>
        <p:spPr>
          <a:xfrm>
            <a:off x="4654296" y="2231136"/>
            <a:ext cx="2834640" cy="292608"/>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Discrete text events</a:t>
            </a:r>
            <a:endParaRPr lang="en-US" sz="1300" dirty="0"/>
          </a:p>
        </p:txBody>
      </p:sp>
      <p:sp>
        <p:nvSpPr>
          <p:cNvPr id="15" name="Shape 13"/>
          <p:cNvSpPr/>
          <p:nvPr/>
        </p:nvSpPr>
        <p:spPr>
          <a:xfrm>
            <a:off x="4654296" y="2606040"/>
            <a:ext cx="2834640" cy="749808"/>
          </a:xfrm>
          <a:prstGeom prst="roundRect">
            <a:avLst>
              <a:gd name="adj" fmla="val 6098"/>
            </a:avLst>
          </a:prstGeom>
          <a:solidFill>
            <a:srgbClr val="F4F6F9"/>
          </a:solidFill>
          <a:ln w="12700">
            <a:solidFill>
              <a:srgbClr val="D8DCE3"/>
            </a:solidFill>
            <a:prstDash val="solid"/>
          </a:ln>
        </p:spPr>
      </p:sp>
      <p:sp>
        <p:nvSpPr>
          <p:cNvPr id="16" name="Text 14"/>
          <p:cNvSpPr/>
          <p:nvPr/>
        </p:nvSpPr>
        <p:spPr>
          <a:xfrm>
            <a:off x="4818888" y="2715768"/>
            <a:ext cx="2505456" cy="530352"/>
          </a:xfrm>
          <a:prstGeom prst="rect">
            <a:avLst/>
          </a:prstGeom>
          <a:noFill/>
          <a:ln/>
        </p:spPr>
        <p:txBody>
          <a:bodyPr wrap="square" lIns="0" tIns="0" rIns="0" bIns="0" rtlCol="0" anchor="t"/>
          <a:lstStyle/>
          <a:p>
            <a:pPr indent="0" marL="0">
              <a:buNone/>
            </a:pPr>
            <a:r>
              <a:rPr lang="en-US" sz="1000" dirty="0">
                <a:solidFill>
                  <a:srgbClr val="3D4351"/>
                </a:solidFill>
                <a:latin typeface="Courier New" pitchFamily="34" charset="0"/>
                <a:ea typeface="Courier New" pitchFamily="34" charset="-122"/>
                <a:cs typeface="Courier New" pitchFamily="34" charset="-120"/>
              </a:rPr>
              <a:t>02:14:07 ERROR checkout:</a:t>
            </a:r>
            <a:endParaRPr lang="en-US" sz="1000" dirty="0"/>
          </a:p>
          <a:p>
            <a:pPr indent="0" marL="0">
              <a:buNone/>
            </a:pPr>
            <a:r>
              <a:rPr lang="en-US" sz="1000" dirty="0">
                <a:solidFill>
                  <a:srgbClr val="3D4351"/>
                </a:solidFill>
                <a:latin typeface="Courier New" pitchFamily="34" charset="0"/>
                <a:ea typeface="Courier New" pitchFamily="34" charset="-122"/>
                <a:cs typeface="Courier New" pitchFamily="34" charset="-120"/>
              </a:rPr>
              <a:t>  timeout  user=8837421</a:t>
            </a:r>
            <a:endParaRPr lang="en-US" sz="1000" dirty="0"/>
          </a:p>
        </p:txBody>
      </p:sp>
      <p:sp>
        <p:nvSpPr>
          <p:cNvPr id="17" name="Text 15"/>
          <p:cNvSpPr/>
          <p:nvPr/>
        </p:nvSpPr>
        <p:spPr>
          <a:xfrm>
            <a:off x="4654296" y="3520440"/>
            <a:ext cx="2834640" cy="640080"/>
          </a:xfrm>
          <a:prstGeom prst="rect">
            <a:avLst/>
          </a:prstGeom>
          <a:noFill/>
          <a:ln/>
        </p:spPr>
        <p:txBody>
          <a:bodyPr wrap="square" lIns="0" tIns="0" rIns="0" bIns="0" rtlCol="0" anchor="ctr"/>
          <a:lstStyle/>
          <a:p>
            <a:pPr indent="0" marL="0">
              <a:lnSpc>
                <a:spcPts val="1800"/>
              </a:lnSpc>
              <a:buNone/>
            </a:pPr>
            <a:r>
              <a:rPr lang="en-US" sz="1350" dirty="0">
                <a:solidFill>
                  <a:srgbClr val="1A1D26"/>
                </a:solidFill>
                <a:latin typeface="Calibri" pitchFamily="34" charset="0"/>
                <a:ea typeface="Calibri" pitchFamily="34" charset="-122"/>
                <a:cs typeface="Calibri" pitchFamily="34" charset="-120"/>
              </a:rPr>
              <a:t>Detailed but expensive</a:t>
            </a:r>
            <a:endParaRPr lang="en-US" sz="1350" dirty="0"/>
          </a:p>
          <a:p>
            <a:pPr indent="0" marL="0">
              <a:lnSpc>
                <a:spcPts val="1800"/>
              </a:lnSpc>
              <a:buNone/>
            </a:pPr>
            <a:r>
              <a:rPr lang="en-US" sz="1350" dirty="0">
                <a:solidFill>
                  <a:srgbClr val="1A1D26"/>
                </a:solidFill>
                <a:latin typeface="Calibri" pitchFamily="34" charset="0"/>
                <a:ea typeface="Calibri" pitchFamily="34" charset="-122"/>
                <a:cs typeface="Calibri" pitchFamily="34" charset="-120"/>
              </a:rPr>
              <a:t>Keep for days</a:t>
            </a:r>
            <a:endParaRPr lang="en-US" sz="1350" dirty="0"/>
          </a:p>
        </p:txBody>
      </p:sp>
      <p:sp>
        <p:nvSpPr>
          <p:cNvPr id="18" name="Text 16"/>
          <p:cNvSpPr/>
          <p:nvPr/>
        </p:nvSpPr>
        <p:spPr>
          <a:xfrm>
            <a:off x="4654296" y="4892040"/>
            <a:ext cx="2834640" cy="228600"/>
          </a:xfrm>
          <a:prstGeom prst="rect">
            <a:avLst/>
          </a:prstGeom>
          <a:noFill/>
          <a:ln/>
        </p:spPr>
        <p:txBody>
          <a:bodyPr wrap="square" lIns="0" tIns="0" rIns="0" bIns="0" rtlCol="0" anchor="ctr"/>
          <a:lstStyle/>
          <a:p>
            <a:pPr indent="0" marL="0">
              <a:buNone/>
            </a:pPr>
            <a:r>
              <a:rPr lang="en-US" sz="1000" b="1" spc="150" kern="0" dirty="0">
                <a:solidFill>
                  <a:srgbClr val="6B7280"/>
                </a:solidFill>
                <a:latin typeface="Calibri" pitchFamily="34" charset="0"/>
                <a:ea typeface="Calibri" pitchFamily="34" charset="-122"/>
                <a:cs typeface="Calibri" pitchFamily="34" charset="-120"/>
              </a:rPr>
              <a:t>TOOLS</a:t>
            </a:r>
            <a:endParaRPr lang="en-US" sz="1000" dirty="0"/>
          </a:p>
        </p:txBody>
      </p:sp>
      <p:sp>
        <p:nvSpPr>
          <p:cNvPr id="19" name="Text 17"/>
          <p:cNvSpPr/>
          <p:nvPr/>
        </p:nvSpPr>
        <p:spPr>
          <a:xfrm>
            <a:off x="4654296" y="5138928"/>
            <a:ext cx="2834640" cy="320040"/>
          </a:xfrm>
          <a:prstGeom prst="rect">
            <a:avLst/>
          </a:prstGeom>
          <a:noFill/>
          <a:ln/>
        </p:spPr>
        <p:txBody>
          <a:bodyPr wrap="square" lIns="0" tIns="0" rIns="0" bIns="0" rtlCol="0" anchor="ctr"/>
          <a:lstStyle/>
          <a:p>
            <a:pPr indent="0" marL="0">
              <a:buNone/>
            </a:pPr>
            <a:r>
              <a:rPr lang="en-US" sz="1400" dirty="0">
                <a:solidFill>
                  <a:srgbClr val="2F9E44"/>
                </a:solidFill>
                <a:latin typeface="Calibri" pitchFamily="34" charset="0"/>
                <a:ea typeface="Calibri" pitchFamily="34" charset="-122"/>
                <a:cs typeface="Calibri" pitchFamily="34" charset="-120"/>
              </a:rPr>
              <a:t>Loki, Elasticsearch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OBSERVABILITY</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The three pillars</a:t>
            </a:r>
            <a:endParaRPr lang="en-US" sz="3400" dirty="0"/>
          </a:p>
        </p:txBody>
      </p:sp>
      <p:sp>
        <p:nvSpPr>
          <p:cNvPr id="4" name="Shape 2"/>
          <p:cNvSpPr/>
          <p:nvPr/>
        </p:nvSpPr>
        <p:spPr>
          <a:xfrm>
            <a:off x="640080" y="1600200"/>
            <a:ext cx="3429000" cy="4114800"/>
          </a:xfrm>
          <a:prstGeom prst="roundRect">
            <a:avLst>
              <a:gd name="adj" fmla="val 2133"/>
            </a:avLst>
          </a:prstGeom>
          <a:solidFill>
            <a:srgbClr val="FFE8D6"/>
          </a:solidFill>
          <a:ln w="19050">
            <a:solidFill>
              <a:srgbClr val="E8590C"/>
            </a:solidFill>
            <a:prstDash val="solid"/>
          </a:ln>
        </p:spPr>
      </p:sp>
      <p:sp>
        <p:nvSpPr>
          <p:cNvPr id="5" name="Text 3"/>
          <p:cNvSpPr/>
          <p:nvPr/>
        </p:nvSpPr>
        <p:spPr>
          <a:xfrm>
            <a:off x="932688" y="1810512"/>
            <a:ext cx="2834640" cy="411480"/>
          </a:xfrm>
          <a:prstGeom prst="rect">
            <a:avLst/>
          </a:prstGeom>
          <a:noFill/>
          <a:ln/>
        </p:spPr>
        <p:txBody>
          <a:bodyPr wrap="square" lIns="0" tIns="0" rIns="0" bIns="0" rtlCol="0" anchor="ctr"/>
          <a:lstStyle/>
          <a:p>
            <a:pPr indent="0" marL="0">
              <a:buNone/>
            </a:pPr>
            <a:r>
              <a:rPr lang="en-US" sz="2200" b="1" dirty="0">
                <a:solidFill>
                  <a:srgbClr val="E8590C"/>
                </a:solidFill>
                <a:latin typeface="Cambria" pitchFamily="34" charset="0"/>
                <a:ea typeface="Cambria" pitchFamily="34" charset="-122"/>
                <a:cs typeface="Cambria" pitchFamily="34" charset="-120"/>
              </a:rPr>
              <a:t>METRICS</a:t>
            </a:r>
            <a:endParaRPr lang="en-US" sz="2200" dirty="0"/>
          </a:p>
        </p:txBody>
      </p:sp>
      <p:sp>
        <p:nvSpPr>
          <p:cNvPr id="6" name="Text 4"/>
          <p:cNvSpPr/>
          <p:nvPr/>
        </p:nvSpPr>
        <p:spPr>
          <a:xfrm>
            <a:off x="932688" y="2231136"/>
            <a:ext cx="2834640" cy="292608"/>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Numbers over time</a:t>
            </a:r>
            <a:endParaRPr lang="en-US" sz="1300" dirty="0"/>
          </a:p>
        </p:txBody>
      </p:sp>
      <p:sp>
        <p:nvSpPr>
          <p:cNvPr id="7" name="Shape 5"/>
          <p:cNvSpPr/>
          <p:nvPr/>
        </p:nvSpPr>
        <p:spPr>
          <a:xfrm>
            <a:off x="932688" y="2606040"/>
            <a:ext cx="2834640" cy="749808"/>
          </a:xfrm>
          <a:prstGeom prst="roundRect">
            <a:avLst>
              <a:gd name="adj" fmla="val 6098"/>
            </a:avLst>
          </a:prstGeom>
          <a:solidFill>
            <a:srgbClr val="F4F6F9"/>
          </a:solidFill>
          <a:ln w="12700">
            <a:solidFill>
              <a:srgbClr val="D8DCE3"/>
            </a:solidFill>
            <a:prstDash val="solid"/>
          </a:ln>
        </p:spPr>
      </p:sp>
      <p:sp>
        <p:nvSpPr>
          <p:cNvPr id="8" name="Text 6"/>
          <p:cNvSpPr/>
          <p:nvPr/>
        </p:nvSpPr>
        <p:spPr>
          <a:xfrm>
            <a:off x="1097280" y="2715768"/>
            <a:ext cx="2505456" cy="530352"/>
          </a:xfrm>
          <a:prstGeom prst="rect">
            <a:avLst/>
          </a:prstGeom>
          <a:noFill/>
          <a:ln/>
        </p:spPr>
        <p:txBody>
          <a:bodyPr wrap="square" lIns="0" tIns="0" rIns="0" bIns="0" rtlCol="0" anchor="t"/>
          <a:lstStyle/>
          <a:p>
            <a:pPr indent="0" marL="0">
              <a:buNone/>
            </a:pPr>
            <a:r>
              <a:rPr lang="en-US" sz="1000" dirty="0">
                <a:solidFill>
                  <a:srgbClr val="3D4351"/>
                </a:solidFill>
                <a:latin typeface="Courier New" pitchFamily="34" charset="0"/>
                <a:ea typeface="Courier New" pitchFamily="34" charset="-122"/>
                <a:cs typeface="Courier New" pitchFamily="34" charset="-120"/>
              </a:rPr>
              <a:t>cpu_usage{pod="checkout"}</a:t>
            </a:r>
            <a:endParaRPr lang="en-US" sz="1000" dirty="0"/>
          </a:p>
          <a:p>
            <a:pPr indent="0" marL="0">
              <a:buNone/>
            </a:pPr>
            <a:r>
              <a:rPr lang="en-US" sz="1000" dirty="0">
                <a:solidFill>
                  <a:srgbClr val="3D4351"/>
                </a:solidFill>
                <a:latin typeface="Courier New" pitchFamily="34" charset="0"/>
                <a:ea typeface="Courier New" pitchFamily="34" charset="-122"/>
                <a:cs typeface="Courier New" pitchFamily="34" charset="-120"/>
              </a:rPr>
              <a:t>  = 0.87  @ 02:14:30</a:t>
            </a:r>
            <a:endParaRPr lang="en-US" sz="1000" dirty="0"/>
          </a:p>
        </p:txBody>
      </p:sp>
      <p:sp>
        <p:nvSpPr>
          <p:cNvPr id="9" name="Text 7"/>
          <p:cNvSpPr/>
          <p:nvPr/>
        </p:nvSpPr>
        <p:spPr>
          <a:xfrm>
            <a:off x="932688" y="3520440"/>
            <a:ext cx="2834640" cy="640080"/>
          </a:xfrm>
          <a:prstGeom prst="rect">
            <a:avLst/>
          </a:prstGeom>
          <a:noFill/>
          <a:ln/>
        </p:spPr>
        <p:txBody>
          <a:bodyPr wrap="square" lIns="0" tIns="0" rIns="0" bIns="0" rtlCol="0" anchor="ctr"/>
          <a:lstStyle/>
          <a:p>
            <a:pPr indent="0" marL="0">
              <a:lnSpc>
                <a:spcPts val="1800"/>
              </a:lnSpc>
              <a:buNone/>
            </a:pPr>
            <a:r>
              <a:rPr lang="en-US" sz="1350" dirty="0">
                <a:solidFill>
                  <a:srgbClr val="1A1D26"/>
                </a:solidFill>
                <a:latin typeface="Calibri" pitchFamily="34" charset="0"/>
                <a:ea typeface="Calibri" pitchFamily="34" charset="-122"/>
                <a:cs typeface="Calibri" pitchFamily="34" charset="-120"/>
              </a:rPr>
              <a:t>Cheap and aggregatable</a:t>
            </a:r>
            <a:endParaRPr lang="en-US" sz="1350" dirty="0"/>
          </a:p>
          <a:p>
            <a:pPr indent="0" marL="0">
              <a:lnSpc>
                <a:spcPts val="1800"/>
              </a:lnSpc>
              <a:buNone/>
            </a:pPr>
            <a:r>
              <a:rPr lang="en-US" sz="1350" dirty="0">
                <a:solidFill>
                  <a:srgbClr val="1A1D26"/>
                </a:solidFill>
                <a:latin typeface="Calibri" pitchFamily="34" charset="0"/>
                <a:ea typeface="Calibri" pitchFamily="34" charset="-122"/>
                <a:cs typeface="Calibri" pitchFamily="34" charset="-120"/>
              </a:rPr>
              <a:t>Keep for months</a:t>
            </a:r>
            <a:endParaRPr lang="en-US" sz="1350" dirty="0"/>
          </a:p>
        </p:txBody>
      </p:sp>
      <p:sp>
        <p:nvSpPr>
          <p:cNvPr id="10" name="Text 8"/>
          <p:cNvSpPr/>
          <p:nvPr/>
        </p:nvSpPr>
        <p:spPr>
          <a:xfrm>
            <a:off x="932688" y="4892040"/>
            <a:ext cx="2834640" cy="228600"/>
          </a:xfrm>
          <a:prstGeom prst="rect">
            <a:avLst/>
          </a:prstGeom>
          <a:noFill/>
          <a:ln/>
        </p:spPr>
        <p:txBody>
          <a:bodyPr wrap="square" lIns="0" tIns="0" rIns="0" bIns="0" rtlCol="0" anchor="ctr"/>
          <a:lstStyle/>
          <a:p>
            <a:pPr indent="0" marL="0">
              <a:buNone/>
            </a:pPr>
            <a:r>
              <a:rPr lang="en-US" sz="1000" b="1" spc="150" kern="0" dirty="0">
                <a:solidFill>
                  <a:srgbClr val="6B7280"/>
                </a:solidFill>
                <a:latin typeface="Calibri" pitchFamily="34" charset="0"/>
                <a:ea typeface="Calibri" pitchFamily="34" charset="-122"/>
                <a:cs typeface="Calibri" pitchFamily="34" charset="-120"/>
              </a:rPr>
              <a:t>TOOLS</a:t>
            </a:r>
            <a:endParaRPr lang="en-US" sz="1000" dirty="0"/>
          </a:p>
        </p:txBody>
      </p:sp>
      <p:sp>
        <p:nvSpPr>
          <p:cNvPr id="11" name="Text 9"/>
          <p:cNvSpPr/>
          <p:nvPr/>
        </p:nvSpPr>
        <p:spPr>
          <a:xfrm>
            <a:off x="932688" y="5138928"/>
            <a:ext cx="2834640" cy="320040"/>
          </a:xfrm>
          <a:prstGeom prst="rect">
            <a:avLst/>
          </a:prstGeom>
          <a:noFill/>
          <a:ln/>
        </p:spPr>
        <p:txBody>
          <a:bodyPr wrap="square" lIns="0" tIns="0" rIns="0" bIns="0" rtlCol="0" anchor="ctr"/>
          <a:lstStyle/>
          <a:p>
            <a:pPr indent="0" marL="0">
              <a:buNone/>
            </a:pPr>
            <a:r>
              <a:rPr lang="en-US" sz="1400" dirty="0">
                <a:solidFill>
                  <a:srgbClr val="E8590C"/>
                </a:solidFill>
                <a:latin typeface="Calibri" pitchFamily="34" charset="0"/>
                <a:ea typeface="Calibri" pitchFamily="34" charset="-122"/>
                <a:cs typeface="Calibri" pitchFamily="34" charset="-120"/>
              </a:rPr>
              <a:t>Prometheus, Grafana</a:t>
            </a:r>
            <a:endParaRPr lang="en-US" sz="1400" dirty="0"/>
          </a:p>
        </p:txBody>
      </p:sp>
      <p:sp>
        <p:nvSpPr>
          <p:cNvPr id="12" name="Shape 10"/>
          <p:cNvSpPr/>
          <p:nvPr/>
        </p:nvSpPr>
        <p:spPr>
          <a:xfrm>
            <a:off x="4361688" y="1600200"/>
            <a:ext cx="3429000" cy="4114800"/>
          </a:xfrm>
          <a:prstGeom prst="roundRect">
            <a:avLst>
              <a:gd name="adj" fmla="val 2133"/>
            </a:avLst>
          </a:prstGeom>
          <a:solidFill>
            <a:srgbClr val="DFF3E3"/>
          </a:solidFill>
          <a:ln w="19050">
            <a:solidFill>
              <a:srgbClr val="2F9E44"/>
            </a:solidFill>
            <a:prstDash val="solid"/>
          </a:ln>
        </p:spPr>
      </p:sp>
      <p:sp>
        <p:nvSpPr>
          <p:cNvPr id="13" name="Text 11"/>
          <p:cNvSpPr/>
          <p:nvPr/>
        </p:nvSpPr>
        <p:spPr>
          <a:xfrm>
            <a:off x="4654296" y="1810512"/>
            <a:ext cx="2834640" cy="411480"/>
          </a:xfrm>
          <a:prstGeom prst="rect">
            <a:avLst/>
          </a:prstGeom>
          <a:noFill/>
          <a:ln/>
        </p:spPr>
        <p:txBody>
          <a:bodyPr wrap="square" lIns="0" tIns="0" rIns="0" bIns="0" rtlCol="0" anchor="ctr"/>
          <a:lstStyle/>
          <a:p>
            <a:pPr indent="0" marL="0">
              <a:buNone/>
            </a:pPr>
            <a:r>
              <a:rPr lang="en-US" sz="2200" b="1" dirty="0">
                <a:solidFill>
                  <a:srgbClr val="2F9E44"/>
                </a:solidFill>
                <a:latin typeface="Cambria" pitchFamily="34" charset="0"/>
                <a:ea typeface="Cambria" pitchFamily="34" charset="-122"/>
                <a:cs typeface="Cambria" pitchFamily="34" charset="-120"/>
              </a:rPr>
              <a:t>LOGS</a:t>
            </a:r>
            <a:endParaRPr lang="en-US" sz="2200" dirty="0"/>
          </a:p>
        </p:txBody>
      </p:sp>
      <p:sp>
        <p:nvSpPr>
          <p:cNvPr id="14" name="Text 12"/>
          <p:cNvSpPr/>
          <p:nvPr/>
        </p:nvSpPr>
        <p:spPr>
          <a:xfrm>
            <a:off x="4654296" y="2231136"/>
            <a:ext cx="2834640" cy="292608"/>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Discrete text events</a:t>
            </a:r>
            <a:endParaRPr lang="en-US" sz="1300" dirty="0"/>
          </a:p>
        </p:txBody>
      </p:sp>
      <p:sp>
        <p:nvSpPr>
          <p:cNvPr id="15" name="Shape 13"/>
          <p:cNvSpPr/>
          <p:nvPr/>
        </p:nvSpPr>
        <p:spPr>
          <a:xfrm>
            <a:off x="4654296" y="2606040"/>
            <a:ext cx="2834640" cy="749808"/>
          </a:xfrm>
          <a:prstGeom prst="roundRect">
            <a:avLst>
              <a:gd name="adj" fmla="val 6098"/>
            </a:avLst>
          </a:prstGeom>
          <a:solidFill>
            <a:srgbClr val="F4F6F9"/>
          </a:solidFill>
          <a:ln w="12700">
            <a:solidFill>
              <a:srgbClr val="D8DCE3"/>
            </a:solidFill>
            <a:prstDash val="solid"/>
          </a:ln>
        </p:spPr>
      </p:sp>
      <p:sp>
        <p:nvSpPr>
          <p:cNvPr id="16" name="Text 14"/>
          <p:cNvSpPr/>
          <p:nvPr/>
        </p:nvSpPr>
        <p:spPr>
          <a:xfrm>
            <a:off x="4818888" y="2715768"/>
            <a:ext cx="2505456" cy="530352"/>
          </a:xfrm>
          <a:prstGeom prst="rect">
            <a:avLst/>
          </a:prstGeom>
          <a:noFill/>
          <a:ln/>
        </p:spPr>
        <p:txBody>
          <a:bodyPr wrap="square" lIns="0" tIns="0" rIns="0" bIns="0" rtlCol="0" anchor="t"/>
          <a:lstStyle/>
          <a:p>
            <a:pPr indent="0" marL="0">
              <a:buNone/>
            </a:pPr>
            <a:r>
              <a:rPr lang="en-US" sz="1000" dirty="0">
                <a:solidFill>
                  <a:srgbClr val="3D4351"/>
                </a:solidFill>
                <a:latin typeface="Courier New" pitchFamily="34" charset="0"/>
                <a:ea typeface="Courier New" pitchFamily="34" charset="-122"/>
                <a:cs typeface="Courier New" pitchFamily="34" charset="-120"/>
              </a:rPr>
              <a:t>02:14:07 ERROR checkout:</a:t>
            </a:r>
            <a:endParaRPr lang="en-US" sz="1000" dirty="0"/>
          </a:p>
          <a:p>
            <a:pPr indent="0" marL="0">
              <a:buNone/>
            </a:pPr>
            <a:r>
              <a:rPr lang="en-US" sz="1000" dirty="0">
                <a:solidFill>
                  <a:srgbClr val="3D4351"/>
                </a:solidFill>
                <a:latin typeface="Courier New" pitchFamily="34" charset="0"/>
                <a:ea typeface="Courier New" pitchFamily="34" charset="-122"/>
                <a:cs typeface="Courier New" pitchFamily="34" charset="-120"/>
              </a:rPr>
              <a:t>  timeout  user=8837421</a:t>
            </a:r>
            <a:endParaRPr lang="en-US" sz="1000" dirty="0"/>
          </a:p>
        </p:txBody>
      </p:sp>
      <p:sp>
        <p:nvSpPr>
          <p:cNvPr id="17" name="Text 15"/>
          <p:cNvSpPr/>
          <p:nvPr/>
        </p:nvSpPr>
        <p:spPr>
          <a:xfrm>
            <a:off x="4654296" y="3520440"/>
            <a:ext cx="2834640" cy="640080"/>
          </a:xfrm>
          <a:prstGeom prst="rect">
            <a:avLst/>
          </a:prstGeom>
          <a:noFill/>
          <a:ln/>
        </p:spPr>
        <p:txBody>
          <a:bodyPr wrap="square" lIns="0" tIns="0" rIns="0" bIns="0" rtlCol="0" anchor="ctr"/>
          <a:lstStyle/>
          <a:p>
            <a:pPr indent="0" marL="0">
              <a:lnSpc>
                <a:spcPts val="1800"/>
              </a:lnSpc>
              <a:buNone/>
            </a:pPr>
            <a:r>
              <a:rPr lang="en-US" sz="1350" dirty="0">
                <a:solidFill>
                  <a:srgbClr val="1A1D26"/>
                </a:solidFill>
                <a:latin typeface="Calibri" pitchFamily="34" charset="0"/>
                <a:ea typeface="Calibri" pitchFamily="34" charset="-122"/>
                <a:cs typeface="Calibri" pitchFamily="34" charset="-120"/>
              </a:rPr>
              <a:t>Detailed but expensive</a:t>
            </a:r>
            <a:endParaRPr lang="en-US" sz="1350" dirty="0"/>
          </a:p>
          <a:p>
            <a:pPr indent="0" marL="0">
              <a:lnSpc>
                <a:spcPts val="1800"/>
              </a:lnSpc>
              <a:buNone/>
            </a:pPr>
            <a:r>
              <a:rPr lang="en-US" sz="1350" dirty="0">
                <a:solidFill>
                  <a:srgbClr val="1A1D26"/>
                </a:solidFill>
                <a:latin typeface="Calibri" pitchFamily="34" charset="0"/>
                <a:ea typeface="Calibri" pitchFamily="34" charset="-122"/>
                <a:cs typeface="Calibri" pitchFamily="34" charset="-120"/>
              </a:rPr>
              <a:t>Keep for days</a:t>
            </a:r>
            <a:endParaRPr lang="en-US" sz="1350" dirty="0"/>
          </a:p>
        </p:txBody>
      </p:sp>
      <p:sp>
        <p:nvSpPr>
          <p:cNvPr id="18" name="Text 16"/>
          <p:cNvSpPr/>
          <p:nvPr/>
        </p:nvSpPr>
        <p:spPr>
          <a:xfrm>
            <a:off x="4654296" y="4892040"/>
            <a:ext cx="2834640" cy="228600"/>
          </a:xfrm>
          <a:prstGeom prst="rect">
            <a:avLst/>
          </a:prstGeom>
          <a:noFill/>
          <a:ln/>
        </p:spPr>
        <p:txBody>
          <a:bodyPr wrap="square" lIns="0" tIns="0" rIns="0" bIns="0" rtlCol="0" anchor="ctr"/>
          <a:lstStyle/>
          <a:p>
            <a:pPr indent="0" marL="0">
              <a:buNone/>
            </a:pPr>
            <a:r>
              <a:rPr lang="en-US" sz="1000" b="1" spc="150" kern="0" dirty="0">
                <a:solidFill>
                  <a:srgbClr val="6B7280"/>
                </a:solidFill>
                <a:latin typeface="Calibri" pitchFamily="34" charset="0"/>
                <a:ea typeface="Calibri" pitchFamily="34" charset="-122"/>
                <a:cs typeface="Calibri" pitchFamily="34" charset="-120"/>
              </a:rPr>
              <a:t>TOOLS</a:t>
            </a:r>
            <a:endParaRPr lang="en-US" sz="1000" dirty="0"/>
          </a:p>
        </p:txBody>
      </p:sp>
      <p:sp>
        <p:nvSpPr>
          <p:cNvPr id="19" name="Text 17"/>
          <p:cNvSpPr/>
          <p:nvPr/>
        </p:nvSpPr>
        <p:spPr>
          <a:xfrm>
            <a:off x="4654296" y="5138928"/>
            <a:ext cx="2834640" cy="320040"/>
          </a:xfrm>
          <a:prstGeom prst="rect">
            <a:avLst/>
          </a:prstGeom>
          <a:noFill/>
          <a:ln/>
        </p:spPr>
        <p:txBody>
          <a:bodyPr wrap="square" lIns="0" tIns="0" rIns="0" bIns="0" rtlCol="0" anchor="ctr"/>
          <a:lstStyle/>
          <a:p>
            <a:pPr indent="0" marL="0">
              <a:buNone/>
            </a:pPr>
            <a:r>
              <a:rPr lang="en-US" sz="1400" dirty="0">
                <a:solidFill>
                  <a:srgbClr val="2F9E44"/>
                </a:solidFill>
                <a:latin typeface="Calibri" pitchFamily="34" charset="0"/>
                <a:ea typeface="Calibri" pitchFamily="34" charset="-122"/>
                <a:cs typeface="Calibri" pitchFamily="34" charset="-120"/>
              </a:rPr>
              <a:t>Loki, Elasticsearch</a:t>
            </a:r>
            <a:endParaRPr lang="en-US" sz="1400" dirty="0"/>
          </a:p>
        </p:txBody>
      </p:sp>
      <p:sp>
        <p:nvSpPr>
          <p:cNvPr id="20" name="Shape 18"/>
          <p:cNvSpPr/>
          <p:nvPr/>
        </p:nvSpPr>
        <p:spPr>
          <a:xfrm>
            <a:off x="8083296" y="1600200"/>
            <a:ext cx="3429000" cy="4114800"/>
          </a:xfrm>
          <a:prstGeom prst="roundRect">
            <a:avLst>
              <a:gd name="adj" fmla="val 2133"/>
            </a:avLst>
          </a:prstGeom>
          <a:solidFill>
            <a:srgbClr val="E9E2FB"/>
          </a:solidFill>
          <a:ln w="19050">
            <a:solidFill>
              <a:srgbClr val="6741D9"/>
            </a:solidFill>
            <a:prstDash val="solid"/>
          </a:ln>
        </p:spPr>
      </p:sp>
      <p:sp>
        <p:nvSpPr>
          <p:cNvPr id="21" name="Text 19"/>
          <p:cNvSpPr/>
          <p:nvPr/>
        </p:nvSpPr>
        <p:spPr>
          <a:xfrm>
            <a:off x="8375904" y="1810512"/>
            <a:ext cx="2834640" cy="411480"/>
          </a:xfrm>
          <a:prstGeom prst="rect">
            <a:avLst/>
          </a:prstGeom>
          <a:noFill/>
          <a:ln/>
        </p:spPr>
        <p:txBody>
          <a:bodyPr wrap="square" lIns="0" tIns="0" rIns="0" bIns="0" rtlCol="0" anchor="ctr"/>
          <a:lstStyle/>
          <a:p>
            <a:pPr indent="0" marL="0">
              <a:buNone/>
            </a:pPr>
            <a:r>
              <a:rPr lang="en-US" sz="2200" b="1" dirty="0">
                <a:solidFill>
                  <a:srgbClr val="6741D9"/>
                </a:solidFill>
                <a:latin typeface="Cambria" pitchFamily="34" charset="0"/>
                <a:ea typeface="Cambria" pitchFamily="34" charset="-122"/>
                <a:cs typeface="Cambria" pitchFamily="34" charset="-120"/>
              </a:rPr>
              <a:t>TRACES</a:t>
            </a:r>
            <a:endParaRPr lang="en-US" sz="2200" dirty="0"/>
          </a:p>
        </p:txBody>
      </p:sp>
      <p:sp>
        <p:nvSpPr>
          <p:cNvPr id="22" name="Text 20"/>
          <p:cNvSpPr/>
          <p:nvPr/>
        </p:nvSpPr>
        <p:spPr>
          <a:xfrm>
            <a:off x="8375904" y="2231136"/>
            <a:ext cx="2834640" cy="292608"/>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One request, every hop</a:t>
            </a:r>
            <a:endParaRPr lang="en-US" sz="1300" dirty="0"/>
          </a:p>
        </p:txBody>
      </p:sp>
      <p:sp>
        <p:nvSpPr>
          <p:cNvPr id="23" name="Shape 21"/>
          <p:cNvSpPr/>
          <p:nvPr/>
        </p:nvSpPr>
        <p:spPr>
          <a:xfrm>
            <a:off x="8375904" y="2606040"/>
            <a:ext cx="2834640" cy="749808"/>
          </a:xfrm>
          <a:prstGeom prst="roundRect">
            <a:avLst>
              <a:gd name="adj" fmla="val 6098"/>
            </a:avLst>
          </a:prstGeom>
          <a:solidFill>
            <a:srgbClr val="F4F6F9"/>
          </a:solidFill>
          <a:ln w="12700">
            <a:solidFill>
              <a:srgbClr val="D8DCE3"/>
            </a:solidFill>
            <a:prstDash val="solid"/>
          </a:ln>
        </p:spPr>
      </p:sp>
      <p:sp>
        <p:nvSpPr>
          <p:cNvPr id="24" name="Text 22"/>
          <p:cNvSpPr/>
          <p:nvPr/>
        </p:nvSpPr>
        <p:spPr>
          <a:xfrm>
            <a:off x="8540496" y="2715768"/>
            <a:ext cx="2505456" cy="530352"/>
          </a:xfrm>
          <a:prstGeom prst="rect">
            <a:avLst/>
          </a:prstGeom>
          <a:noFill/>
          <a:ln/>
        </p:spPr>
        <p:txBody>
          <a:bodyPr wrap="square" lIns="0" tIns="0" rIns="0" bIns="0" rtlCol="0" anchor="t"/>
          <a:lstStyle/>
          <a:p>
            <a:pPr indent="0" marL="0">
              <a:buNone/>
            </a:pPr>
            <a:r>
              <a:rPr lang="en-US" sz="1000" dirty="0">
                <a:solidFill>
                  <a:srgbClr val="3D4351"/>
                </a:solidFill>
                <a:latin typeface="Courier New" pitchFamily="34" charset="0"/>
                <a:ea typeface="Courier New" pitchFamily="34" charset="-122"/>
                <a:cs typeface="Courier New" pitchFamily="34" charset="-120"/>
              </a:rPr>
              <a:t>checkout       2900ms</a:t>
            </a:r>
            <a:endParaRPr lang="en-US" sz="1000" dirty="0"/>
          </a:p>
          <a:p>
            <a:pPr indent="0" marL="0">
              <a:buNone/>
            </a:pPr>
            <a:r>
              <a:rPr lang="en-US" sz="1000" dirty="0">
                <a:solidFill>
                  <a:srgbClr val="3D4351"/>
                </a:solidFill>
                <a:latin typeface="Courier New" pitchFamily="34" charset="0"/>
                <a:ea typeface="Courier New" pitchFamily="34" charset="-122"/>
                <a:cs typeface="Courier New" pitchFamily="34" charset="-120"/>
              </a:rPr>
              <a:t>  payment-gw   2650ms</a:t>
            </a:r>
            <a:endParaRPr lang="en-US" sz="1000" dirty="0"/>
          </a:p>
        </p:txBody>
      </p:sp>
      <p:sp>
        <p:nvSpPr>
          <p:cNvPr id="25" name="Text 23"/>
          <p:cNvSpPr/>
          <p:nvPr/>
        </p:nvSpPr>
        <p:spPr>
          <a:xfrm>
            <a:off x="8375904" y="3520440"/>
            <a:ext cx="2834640" cy="640080"/>
          </a:xfrm>
          <a:prstGeom prst="rect">
            <a:avLst/>
          </a:prstGeom>
          <a:noFill/>
          <a:ln/>
        </p:spPr>
        <p:txBody>
          <a:bodyPr wrap="square" lIns="0" tIns="0" rIns="0" bIns="0" rtlCol="0" anchor="ctr"/>
          <a:lstStyle/>
          <a:p>
            <a:pPr indent="0" marL="0">
              <a:lnSpc>
                <a:spcPts val="1800"/>
              </a:lnSpc>
              <a:buNone/>
            </a:pPr>
            <a:r>
              <a:rPr lang="en-US" sz="1350" dirty="0">
                <a:solidFill>
                  <a:srgbClr val="1A1D26"/>
                </a:solidFill>
                <a:latin typeface="Calibri" pitchFamily="34" charset="0"/>
                <a:ea typeface="Calibri" pitchFamily="34" charset="-122"/>
                <a:cs typeface="Calibri" pitchFamily="34" charset="-120"/>
              </a:rPr>
              <a:t>Precise but sampled</a:t>
            </a:r>
            <a:endParaRPr lang="en-US" sz="1350" dirty="0"/>
          </a:p>
          <a:p>
            <a:pPr indent="0" marL="0">
              <a:lnSpc>
                <a:spcPts val="1800"/>
              </a:lnSpc>
              <a:buNone/>
            </a:pPr>
            <a:r>
              <a:rPr lang="en-US" sz="1350" dirty="0">
                <a:solidFill>
                  <a:srgbClr val="1A1D26"/>
                </a:solidFill>
                <a:latin typeface="Calibri" pitchFamily="34" charset="0"/>
                <a:ea typeface="Calibri" pitchFamily="34" charset="-122"/>
                <a:cs typeface="Calibri" pitchFamily="34" charset="-120"/>
              </a:rPr>
              <a:t>One request at a time</a:t>
            </a:r>
            <a:endParaRPr lang="en-US" sz="1350" dirty="0"/>
          </a:p>
        </p:txBody>
      </p:sp>
      <p:sp>
        <p:nvSpPr>
          <p:cNvPr id="26" name="Text 24"/>
          <p:cNvSpPr/>
          <p:nvPr/>
        </p:nvSpPr>
        <p:spPr>
          <a:xfrm>
            <a:off x="8375904" y="4892040"/>
            <a:ext cx="2834640" cy="228600"/>
          </a:xfrm>
          <a:prstGeom prst="rect">
            <a:avLst/>
          </a:prstGeom>
          <a:noFill/>
          <a:ln/>
        </p:spPr>
        <p:txBody>
          <a:bodyPr wrap="square" lIns="0" tIns="0" rIns="0" bIns="0" rtlCol="0" anchor="ctr"/>
          <a:lstStyle/>
          <a:p>
            <a:pPr indent="0" marL="0">
              <a:buNone/>
            </a:pPr>
            <a:r>
              <a:rPr lang="en-US" sz="1000" b="1" spc="150" kern="0" dirty="0">
                <a:solidFill>
                  <a:srgbClr val="6B7280"/>
                </a:solidFill>
                <a:latin typeface="Calibri" pitchFamily="34" charset="0"/>
                <a:ea typeface="Calibri" pitchFamily="34" charset="-122"/>
                <a:cs typeface="Calibri" pitchFamily="34" charset="-120"/>
              </a:rPr>
              <a:t>TOOLS</a:t>
            </a:r>
            <a:endParaRPr lang="en-US" sz="1000" dirty="0"/>
          </a:p>
        </p:txBody>
      </p:sp>
      <p:sp>
        <p:nvSpPr>
          <p:cNvPr id="27" name="Text 25"/>
          <p:cNvSpPr/>
          <p:nvPr/>
        </p:nvSpPr>
        <p:spPr>
          <a:xfrm>
            <a:off x="8375904" y="5138928"/>
            <a:ext cx="2834640" cy="320040"/>
          </a:xfrm>
          <a:prstGeom prst="rect">
            <a:avLst/>
          </a:prstGeom>
          <a:noFill/>
          <a:ln/>
        </p:spPr>
        <p:txBody>
          <a:bodyPr wrap="square" lIns="0" tIns="0" rIns="0" bIns="0" rtlCol="0" anchor="ctr"/>
          <a:lstStyle/>
          <a:p>
            <a:pPr indent="0" marL="0">
              <a:buNone/>
            </a:pPr>
            <a:r>
              <a:rPr lang="en-US" sz="1400" dirty="0">
                <a:solidFill>
                  <a:srgbClr val="6741D9"/>
                </a:solidFill>
                <a:latin typeface="Calibri" pitchFamily="34" charset="0"/>
                <a:ea typeface="Calibri" pitchFamily="34" charset="-122"/>
                <a:cs typeface="Calibri" pitchFamily="34" charset="-120"/>
              </a:rPr>
              <a:t>Jaeger, Tempo</a:t>
            </a:r>
            <a:endParaRPr lang="en-US" sz="1400" dirty="0"/>
          </a:p>
        </p:txBody>
      </p:sp>
      <p:sp>
        <p:nvSpPr>
          <p:cNvPr id="28" name="Text 26"/>
          <p:cNvSpPr/>
          <p:nvPr/>
        </p:nvSpPr>
        <p:spPr>
          <a:xfrm>
            <a:off x="640080" y="5943600"/>
            <a:ext cx="10881360" cy="365760"/>
          </a:xfrm>
          <a:prstGeom prst="rect">
            <a:avLst/>
          </a:prstGeom>
          <a:noFill/>
          <a:ln/>
        </p:spPr>
        <p:txBody>
          <a:bodyPr wrap="square" lIns="0" tIns="0" rIns="0" bIns="0" rtlCol="0" anchor="ctr"/>
          <a:lstStyle/>
          <a:p>
            <a:pPr indent="0" marL="0">
              <a:buNone/>
            </a:pPr>
            <a:r>
              <a:rPr lang="en-US" sz="1500" i="1" dirty="0">
                <a:solidFill>
                  <a:srgbClr val="E8590C"/>
                </a:solidFill>
                <a:latin typeface="Calibri" pitchFamily="34" charset="0"/>
                <a:ea typeface="Calibri" pitchFamily="34" charset="-122"/>
                <a:cs typeface="Calibri" pitchFamily="34" charset="-120"/>
              </a:rPr>
              <a:t>Today we cover the first pillar only. That is a foundation, not the whole story.</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ANALOGY</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Hotstar on IPL final night</a:t>
            </a:r>
            <a:endParaRPr lang="en-US" sz="3400" dirty="0"/>
          </a:p>
        </p:txBody>
      </p:sp>
      <p:sp>
        <p:nvSpPr>
          <p:cNvPr id="4" name="Text 2"/>
          <p:cNvSpPr/>
          <p:nvPr/>
        </p:nvSpPr>
        <p:spPr>
          <a:xfrm>
            <a:off x="640080" y="1481328"/>
            <a:ext cx="10881360" cy="320040"/>
          </a:xfrm>
          <a:prstGeom prst="rect">
            <a:avLst/>
          </a:prstGeom>
          <a:noFill/>
          <a:ln/>
        </p:spPr>
        <p:txBody>
          <a:bodyPr wrap="square" lIns="0" tIns="0" rIns="0" bIns="0" rtlCol="0" anchor="ctr"/>
          <a:lstStyle/>
          <a:p>
            <a:pPr indent="0" marL="0">
              <a:buNone/>
            </a:pPr>
            <a:r>
              <a:rPr lang="en-US" sz="1500" dirty="0">
                <a:solidFill>
                  <a:srgbClr val="3D4351"/>
                </a:solidFill>
                <a:latin typeface="Calibri" pitchFamily="34" charset="0"/>
                <a:ea typeface="Calibri" pitchFamily="34" charset="-122"/>
                <a:cs typeface="Calibri" pitchFamily="34" charset="-120"/>
              </a:rPr>
              <a:t>Four crore people streaming at once. You are on the operations floor.</a:t>
            </a:r>
            <a:endParaRPr lang="en-US" sz="1500" dirty="0"/>
          </a:p>
        </p:txBody>
      </p:sp>
      <p:sp>
        <p:nvSpPr>
          <p:cNvPr id="5" name="Shape 3"/>
          <p:cNvSpPr/>
          <p:nvPr/>
        </p:nvSpPr>
        <p:spPr>
          <a:xfrm>
            <a:off x="640080" y="2011680"/>
            <a:ext cx="10881360" cy="1280160"/>
          </a:xfrm>
          <a:prstGeom prst="roundRect">
            <a:avLst>
              <a:gd name="adj" fmla="val 5714"/>
            </a:avLst>
          </a:prstGeom>
          <a:solidFill>
            <a:srgbClr val="FFE8D6"/>
          </a:solidFill>
          <a:ln w="19050">
            <a:solidFill>
              <a:srgbClr val="E8590C"/>
            </a:solidFill>
            <a:prstDash val="solid"/>
          </a:ln>
        </p:spPr>
      </p:sp>
      <p:sp>
        <p:nvSpPr>
          <p:cNvPr id="6" name="Text 4"/>
          <p:cNvSpPr/>
          <p:nvPr/>
        </p:nvSpPr>
        <p:spPr>
          <a:xfrm>
            <a:off x="960120" y="2157984"/>
            <a:ext cx="3291840" cy="320040"/>
          </a:xfrm>
          <a:prstGeom prst="rect">
            <a:avLst/>
          </a:prstGeom>
          <a:noFill/>
          <a:ln/>
        </p:spPr>
        <p:txBody>
          <a:bodyPr wrap="square" lIns="0" tIns="0" rIns="0" bIns="0" rtlCol="0" anchor="ctr"/>
          <a:lstStyle/>
          <a:p>
            <a:pPr indent="0" marL="0">
              <a:buNone/>
            </a:pPr>
            <a:r>
              <a:rPr lang="en-US" sz="1500" b="1" dirty="0">
                <a:solidFill>
                  <a:srgbClr val="E8590C"/>
                </a:solidFill>
                <a:latin typeface="Cambria" pitchFamily="34" charset="0"/>
                <a:ea typeface="Cambria" pitchFamily="34" charset="-122"/>
                <a:cs typeface="Cambria" pitchFamily="34" charset="-120"/>
              </a:rPr>
              <a:t>THE WALL DASHBOARD</a:t>
            </a:r>
            <a:endParaRPr lang="en-US" sz="1500" dirty="0"/>
          </a:p>
        </p:txBody>
      </p:sp>
      <p:sp>
        <p:nvSpPr>
          <p:cNvPr id="7" name="Text 5"/>
          <p:cNvSpPr/>
          <p:nvPr/>
        </p:nvSpPr>
        <p:spPr>
          <a:xfrm>
            <a:off x="960120" y="2487168"/>
            <a:ext cx="3291840" cy="2743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Metrics</a:t>
            </a:r>
            <a:endParaRPr lang="en-US" sz="1250" dirty="0"/>
          </a:p>
        </p:txBody>
      </p:sp>
      <p:sp>
        <p:nvSpPr>
          <p:cNvPr id="8" name="Text 6"/>
          <p:cNvSpPr/>
          <p:nvPr/>
        </p:nvSpPr>
        <p:spPr>
          <a:xfrm>
            <a:off x="960120" y="2816352"/>
            <a:ext cx="4023360" cy="365760"/>
          </a:xfrm>
          <a:prstGeom prst="rect">
            <a:avLst/>
          </a:prstGeom>
          <a:noFill/>
          <a:ln/>
        </p:spPr>
        <p:txBody>
          <a:bodyPr wrap="square" lIns="0" tIns="0" rIns="0" bIns="0" rtlCol="0" anchor="ctr"/>
          <a:lstStyle/>
          <a:p>
            <a:pPr indent="0" marL="0">
              <a:buNone/>
            </a:pPr>
            <a:r>
              <a:rPr lang="en-US" sz="1300" dirty="0">
                <a:solidFill>
                  <a:srgbClr val="1A1D26"/>
                </a:solidFill>
                <a:latin typeface="Calibri" pitchFamily="34" charset="0"/>
                <a:ea typeface="Calibri" pitchFamily="34" charset="-122"/>
                <a:cs typeface="Calibri" pitchFamily="34" charset="-120"/>
              </a:rPr>
              <a:t>At 21:14 buffering jumps 0.3% to 4%.</a:t>
            </a:r>
            <a:endParaRPr lang="en-US" sz="1300" dirty="0"/>
          </a:p>
        </p:txBody>
      </p:sp>
      <p:sp>
        <p:nvSpPr>
          <p:cNvPr id="9" name="Shape 7"/>
          <p:cNvSpPr/>
          <p:nvPr/>
        </p:nvSpPr>
        <p:spPr>
          <a:xfrm>
            <a:off x="5120640" y="2139696"/>
            <a:ext cx="4114800" cy="1042416"/>
          </a:xfrm>
          <a:prstGeom prst="roundRect">
            <a:avLst>
              <a:gd name="adj" fmla="val 4386"/>
            </a:avLst>
          </a:prstGeom>
          <a:solidFill>
            <a:srgbClr val="F4F6F9"/>
          </a:solidFill>
          <a:ln w="12700">
            <a:solidFill>
              <a:srgbClr val="D8DCE3"/>
            </a:solidFill>
            <a:prstDash val="solid"/>
          </a:ln>
        </p:spPr>
      </p:sp>
      <p:sp>
        <p:nvSpPr>
          <p:cNvPr id="10" name="Text 8"/>
          <p:cNvSpPr/>
          <p:nvPr/>
        </p:nvSpPr>
        <p:spPr>
          <a:xfrm>
            <a:off x="5285232" y="2249424"/>
            <a:ext cx="3785616" cy="822960"/>
          </a:xfrm>
          <a:prstGeom prst="rect">
            <a:avLst/>
          </a:prstGeom>
          <a:noFill/>
          <a:ln/>
        </p:spPr>
        <p:txBody>
          <a:bodyPr wrap="square" lIns="0" tIns="0" rIns="0" bIns="0" rtlCol="0" anchor="t"/>
          <a:lstStyle/>
          <a:p>
            <a:pPr indent="0" marL="0">
              <a:buNone/>
            </a:pPr>
            <a:r>
              <a:rPr lang="en-US" sz="950" dirty="0">
                <a:solidFill>
                  <a:srgbClr val="3D4351"/>
                </a:solidFill>
                <a:latin typeface="Courier New" pitchFamily="34" charset="0"/>
                <a:ea typeface="Courier New" pitchFamily="34" charset="-122"/>
                <a:cs typeface="Courier New" pitchFamily="34" charset="-120"/>
              </a:rPr>
              <a:t>Concurrent viewers: 4.1 crore</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Buffering ratio: 0.3%</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CDN egress: 12 Tbps</a:t>
            </a:r>
            <a:endParaRPr lang="en-US" sz="950" dirty="0"/>
          </a:p>
        </p:txBody>
      </p:sp>
      <p:sp>
        <p:nvSpPr>
          <p:cNvPr id="11" name="Text 9"/>
          <p:cNvSpPr/>
          <p:nvPr/>
        </p:nvSpPr>
        <p:spPr>
          <a:xfrm>
            <a:off x="9509760" y="2487168"/>
            <a:ext cx="1828800" cy="365760"/>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You know WHAT and WHEN.</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ANALOGY</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Hotstar on IPL final night</a:t>
            </a:r>
            <a:endParaRPr lang="en-US" sz="3400" dirty="0"/>
          </a:p>
        </p:txBody>
      </p:sp>
      <p:sp>
        <p:nvSpPr>
          <p:cNvPr id="4" name="Text 2"/>
          <p:cNvSpPr/>
          <p:nvPr/>
        </p:nvSpPr>
        <p:spPr>
          <a:xfrm>
            <a:off x="640080" y="1481328"/>
            <a:ext cx="10881360" cy="320040"/>
          </a:xfrm>
          <a:prstGeom prst="rect">
            <a:avLst/>
          </a:prstGeom>
          <a:noFill/>
          <a:ln/>
        </p:spPr>
        <p:txBody>
          <a:bodyPr wrap="square" lIns="0" tIns="0" rIns="0" bIns="0" rtlCol="0" anchor="ctr"/>
          <a:lstStyle/>
          <a:p>
            <a:pPr indent="0" marL="0">
              <a:buNone/>
            </a:pPr>
            <a:r>
              <a:rPr lang="en-US" sz="1500" dirty="0">
                <a:solidFill>
                  <a:srgbClr val="3D4351"/>
                </a:solidFill>
                <a:latin typeface="Calibri" pitchFamily="34" charset="0"/>
                <a:ea typeface="Calibri" pitchFamily="34" charset="-122"/>
                <a:cs typeface="Calibri" pitchFamily="34" charset="-120"/>
              </a:rPr>
              <a:t>Four crore people streaming at once. You are on the operations floor.</a:t>
            </a:r>
            <a:endParaRPr lang="en-US" sz="1500" dirty="0"/>
          </a:p>
        </p:txBody>
      </p:sp>
      <p:sp>
        <p:nvSpPr>
          <p:cNvPr id="5" name="Shape 3"/>
          <p:cNvSpPr/>
          <p:nvPr/>
        </p:nvSpPr>
        <p:spPr>
          <a:xfrm>
            <a:off x="640080" y="2011680"/>
            <a:ext cx="10881360" cy="1280160"/>
          </a:xfrm>
          <a:prstGeom prst="roundRect">
            <a:avLst>
              <a:gd name="adj" fmla="val 5714"/>
            </a:avLst>
          </a:prstGeom>
          <a:solidFill>
            <a:srgbClr val="FFE8D6"/>
          </a:solidFill>
          <a:ln w="19050">
            <a:solidFill>
              <a:srgbClr val="E8590C"/>
            </a:solidFill>
            <a:prstDash val="solid"/>
          </a:ln>
        </p:spPr>
      </p:sp>
      <p:sp>
        <p:nvSpPr>
          <p:cNvPr id="6" name="Text 4"/>
          <p:cNvSpPr/>
          <p:nvPr/>
        </p:nvSpPr>
        <p:spPr>
          <a:xfrm>
            <a:off x="960120" y="2157984"/>
            <a:ext cx="3291840" cy="320040"/>
          </a:xfrm>
          <a:prstGeom prst="rect">
            <a:avLst/>
          </a:prstGeom>
          <a:noFill/>
          <a:ln/>
        </p:spPr>
        <p:txBody>
          <a:bodyPr wrap="square" lIns="0" tIns="0" rIns="0" bIns="0" rtlCol="0" anchor="ctr"/>
          <a:lstStyle/>
          <a:p>
            <a:pPr indent="0" marL="0">
              <a:buNone/>
            </a:pPr>
            <a:r>
              <a:rPr lang="en-US" sz="1500" b="1" dirty="0">
                <a:solidFill>
                  <a:srgbClr val="E8590C"/>
                </a:solidFill>
                <a:latin typeface="Cambria" pitchFamily="34" charset="0"/>
                <a:ea typeface="Cambria" pitchFamily="34" charset="-122"/>
                <a:cs typeface="Cambria" pitchFamily="34" charset="-120"/>
              </a:rPr>
              <a:t>THE WALL DASHBOARD</a:t>
            </a:r>
            <a:endParaRPr lang="en-US" sz="1500" dirty="0"/>
          </a:p>
        </p:txBody>
      </p:sp>
      <p:sp>
        <p:nvSpPr>
          <p:cNvPr id="7" name="Text 5"/>
          <p:cNvSpPr/>
          <p:nvPr/>
        </p:nvSpPr>
        <p:spPr>
          <a:xfrm>
            <a:off x="960120" y="2487168"/>
            <a:ext cx="3291840" cy="2743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Metrics</a:t>
            </a:r>
            <a:endParaRPr lang="en-US" sz="1250" dirty="0"/>
          </a:p>
        </p:txBody>
      </p:sp>
      <p:sp>
        <p:nvSpPr>
          <p:cNvPr id="8" name="Text 6"/>
          <p:cNvSpPr/>
          <p:nvPr/>
        </p:nvSpPr>
        <p:spPr>
          <a:xfrm>
            <a:off x="960120" y="2816352"/>
            <a:ext cx="4023360" cy="365760"/>
          </a:xfrm>
          <a:prstGeom prst="rect">
            <a:avLst/>
          </a:prstGeom>
          <a:noFill/>
          <a:ln/>
        </p:spPr>
        <p:txBody>
          <a:bodyPr wrap="square" lIns="0" tIns="0" rIns="0" bIns="0" rtlCol="0" anchor="ctr"/>
          <a:lstStyle/>
          <a:p>
            <a:pPr indent="0" marL="0">
              <a:buNone/>
            </a:pPr>
            <a:r>
              <a:rPr lang="en-US" sz="1300" dirty="0">
                <a:solidFill>
                  <a:srgbClr val="1A1D26"/>
                </a:solidFill>
                <a:latin typeface="Calibri" pitchFamily="34" charset="0"/>
                <a:ea typeface="Calibri" pitchFamily="34" charset="-122"/>
                <a:cs typeface="Calibri" pitchFamily="34" charset="-120"/>
              </a:rPr>
              <a:t>At 21:14 buffering jumps 0.3% to 4%.</a:t>
            </a:r>
            <a:endParaRPr lang="en-US" sz="1300" dirty="0"/>
          </a:p>
        </p:txBody>
      </p:sp>
      <p:sp>
        <p:nvSpPr>
          <p:cNvPr id="9" name="Shape 7"/>
          <p:cNvSpPr/>
          <p:nvPr/>
        </p:nvSpPr>
        <p:spPr>
          <a:xfrm>
            <a:off x="5120640" y="2139696"/>
            <a:ext cx="4114800" cy="1042416"/>
          </a:xfrm>
          <a:prstGeom prst="roundRect">
            <a:avLst>
              <a:gd name="adj" fmla="val 4386"/>
            </a:avLst>
          </a:prstGeom>
          <a:solidFill>
            <a:srgbClr val="F4F6F9"/>
          </a:solidFill>
          <a:ln w="12700">
            <a:solidFill>
              <a:srgbClr val="D8DCE3"/>
            </a:solidFill>
            <a:prstDash val="solid"/>
          </a:ln>
        </p:spPr>
      </p:sp>
      <p:sp>
        <p:nvSpPr>
          <p:cNvPr id="10" name="Text 8"/>
          <p:cNvSpPr/>
          <p:nvPr/>
        </p:nvSpPr>
        <p:spPr>
          <a:xfrm>
            <a:off x="5285232" y="2249424"/>
            <a:ext cx="3785616" cy="822960"/>
          </a:xfrm>
          <a:prstGeom prst="rect">
            <a:avLst/>
          </a:prstGeom>
          <a:noFill/>
          <a:ln/>
        </p:spPr>
        <p:txBody>
          <a:bodyPr wrap="square" lIns="0" tIns="0" rIns="0" bIns="0" rtlCol="0" anchor="t"/>
          <a:lstStyle/>
          <a:p>
            <a:pPr indent="0" marL="0">
              <a:buNone/>
            </a:pPr>
            <a:r>
              <a:rPr lang="en-US" sz="950" dirty="0">
                <a:solidFill>
                  <a:srgbClr val="3D4351"/>
                </a:solidFill>
                <a:latin typeface="Courier New" pitchFamily="34" charset="0"/>
                <a:ea typeface="Courier New" pitchFamily="34" charset="-122"/>
                <a:cs typeface="Courier New" pitchFamily="34" charset="-120"/>
              </a:rPr>
              <a:t>Concurrent viewers: 4.1 crore</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Buffering ratio: 0.3%</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CDN egress: 12 Tbps</a:t>
            </a:r>
            <a:endParaRPr lang="en-US" sz="950" dirty="0"/>
          </a:p>
        </p:txBody>
      </p:sp>
      <p:sp>
        <p:nvSpPr>
          <p:cNvPr id="11" name="Text 9"/>
          <p:cNvSpPr/>
          <p:nvPr/>
        </p:nvSpPr>
        <p:spPr>
          <a:xfrm>
            <a:off x="9509760" y="2487168"/>
            <a:ext cx="1828800" cy="365760"/>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You know WHAT and WHEN.</a:t>
            </a:r>
            <a:endParaRPr lang="en-US" sz="1350" dirty="0"/>
          </a:p>
        </p:txBody>
      </p:sp>
      <p:sp>
        <p:nvSpPr>
          <p:cNvPr id="12" name="Shape 10"/>
          <p:cNvSpPr/>
          <p:nvPr/>
        </p:nvSpPr>
        <p:spPr>
          <a:xfrm>
            <a:off x="640080" y="3429000"/>
            <a:ext cx="10881360" cy="1280160"/>
          </a:xfrm>
          <a:prstGeom prst="roundRect">
            <a:avLst>
              <a:gd name="adj" fmla="val 5714"/>
            </a:avLst>
          </a:prstGeom>
          <a:solidFill>
            <a:srgbClr val="DFF3E3"/>
          </a:solidFill>
          <a:ln w="19050">
            <a:solidFill>
              <a:srgbClr val="2F9E44"/>
            </a:solidFill>
            <a:prstDash val="solid"/>
          </a:ln>
        </p:spPr>
      </p:sp>
      <p:sp>
        <p:nvSpPr>
          <p:cNvPr id="13" name="Text 11"/>
          <p:cNvSpPr/>
          <p:nvPr/>
        </p:nvSpPr>
        <p:spPr>
          <a:xfrm>
            <a:off x="960120" y="3575304"/>
            <a:ext cx="3291840" cy="320040"/>
          </a:xfrm>
          <a:prstGeom prst="rect">
            <a:avLst/>
          </a:prstGeom>
          <a:noFill/>
          <a:ln/>
        </p:spPr>
        <p:txBody>
          <a:bodyPr wrap="square" lIns="0" tIns="0" rIns="0" bIns="0" rtlCol="0" anchor="ctr"/>
          <a:lstStyle/>
          <a:p>
            <a:pPr indent="0" marL="0">
              <a:buNone/>
            </a:pPr>
            <a:r>
              <a:rPr lang="en-US" sz="1500" b="1" dirty="0">
                <a:solidFill>
                  <a:srgbClr val="2F9E44"/>
                </a:solidFill>
                <a:latin typeface="Cambria" pitchFamily="34" charset="0"/>
                <a:ea typeface="Cambria" pitchFamily="34" charset="-122"/>
                <a:cs typeface="Cambria" pitchFamily="34" charset="-120"/>
              </a:rPr>
              <a:t>THE RAW EVENT STREAM</a:t>
            </a:r>
            <a:endParaRPr lang="en-US" sz="1500" dirty="0"/>
          </a:p>
        </p:txBody>
      </p:sp>
      <p:sp>
        <p:nvSpPr>
          <p:cNvPr id="14" name="Text 12"/>
          <p:cNvSpPr/>
          <p:nvPr/>
        </p:nvSpPr>
        <p:spPr>
          <a:xfrm>
            <a:off x="960120" y="3904488"/>
            <a:ext cx="3291840" cy="2743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Logs</a:t>
            </a:r>
            <a:endParaRPr lang="en-US" sz="1250" dirty="0"/>
          </a:p>
        </p:txBody>
      </p:sp>
      <p:sp>
        <p:nvSpPr>
          <p:cNvPr id="15" name="Text 13"/>
          <p:cNvSpPr/>
          <p:nvPr/>
        </p:nvSpPr>
        <p:spPr>
          <a:xfrm>
            <a:off x="960120" y="4233672"/>
            <a:ext cx="4023360" cy="365760"/>
          </a:xfrm>
          <a:prstGeom prst="rect">
            <a:avLst/>
          </a:prstGeom>
          <a:noFill/>
          <a:ln/>
        </p:spPr>
        <p:txBody>
          <a:bodyPr wrap="square" lIns="0" tIns="0" rIns="0" bIns="0" rtlCol="0" anchor="ctr"/>
          <a:lstStyle/>
          <a:p>
            <a:pPr indent="0" marL="0">
              <a:buNone/>
            </a:pPr>
            <a:r>
              <a:rPr lang="en-US" sz="1300" dirty="0">
                <a:solidFill>
                  <a:srgbClr val="1A1D26"/>
                </a:solidFill>
                <a:latin typeface="Calibri" pitchFamily="34" charset="0"/>
                <a:ea typeface="Calibri" pitchFamily="34" charset="-122"/>
                <a:cs typeface="Calibri" pitchFamily="34" charset="-120"/>
              </a:rPr>
              <a:t>Filter to 21:14. All on CDN edge mum-3.</a:t>
            </a:r>
            <a:endParaRPr lang="en-US" sz="1300" dirty="0"/>
          </a:p>
        </p:txBody>
      </p:sp>
      <p:sp>
        <p:nvSpPr>
          <p:cNvPr id="16" name="Shape 14"/>
          <p:cNvSpPr/>
          <p:nvPr/>
        </p:nvSpPr>
        <p:spPr>
          <a:xfrm>
            <a:off x="5120640" y="3557016"/>
            <a:ext cx="4114800" cy="1042416"/>
          </a:xfrm>
          <a:prstGeom prst="roundRect">
            <a:avLst>
              <a:gd name="adj" fmla="val 4386"/>
            </a:avLst>
          </a:prstGeom>
          <a:solidFill>
            <a:srgbClr val="F4F6F9"/>
          </a:solidFill>
          <a:ln w="12700">
            <a:solidFill>
              <a:srgbClr val="D8DCE3"/>
            </a:solidFill>
            <a:prstDash val="solid"/>
          </a:ln>
        </p:spPr>
      </p:sp>
      <p:sp>
        <p:nvSpPr>
          <p:cNvPr id="17" name="Text 15"/>
          <p:cNvSpPr/>
          <p:nvPr/>
        </p:nvSpPr>
        <p:spPr>
          <a:xfrm>
            <a:off x="5285232" y="3666744"/>
            <a:ext cx="3785616" cy="822960"/>
          </a:xfrm>
          <a:prstGeom prst="rect">
            <a:avLst/>
          </a:prstGeom>
          <a:noFill/>
          <a:ln/>
        </p:spPr>
        <p:txBody>
          <a:bodyPr wrap="square" lIns="0" tIns="0" rIns="0" bIns="0" rtlCol="0" anchor="t"/>
          <a:lstStyle/>
          <a:p>
            <a:pPr indent="0" marL="0">
              <a:buNone/>
            </a:pPr>
            <a:r>
              <a:rPr lang="en-US" sz="950" dirty="0">
                <a:solidFill>
                  <a:srgbClr val="3D4351"/>
                </a:solidFill>
                <a:latin typeface="Courier New" pitchFamily="34" charset="0"/>
                <a:ea typeface="Courier New" pitchFamily="34" charset="-122"/>
                <a:cs typeface="Courier New" pitchFamily="34" charset="-120"/>
              </a:rPr>
              <a:t>21:14:07 user 8837421 drop  edge=mum-3</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21:14:07 user 9921044 rebuf  edge=mum-3</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21:14:08 user 4410982 drop  edge=mum-3</a:t>
            </a:r>
            <a:endParaRPr lang="en-US" sz="950" dirty="0"/>
          </a:p>
        </p:txBody>
      </p:sp>
      <p:sp>
        <p:nvSpPr>
          <p:cNvPr id="18" name="Text 16"/>
          <p:cNvSpPr/>
          <p:nvPr/>
        </p:nvSpPr>
        <p:spPr>
          <a:xfrm>
            <a:off x="9509760" y="3904488"/>
            <a:ext cx="1828800" cy="365760"/>
          </a:xfrm>
          <a:prstGeom prst="rect">
            <a:avLst/>
          </a:prstGeom>
          <a:noFill/>
          <a:ln/>
        </p:spPr>
        <p:txBody>
          <a:bodyPr wrap="square" lIns="0" tIns="0" rIns="0" bIns="0" rtlCol="0" anchor="ctr"/>
          <a:lstStyle/>
          <a:p>
            <a:pPr indent="0" marL="0">
              <a:buNone/>
            </a:pPr>
            <a:r>
              <a:rPr lang="en-US" sz="1350" b="1" dirty="0">
                <a:solidFill>
                  <a:srgbClr val="2F9E44"/>
                </a:solidFill>
                <a:latin typeface="Calibri" pitchFamily="34" charset="0"/>
                <a:ea typeface="Calibri" pitchFamily="34" charset="-122"/>
                <a:cs typeface="Calibri" pitchFamily="34" charset="-120"/>
              </a:rPr>
              <a:t>You know WHO and WHERE.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ANALOGY</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Hotstar on IPL final night</a:t>
            </a:r>
            <a:endParaRPr lang="en-US" sz="3400" dirty="0"/>
          </a:p>
        </p:txBody>
      </p:sp>
      <p:sp>
        <p:nvSpPr>
          <p:cNvPr id="4" name="Text 2"/>
          <p:cNvSpPr/>
          <p:nvPr/>
        </p:nvSpPr>
        <p:spPr>
          <a:xfrm>
            <a:off x="640080" y="1481328"/>
            <a:ext cx="10881360" cy="320040"/>
          </a:xfrm>
          <a:prstGeom prst="rect">
            <a:avLst/>
          </a:prstGeom>
          <a:noFill/>
          <a:ln/>
        </p:spPr>
        <p:txBody>
          <a:bodyPr wrap="square" lIns="0" tIns="0" rIns="0" bIns="0" rtlCol="0" anchor="ctr"/>
          <a:lstStyle/>
          <a:p>
            <a:pPr indent="0" marL="0">
              <a:buNone/>
            </a:pPr>
            <a:r>
              <a:rPr lang="en-US" sz="1500" dirty="0">
                <a:solidFill>
                  <a:srgbClr val="3D4351"/>
                </a:solidFill>
                <a:latin typeface="Calibri" pitchFamily="34" charset="0"/>
                <a:ea typeface="Calibri" pitchFamily="34" charset="-122"/>
                <a:cs typeface="Calibri" pitchFamily="34" charset="-120"/>
              </a:rPr>
              <a:t>Four crore people streaming at once. You are on the operations floor.</a:t>
            </a:r>
            <a:endParaRPr lang="en-US" sz="1500" dirty="0"/>
          </a:p>
        </p:txBody>
      </p:sp>
      <p:sp>
        <p:nvSpPr>
          <p:cNvPr id="5" name="Shape 3"/>
          <p:cNvSpPr/>
          <p:nvPr/>
        </p:nvSpPr>
        <p:spPr>
          <a:xfrm>
            <a:off x="640080" y="2011680"/>
            <a:ext cx="10881360" cy="1280160"/>
          </a:xfrm>
          <a:prstGeom prst="roundRect">
            <a:avLst>
              <a:gd name="adj" fmla="val 5714"/>
            </a:avLst>
          </a:prstGeom>
          <a:solidFill>
            <a:srgbClr val="FFE8D6"/>
          </a:solidFill>
          <a:ln w="19050">
            <a:solidFill>
              <a:srgbClr val="E8590C"/>
            </a:solidFill>
            <a:prstDash val="solid"/>
          </a:ln>
        </p:spPr>
      </p:sp>
      <p:sp>
        <p:nvSpPr>
          <p:cNvPr id="6" name="Text 4"/>
          <p:cNvSpPr/>
          <p:nvPr/>
        </p:nvSpPr>
        <p:spPr>
          <a:xfrm>
            <a:off x="960120" y="2157984"/>
            <a:ext cx="3291840" cy="320040"/>
          </a:xfrm>
          <a:prstGeom prst="rect">
            <a:avLst/>
          </a:prstGeom>
          <a:noFill/>
          <a:ln/>
        </p:spPr>
        <p:txBody>
          <a:bodyPr wrap="square" lIns="0" tIns="0" rIns="0" bIns="0" rtlCol="0" anchor="ctr"/>
          <a:lstStyle/>
          <a:p>
            <a:pPr indent="0" marL="0">
              <a:buNone/>
            </a:pPr>
            <a:r>
              <a:rPr lang="en-US" sz="1500" b="1" dirty="0">
                <a:solidFill>
                  <a:srgbClr val="E8590C"/>
                </a:solidFill>
                <a:latin typeface="Cambria" pitchFamily="34" charset="0"/>
                <a:ea typeface="Cambria" pitchFamily="34" charset="-122"/>
                <a:cs typeface="Cambria" pitchFamily="34" charset="-120"/>
              </a:rPr>
              <a:t>THE WALL DASHBOARD</a:t>
            </a:r>
            <a:endParaRPr lang="en-US" sz="1500" dirty="0"/>
          </a:p>
        </p:txBody>
      </p:sp>
      <p:sp>
        <p:nvSpPr>
          <p:cNvPr id="7" name="Text 5"/>
          <p:cNvSpPr/>
          <p:nvPr/>
        </p:nvSpPr>
        <p:spPr>
          <a:xfrm>
            <a:off x="960120" y="2487168"/>
            <a:ext cx="3291840" cy="2743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Metrics</a:t>
            </a:r>
            <a:endParaRPr lang="en-US" sz="1250" dirty="0"/>
          </a:p>
        </p:txBody>
      </p:sp>
      <p:sp>
        <p:nvSpPr>
          <p:cNvPr id="8" name="Text 6"/>
          <p:cNvSpPr/>
          <p:nvPr/>
        </p:nvSpPr>
        <p:spPr>
          <a:xfrm>
            <a:off x="960120" y="2816352"/>
            <a:ext cx="4023360" cy="365760"/>
          </a:xfrm>
          <a:prstGeom prst="rect">
            <a:avLst/>
          </a:prstGeom>
          <a:noFill/>
          <a:ln/>
        </p:spPr>
        <p:txBody>
          <a:bodyPr wrap="square" lIns="0" tIns="0" rIns="0" bIns="0" rtlCol="0" anchor="ctr"/>
          <a:lstStyle/>
          <a:p>
            <a:pPr indent="0" marL="0">
              <a:buNone/>
            </a:pPr>
            <a:r>
              <a:rPr lang="en-US" sz="1300" dirty="0">
                <a:solidFill>
                  <a:srgbClr val="1A1D26"/>
                </a:solidFill>
                <a:latin typeface="Calibri" pitchFamily="34" charset="0"/>
                <a:ea typeface="Calibri" pitchFamily="34" charset="-122"/>
                <a:cs typeface="Calibri" pitchFamily="34" charset="-120"/>
              </a:rPr>
              <a:t>At 21:14 buffering jumps 0.3% to 4%.</a:t>
            </a:r>
            <a:endParaRPr lang="en-US" sz="1300" dirty="0"/>
          </a:p>
        </p:txBody>
      </p:sp>
      <p:sp>
        <p:nvSpPr>
          <p:cNvPr id="9" name="Shape 7"/>
          <p:cNvSpPr/>
          <p:nvPr/>
        </p:nvSpPr>
        <p:spPr>
          <a:xfrm>
            <a:off x="5120640" y="2139696"/>
            <a:ext cx="4114800" cy="1042416"/>
          </a:xfrm>
          <a:prstGeom prst="roundRect">
            <a:avLst>
              <a:gd name="adj" fmla="val 4386"/>
            </a:avLst>
          </a:prstGeom>
          <a:solidFill>
            <a:srgbClr val="F4F6F9"/>
          </a:solidFill>
          <a:ln w="12700">
            <a:solidFill>
              <a:srgbClr val="D8DCE3"/>
            </a:solidFill>
            <a:prstDash val="solid"/>
          </a:ln>
        </p:spPr>
      </p:sp>
      <p:sp>
        <p:nvSpPr>
          <p:cNvPr id="10" name="Text 8"/>
          <p:cNvSpPr/>
          <p:nvPr/>
        </p:nvSpPr>
        <p:spPr>
          <a:xfrm>
            <a:off x="5285232" y="2249424"/>
            <a:ext cx="3785616" cy="822960"/>
          </a:xfrm>
          <a:prstGeom prst="rect">
            <a:avLst/>
          </a:prstGeom>
          <a:noFill/>
          <a:ln/>
        </p:spPr>
        <p:txBody>
          <a:bodyPr wrap="square" lIns="0" tIns="0" rIns="0" bIns="0" rtlCol="0" anchor="t"/>
          <a:lstStyle/>
          <a:p>
            <a:pPr indent="0" marL="0">
              <a:buNone/>
            </a:pPr>
            <a:r>
              <a:rPr lang="en-US" sz="950" dirty="0">
                <a:solidFill>
                  <a:srgbClr val="3D4351"/>
                </a:solidFill>
                <a:latin typeface="Courier New" pitchFamily="34" charset="0"/>
                <a:ea typeface="Courier New" pitchFamily="34" charset="-122"/>
                <a:cs typeface="Courier New" pitchFamily="34" charset="-120"/>
              </a:rPr>
              <a:t>Concurrent viewers: 4.1 crore</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Buffering ratio: 0.3%</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CDN egress: 12 Tbps</a:t>
            </a:r>
            <a:endParaRPr lang="en-US" sz="950" dirty="0"/>
          </a:p>
        </p:txBody>
      </p:sp>
      <p:sp>
        <p:nvSpPr>
          <p:cNvPr id="11" name="Text 9"/>
          <p:cNvSpPr/>
          <p:nvPr/>
        </p:nvSpPr>
        <p:spPr>
          <a:xfrm>
            <a:off x="9509760" y="2487168"/>
            <a:ext cx="1828800" cy="365760"/>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You know WHAT and WHEN.</a:t>
            </a:r>
            <a:endParaRPr lang="en-US" sz="1350" dirty="0"/>
          </a:p>
        </p:txBody>
      </p:sp>
      <p:sp>
        <p:nvSpPr>
          <p:cNvPr id="12" name="Shape 10"/>
          <p:cNvSpPr/>
          <p:nvPr/>
        </p:nvSpPr>
        <p:spPr>
          <a:xfrm>
            <a:off x="640080" y="3429000"/>
            <a:ext cx="10881360" cy="1280160"/>
          </a:xfrm>
          <a:prstGeom prst="roundRect">
            <a:avLst>
              <a:gd name="adj" fmla="val 5714"/>
            </a:avLst>
          </a:prstGeom>
          <a:solidFill>
            <a:srgbClr val="DFF3E3"/>
          </a:solidFill>
          <a:ln w="19050">
            <a:solidFill>
              <a:srgbClr val="2F9E44"/>
            </a:solidFill>
            <a:prstDash val="solid"/>
          </a:ln>
        </p:spPr>
      </p:sp>
      <p:sp>
        <p:nvSpPr>
          <p:cNvPr id="13" name="Text 11"/>
          <p:cNvSpPr/>
          <p:nvPr/>
        </p:nvSpPr>
        <p:spPr>
          <a:xfrm>
            <a:off x="960120" y="3575304"/>
            <a:ext cx="3291840" cy="320040"/>
          </a:xfrm>
          <a:prstGeom prst="rect">
            <a:avLst/>
          </a:prstGeom>
          <a:noFill/>
          <a:ln/>
        </p:spPr>
        <p:txBody>
          <a:bodyPr wrap="square" lIns="0" tIns="0" rIns="0" bIns="0" rtlCol="0" anchor="ctr"/>
          <a:lstStyle/>
          <a:p>
            <a:pPr indent="0" marL="0">
              <a:buNone/>
            </a:pPr>
            <a:r>
              <a:rPr lang="en-US" sz="1500" b="1" dirty="0">
                <a:solidFill>
                  <a:srgbClr val="2F9E44"/>
                </a:solidFill>
                <a:latin typeface="Cambria" pitchFamily="34" charset="0"/>
                <a:ea typeface="Cambria" pitchFamily="34" charset="-122"/>
                <a:cs typeface="Cambria" pitchFamily="34" charset="-120"/>
              </a:rPr>
              <a:t>THE RAW EVENT STREAM</a:t>
            </a:r>
            <a:endParaRPr lang="en-US" sz="1500" dirty="0"/>
          </a:p>
        </p:txBody>
      </p:sp>
      <p:sp>
        <p:nvSpPr>
          <p:cNvPr id="14" name="Text 12"/>
          <p:cNvSpPr/>
          <p:nvPr/>
        </p:nvSpPr>
        <p:spPr>
          <a:xfrm>
            <a:off x="960120" y="3904488"/>
            <a:ext cx="3291840" cy="2743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Logs</a:t>
            </a:r>
            <a:endParaRPr lang="en-US" sz="1250" dirty="0"/>
          </a:p>
        </p:txBody>
      </p:sp>
      <p:sp>
        <p:nvSpPr>
          <p:cNvPr id="15" name="Text 13"/>
          <p:cNvSpPr/>
          <p:nvPr/>
        </p:nvSpPr>
        <p:spPr>
          <a:xfrm>
            <a:off x="960120" y="4233672"/>
            <a:ext cx="4023360" cy="365760"/>
          </a:xfrm>
          <a:prstGeom prst="rect">
            <a:avLst/>
          </a:prstGeom>
          <a:noFill/>
          <a:ln/>
        </p:spPr>
        <p:txBody>
          <a:bodyPr wrap="square" lIns="0" tIns="0" rIns="0" bIns="0" rtlCol="0" anchor="ctr"/>
          <a:lstStyle/>
          <a:p>
            <a:pPr indent="0" marL="0">
              <a:buNone/>
            </a:pPr>
            <a:r>
              <a:rPr lang="en-US" sz="1300" dirty="0">
                <a:solidFill>
                  <a:srgbClr val="1A1D26"/>
                </a:solidFill>
                <a:latin typeface="Calibri" pitchFamily="34" charset="0"/>
                <a:ea typeface="Calibri" pitchFamily="34" charset="-122"/>
                <a:cs typeface="Calibri" pitchFamily="34" charset="-120"/>
              </a:rPr>
              <a:t>Filter to 21:14. All on CDN edge mum-3.</a:t>
            </a:r>
            <a:endParaRPr lang="en-US" sz="1300" dirty="0"/>
          </a:p>
        </p:txBody>
      </p:sp>
      <p:sp>
        <p:nvSpPr>
          <p:cNvPr id="16" name="Shape 14"/>
          <p:cNvSpPr/>
          <p:nvPr/>
        </p:nvSpPr>
        <p:spPr>
          <a:xfrm>
            <a:off x="5120640" y="3557016"/>
            <a:ext cx="4114800" cy="1042416"/>
          </a:xfrm>
          <a:prstGeom prst="roundRect">
            <a:avLst>
              <a:gd name="adj" fmla="val 4386"/>
            </a:avLst>
          </a:prstGeom>
          <a:solidFill>
            <a:srgbClr val="F4F6F9"/>
          </a:solidFill>
          <a:ln w="12700">
            <a:solidFill>
              <a:srgbClr val="D8DCE3"/>
            </a:solidFill>
            <a:prstDash val="solid"/>
          </a:ln>
        </p:spPr>
      </p:sp>
      <p:sp>
        <p:nvSpPr>
          <p:cNvPr id="17" name="Text 15"/>
          <p:cNvSpPr/>
          <p:nvPr/>
        </p:nvSpPr>
        <p:spPr>
          <a:xfrm>
            <a:off x="5285232" y="3666744"/>
            <a:ext cx="3785616" cy="822960"/>
          </a:xfrm>
          <a:prstGeom prst="rect">
            <a:avLst/>
          </a:prstGeom>
          <a:noFill/>
          <a:ln/>
        </p:spPr>
        <p:txBody>
          <a:bodyPr wrap="square" lIns="0" tIns="0" rIns="0" bIns="0" rtlCol="0" anchor="t"/>
          <a:lstStyle/>
          <a:p>
            <a:pPr indent="0" marL="0">
              <a:buNone/>
            </a:pPr>
            <a:r>
              <a:rPr lang="en-US" sz="950" dirty="0">
                <a:solidFill>
                  <a:srgbClr val="3D4351"/>
                </a:solidFill>
                <a:latin typeface="Courier New" pitchFamily="34" charset="0"/>
                <a:ea typeface="Courier New" pitchFamily="34" charset="-122"/>
                <a:cs typeface="Courier New" pitchFamily="34" charset="-120"/>
              </a:rPr>
              <a:t>21:14:07 user 8837421 drop  edge=mum-3</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21:14:07 user 9921044 rebuf  edge=mum-3</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21:14:08 user 4410982 drop  edge=mum-3</a:t>
            </a:r>
            <a:endParaRPr lang="en-US" sz="950" dirty="0"/>
          </a:p>
        </p:txBody>
      </p:sp>
      <p:sp>
        <p:nvSpPr>
          <p:cNvPr id="18" name="Text 16"/>
          <p:cNvSpPr/>
          <p:nvPr/>
        </p:nvSpPr>
        <p:spPr>
          <a:xfrm>
            <a:off x="9509760" y="3904488"/>
            <a:ext cx="1828800" cy="365760"/>
          </a:xfrm>
          <a:prstGeom prst="rect">
            <a:avLst/>
          </a:prstGeom>
          <a:noFill/>
          <a:ln/>
        </p:spPr>
        <p:txBody>
          <a:bodyPr wrap="square" lIns="0" tIns="0" rIns="0" bIns="0" rtlCol="0" anchor="ctr"/>
          <a:lstStyle/>
          <a:p>
            <a:pPr indent="0" marL="0">
              <a:buNone/>
            </a:pPr>
            <a:r>
              <a:rPr lang="en-US" sz="1350" b="1" dirty="0">
                <a:solidFill>
                  <a:srgbClr val="2F9E44"/>
                </a:solidFill>
                <a:latin typeface="Calibri" pitchFamily="34" charset="0"/>
                <a:ea typeface="Calibri" pitchFamily="34" charset="-122"/>
                <a:cs typeface="Calibri" pitchFamily="34" charset="-120"/>
              </a:rPr>
              <a:t>You know WHO and WHERE.</a:t>
            </a:r>
            <a:endParaRPr lang="en-US" sz="1350" dirty="0"/>
          </a:p>
        </p:txBody>
      </p:sp>
      <p:sp>
        <p:nvSpPr>
          <p:cNvPr id="19" name="Shape 17"/>
          <p:cNvSpPr/>
          <p:nvPr/>
        </p:nvSpPr>
        <p:spPr>
          <a:xfrm>
            <a:off x="640080" y="4846320"/>
            <a:ext cx="10881360" cy="1280160"/>
          </a:xfrm>
          <a:prstGeom prst="roundRect">
            <a:avLst>
              <a:gd name="adj" fmla="val 5714"/>
            </a:avLst>
          </a:prstGeom>
          <a:solidFill>
            <a:srgbClr val="E9E2FB"/>
          </a:solidFill>
          <a:ln w="19050">
            <a:solidFill>
              <a:srgbClr val="6741D9"/>
            </a:solidFill>
            <a:prstDash val="solid"/>
          </a:ln>
        </p:spPr>
      </p:sp>
      <p:sp>
        <p:nvSpPr>
          <p:cNvPr id="20" name="Text 18"/>
          <p:cNvSpPr/>
          <p:nvPr/>
        </p:nvSpPr>
        <p:spPr>
          <a:xfrm>
            <a:off x="960120" y="4992624"/>
            <a:ext cx="3291840" cy="320040"/>
          </a:xfrm>
          <a:prstGeom prst="rect">
            <a:avLst/>
          </a:prstGeom>
          <a:noFill/>
          <a:ln/>
        </p:spPr>
        <p:txBody>
          <a:bodyPr wrap="square" lIns="0" tIns="0" rIns="0" bIns="0" rtlCol="0" anchor="ctr"/>
          <a:lstStyle/>
          <a:p>
            <a:pPr indent="0" marL="0">
              <a:buNone/>
            </a:pPr>
            <a:r>
              <a:rPr lang="en-US" sz="1500" b="1" dirty="0">
                <a:solidFill>
                  <a:srgbClr val="6741D9"/>
                </a:solidFill>
                <a:latin typeface="Cambria" pitchFamily="34" charset="0"/>
                <a:ea typeface="Cambria" pitchFamily="34" charset="-122"/>
                <a:cs typeface="Cambria" pitchFamily="34" charset="-120"/>
              </a:rPr>
              <a:t>FOLLOW ONE VIEWER</a:t>
            </a:r>
            <a:endParaRPr lang="en-US" sz="1500" dirty="0"/>
          </a:p>
        </p:txBody>
      </p:sp>
      <p:sp>
        <p:nvSpPr>
          <p:cNvPr id="21" name="Text 19"/>
          <p:cNvSpPr/>
          <p:nvPr/>
        </p:nvSpPr>
        <p:spPr>
          <a:xfrm>
            <a:off x="960120" y="5321808"/>
            <a:ext cx="3291840" cy="2743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Traces</a:t>
            </a:r>
            <a:endParaRPr lang="en-US" sz="1250" dirty="0"/>
          </a:p>
        </p:txBody>
      </p:sp>
      <p:sp>
        <p:nvSpPr>
          <p:cNvPr id="22" name="Text 20"/>
          <p:cNvSpPr/>
          <p:nvPr/>
        </p:nvSpPr>
        <p:spPr>
          <a:xfrm>
            <a:off x="960120" y="5650992"/>
            <a:ext cx="4023360" cy="365760"/>
          </a:xfrm>
          <a:prstGeom prst="rect">
            <a:avLst/>
          </a:prstGeom>
          <a:noFill/>
          <a:ln/>
        </p:spPr>
        <p:txBody>
          <a:bodyPr wrap="square" lIns="0" tIns="0" rIns="0" bIns="0" rtlCol="0" anchor="ctr"/>
          <a:lstStyle/>
          <a:p>
            <a:pPr indent="0" marL="0">
              <a:buNone/>
            </a:pPr>
            <a:r>
              <a:rPr lang="en-US" sz="1300" dirty="0">
                <a:solidFill>
                  <a:srgbClr val="1A1D26"/>
                </a:solidFill>
                <a:latin typeface="Calibri" pitchFamily="34" charset="0"/>
                <a:ea typeface="Calibri" pitchFamily="34" charset="-122"/>
                <a:cs typeface="Calibri" pitchFamily="34" charset="-120"/>
              </a:rPr>
              <a:t>The DRM licence server adds 900 milliseconds.</a:t>
            </a:r>
            <a:endParaRPr lang="en-US" sz="1300" dirty="0"/>
          </a:p>
        </p:txBody>
      </p:sp>
      <p:sp>
        <p:nvSpPr>
          <p:cNvPr id="23" name="Shape 21"/>
          <p:cNvSpPr/>
          <p:nvPr/>
        </p:nvSpPr>
        <p:spPr>
          <a:xfrm>
            <a:off x="5120640" y="4974336"/>
            <a:ext cx="4114800" cy="1042416"/>
          </a:xfrm>
          <a:prstGeom prst="roundRect">
            <a:avLst>
              <a:gd name="adj" fmla="val 4386"/>
            </a:avLst>
          </a:prstGeom>
          <a:solidFill>
            <a:srgbClr val="F4F6F9"/>
          </a:solidFill>
          <a:ln w="12700">
            <a:solidFill>
              <a:srgbClr val="D8DCE3"/>
            </a:solidFill>
            <a:prstDash val="solid"/>
          </a:ln>
        </p:spPr>
      </p:sp>
      <p:sp>
        <p:nvSpPr>
          <p:cNvPr id="24" name="Text 22"/>
          <p:cNvSpPr/>
          <p:nvPr/>
        </p:nvSpPr>
        <p:spPr>
          <a:xfrm>
            <a:off x="5285232" y="5084064"/>
            <a:ext cx="3785616" cy="822960"/>
          </a:xfrm>
          <a:prstGeom prst="rect">
            <a:avLst/>
          </a:prstGeom>
          <a:noFill/>
          <a:ln/>
        </p:spPr>
        <p:txBody>
          <a:bodyPr wrap="square" lIns="0" tIns="0" rIns="0" bIns="0" rtlCol="0" anchor="t"/>
          <a:lstStyle/>
          <a:p>
            <a:pPr indent="0" marL="0">
              <a:buNone/>
            </a:pPr>
            <a:r>
              <a:rPr lang="en-US" sz="950" dirty="0">
                <a:solidFill>
                  <a:srgbClr val="3D4351"/>
                </a:solidFill>
                <a:latin typeface="Courier New" pitchFamily="34" charset="0"/>
                <a:ea typeface="Courier New" pitchFamily="34" charset="-122"/>
                <a:cs typeface="Courier New" pitchFamily="34" charset="-120"/>
              </a:rPr>
              <a:t>phone      12ms</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CDN edge   35ms</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auth       18ms</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DRM licence  900ms</a:t>
            </a:r>
            <a:endParaRPr lang="en-US" sz="950" dirty="0"/>
          </a:p>
          <a:p>
            <a:pPr indent="0" marL="0">
              <a:buNone/>
            </a:pPr>
            <a:r>
              <a:rPr lang="en-US" sz="950" dirty="0">
                <a:solidFill>
                  <a:srgbClr val="3D4351"/>
                </a:solidFill>
                <a:latin typeface="Courier New" pitchFamily="34" charset="0"/>
                <a:ea typeface="Courier New" pitchFamily="34" charset="-122"/>
                <a:cs typeface="Courier New" pitchFamily="34" charset="-120"/>
              </a:rPr>
              <a:t>manifest   22ms</a:t>
            </a:r>
            <a:endParaRPr lang="en-US" sz="950" dirty="0"/>
          </a:p>
        </p:txBody>
      </p:sp>
      <p:sp>
        <p:nvSpPr>
          <p:cNvPr id="25" name="Text 23"/>
          <p:cNvSpPr/>
          <p:nvPr/>
        </p:nvSpPr>
        <p:spPr>
          <a:xfrm>
            <a:off x="9509760" y="5321808"/>
            <a:ext cx="1828800" cy="365760"/>
          </a:xfrm>
          <a:prstGeom prst="rect">
            <a:avLst/>
          </a:prstGeom>
          <a:noFill/>
          <a:ln/>
        </p:spPr>
        <p:txBody>
          <a:bodyPr wrap="square" lIns="0" tIns="0" rIns="0" bIns="0" rtlCol="0" anchor="ctr"/>
          <a:lstStyle/>
          <a:p>
            <a:pPr indent="0" marL="0">
              <a:buNone/>
            </a:pPr>
            <a:r>
              <a:rPr lang="en-US" sz="1350" b="1" dirty="0">
                <a:solidFill>
                  <a:srgbClr val="6741D9"/>
                </a:solidFill>
                <a:latin typeface="Calibri" pitchFamily="34" charset="0"/>
                <a:ea typeface="Calibri" pitchFamily="34" charset="-122"/>
                <a:cs typeface="Calibri" pitchFamily="34" charset="-120"/>
              </a:rPr>
              <a:t>You know WHY.</a:t>
            </a:r>
            <a:endParaRPr lang="en-US" sz="1350" dirty="0"/>
          </a:p>
        </p:txBody>
      </p:sp>
      <p:sp>
        <p:nvSpPr>
          <p:cNvPr id="26" name="Text 24"/>
          <p:cNvSpPr/>
          <p:nvPr/>
        </p:nvSpPr>
        <p:spPr>
          <a:xfrm>
            <a:off x="640080" y="6400800"/>
            <a:ext cx="10881360" cy="320040"/>
          </a:xfrm>
          <a:prstGeom prst="rect">
            <a:avLst/>
          </a:prstGeom>
          <a:noFill/>
          <a:ln/>
        </p:spPr>
        <p:txBody>
          <a:bodyPr wrap="square" lIns="0" tIns="0" rIns="0" bIns="0" rtlCol="0" anchor="ctr"/>
          <a:lstStyle/>
          <a:p>
            <a:pPr indent="0" marL="0">
              <a:buNone/>
            </a:pPr>
            <a:r>
              <a:rPr lang="en-US" sz="1400" i="1" dirty="0">
                <a:solidFill>
                  <a:srgbClr val="E8590C"/>
                </a:solidFill>
                <a:latin typeface="Calibri" pitchFamily="34" charset="0"/>
                <a:ea typeface="Calibri" pitchFamily="34" charset="-122"/>
                <a:cs typeface="Calibri" pitchFamily="34" charset="-120"/>
              </a:rPr>
              <a:t>Start with traces instead and you are picking one request out of four crore at random.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METHOD</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Work in this order, every incident</a:t>
            </a:r>
            <a:endParaRPr lang="en-US" sz="3400" dirty="0"/>
          </a:p>
        </p:txBody>
      </p:sp>
      <p:sp>
        <p:nvSpPr>
          <p:cNvPr id="4" name="Shape 2"/>
          <p:cNvSpPr/>
          <p:nvPr/>
        </p:nvSpPr>
        <p:spPr>
          <a:xfrm>
            <a:off x="640080" y="2103120"/>
            <a:ext cx="3246120" cy="1920240"/>
          </a:xfrm>
          <a:prstGeom prst="roundRect">
            <a:avLst>
              <a:gd name="adj" fmla="val 3810"/>
            </a:avLst>
          </a:prstGeom>
          <a:solidFill>
            <a:srgbClr val="FFE8D6"/>
          </a:solidFill>
          <a:ln w="19050">
            <a:solidFill>
              <a:srgbClr val="E8590C"/>
            </a:solidFill>
            <a:prstDash val="solid"/>
          </a:ln>
        </p:spPr>
      </p:sp>
      <p:sp>
        <p:nvSpPr>
          <p:cNvPr id="5" name="Text 3"/>
          <p:cNvSpPr/>
          <p:nvPr/>
        </p:nvSpPr>
        <p:spPr>
          <a:xfrm>
            <a:off x="914400" y="2331720"/>
            <a:ext cx="2651760" cy="411480"/>
          </a:xfrm>
          <a:prstGeom prst="rect">
            <a:avLst/>
          </a:prstGeom>
          <a:noFill/>
          <a:ln/>
        </p:spPr>
        <p:txBody>
          <a:bodyPr wrap="square" lIns="0" tIns="0" rIns="0" bIns="0" rtlCol="0" anchor="ctr"/>
          <a:lstStyle/>
          <a:p>
            <a:pPr indent="0" marL="0">
              <a:buNone/>
            </a:pPr>
            <a:r>
              <a:rPr lang="en-US" sz="2100" b="1" dirty="0">
                <a:solidFill>
                  <a:srgbClr val="E8590C"/>
                </a:solidFill>
                <a:latin typeface="Cambria" pitchFamily="34" charset="0"/>
                <a:ea typeface="Cambria" pitchFamily="34" charset="-122"/>
                <a:cs typeface="Cambria" pitchFamily="34" charset="-120"/>
              </a:rPr>
              <a:t>DETECT</a:t>
            </a:r>
            <a:endParaRPr lang="en-US" sz="2100" dirty="0"/>
          </a:p>
        </p:txBody>
      </p:sp>
      <p:sp>
        <p:nvSpPr>
          <p:cNvPr id="6" name="Text 4"/>
          <p:cNvSpPr/>
          <p:nvPr/>
        </p:nvSpPr>
        <p:spPr>
          <a:xfrm>
            <a:off x="914400" y="2788920"/>
            <a:ext cx="2651760" cy="36576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What broke?  When?</a:t>
            </a:r>
            <a:endParaRPr lang="en-US" sz="1350" dirty="0"/>
          </a:p>
        </p:txBody>
      </p:sp>
      <p:sp>
        <p:nvSpPr>
          <p:cNvPr id="7" name="Text 5"/>
          <p:cNvSpPr/>
          <p:nvPr/>
        </p:nvSpPr>
        <p:spPr>
          <a:xfrm>
            <a:off x="914400" y="3401568"/>
            <a:ext cx="2651760" cy="320040"/>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Metrics</a:t>
            </a:r>
            <a:endParaRPr lang="en-US" sz="1400" dirty="0"/>
          </a:p>
        </p:txBody>
      </p:sp>
      <p:sp>
        <p:nvSpPr>
          <p:cNvPr id="8" name="Shape 6"/>
          <p:cNvSpPr/>
          <p:nvPr/>
        </p:nvSpPr>
        <p:spPr>
          <a:xfrm>
            <a:off x="4041648" y="2944368"/>
            <a:ext cx="457200" cy="237744"/>
          </a:xfrm>
          <a:prstGeom prst="rightArrow">
            <a:avLst/>
          </a:prstGeom>
          <a:solidFill>
            <a:srgbClr val="6B7280"/>
          </a:solidFill>
          <a:ln w="12700">
            <a:solidFill>
              <a:srgbClr val="6B7280"/>
            </a:solidFill>
            <a:prstDash val="solid"/>
          </a:ln>
        </p:spPr>
      </p:sp>
      <p:sp>
        <p:nvSpPr>
          <p:cNvPr id="9" name="Shape 7"/>
          <p:cNvSpPr/>
          <p:nvPr/>
        </p:nvSpPr>
        <p:spPr>
          <a:xfrm>
            <a:off x="4617720" y="2103120"/>
            <a:ext cx="3246120" cy="1920240"/>
          </a:xfrm>
          <a:prstGeom prst="roundRect">
            <a:avLst>
              <a:gd name="adj" fmla="val 3810"/>
            </a:avLst>
          </a:prstGeom>
          <a:solidFill>
            <a:srgbClr val="DFF3E3"/>
          </a:solidFill>
          <a:ln w="19050">
            <a:solidFill>
              <a:srgbClr val="2F9E44"/>
            </a:solidFill>
            <a:prstDash val="solid"/>
          </a:ln>
        </p:spPr>
      </p:sp>
      <p:sp>
        <p:nvSpPr>
          <p:cNvPr id="10" name="Text 8"/>
          <p:cNvSpPr/>
          <p:nvPr/>
        </p:nvSpPr>
        <p:spPr>
          <a:xfrm>
            <a:off x="4892040" y="2331720"/>
            <a:ext cx="2651760" cy="411480"/>
          </a:xfrm>
          <a:prstGeom prst="rect">
            <a:avLst/>
          </a:prstGeom>
          <a:noFill/>
          <a:ln/>
        </p:spPr>
        <p:txBody>
          <a:bodyPr wrap="square" lIns="0" tIns="0" rIns="0" bIns="0" rtlCol="0" anchor="ctr"/>
          <a:lstStyle/>
          <a:p>
            <a:pPr indent="0" marL="0">
              <a:buNone/>
            </a:pPr>
            <a:r>
              <a:rPr lang="en-US" sz="2100" b="1" dirty="0">
                <a:solidFill>
                  <a:srgbClr val="2F9E44"/>
                </a:solidFill>
                <a:latin typeface="Cambria" pitchFamily="34" charset="0"/>
                <a:ea typeface="Cambria" pitchFamily="34" charset="-122"/>
                <a:cs typeface="Cambria" pitchFamily="34" charset="-120"/>
              </a:rPr>
              <a:t>SCOPE</a:t>
            </a:r>
            <a:endParaRPr lang="en-US" sz="2100" dirty="0"/>
          </a:p>
        </p:txBody>
      </p:sp>
      <p:sp>
        <p:nvSpPr>
          <p:cNvPr id="11" name="Text 9"/>
          <p:cNvSpPr/>
          <p:nvPr/>
        </p:nvSpPr>
        <p:spPr>
          <a:xfrm>
            <a:off x="4892040" y="2788920"/>
            <a:ext cx="2651760" cy="36576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Who is affected?  Where?</a:t>
            </a:r>
            <a:endParaRPr lang="en-US" sz="1350" dirty="0"/>
          </a:p>
        </p:txBody>
      </p:sp>
      <p:sp>
        <p:nvSpPr>
          <p:cNvPr id="12" name="Text 10"/>
          <p:cNvSpPr/>
          <p:nvPr/>
        </p:nvSpPr>
        <p:spPr>
          <a:xfrm>
            <a:off x="4892040" y="3401568"/>
            <a:ext cx="2651760" cy="320040"/>
          </a:xfrm>
          <a:prstGeom prst="rect">
            <a:avLst/>
          </a:prstGeom>
          <a:noFill/>
          <a:ln/>
        </p:spPr>
        <p:txBody>
          <a:bodyPr wrap="square" lIns="0" tIns="0" rIns="0" bIns="0" rtlCol="0" anchor="ctr"/>
          <a:lstStyle/>
          <a:p>
            <a:pPr indent="0" marL="0">
              <a:buNone/>
            </a:pPr>
            <a:r>
              <a:rPr lang="en-US" sz="1400" b="1" dirty="0">
                <a:solidFill>
                  <a:srgbClr val="2F9E44"/>
                </a:solidFill>
                <a:latin typeface="Calibri" pitchFamily="34" charset="0"/>
                <a:ea typeface="Calibri" pitchFamily="34" charset="-122"/>
                <a:cs typeface="Calibri" pitchFamily="34" charset="-120"/>
              </a:rPr>
              <a:t>Logs</a:t>
            </a:r>
            <a:endParaRPr lang="en-US" sz="1400" dirty="0"/>
          </a:p>
        </p:txBody>
      </p:sp>
      <p:sp>
        <p:nvSpPr>
          <p:cNvPr id="13" name="Shape 11"/>
          <p:cNvSpPr/>
          <p:nvPr/>
        </p:nvSpPr>
        <p:spPr>
          <a:xfrm>
            <a:off x="8019288" y="2944368"/>
            <a:ext cx="457200" cy="237744"/>
          </a:xfrm>
          <a:prstGeom prst="rightArrow">
            <a:avLst/>
          </a:prstGeom>
          <a:solidFill>
            <a:srgbClr val="6B7280"/>
          </a:solidFill>
          <a:ln w="12700">
            <a:solidFill>
              <a:srgbClr val="6B7280"/>
            </a:solidFill>
            <a:prstDash val="solid"/>
          </a:ln>
        </p:spPr>
      </p:sp>
      <p:sp>
        <p:nvSpPr>
          <p:cNvPr id="14" name="Shape 12"/>
          <p:cNvSpPr/>
          <p:nvPr/>
        </p:nvSpPr>
        <p:spPr>
          <a:xfrm>
            <a:off x="8595360" y="2103120"/>
            <a:ext cx="3246120" cy="1920240"/>
          </a:xfrm>
          <a:prstGeom prst="roundRect">
            <a:avLst>
              <a:gd name="adj" fmla="val 3810"/>
            </a:avLst>
          </a:prstGeom>
          <a:solidFill>
            <a:srgbClr val="E9E2FB"/>
          </a:solidFill>
          <a:ln w="19050">
            <a:solidFill>
              <a:srgbClr val="6741D9"/>
            </a:solidFill>
            <a:prstDash val="solid"/>
          </a:ln>
        </p:spPr>
      </p:sp>
      <p:sp>
        <p:nvSpPr>
          <p:cNvPr id="15" name="Text 13"/>
          <p:cNvSpPr/>
          <p:nvPr/>
        </p:nvSpPr>
        <p:spPr>
          <a:xfrm>
            <a:off x="8869680" y="2331720"/>
            <a:ext cx="2651760" cy="411480"/>
          </a:xfrm>
          <a:prstGeom prst="rect">
            <a:avLst/>
          </a:prstGeom>
          <a:noFill/>
          <a:ln/>
        </p:spPr>
        <p:txBody>
          <a:bodyPr wrap="square" lIns="0" tIns="0" rIns="0" bIns="0" rtlCol="0" anchor="ctr"/>
          <a:lstStyle/>
          <a:p>
            <a:pPr indent="0" marL="0">
              <a:buNone/>
            </a:pPr>
            <a:r>
              <a:rPr lang="en-US" sz="2100" b="1" dirty="0">
                <a:solidFill>
                  <a:srgbClr val="6741D9"/>
                </a:solidFill>
                <a:latin typeface="Cambria" pitchFamily="34" charset="0"/>
                <a:ea typeface="Cambria" pitchFamily="34" charset="-122"/>
                <a:cs typeface="Cambria" pitchFamily="34" charset="-120"/>
              </a:rPr>
              <a:t>DIAGNOSE</a:t>
            </a:r>
            <a:endParaRPr lang="en-US" sz="2100" dirty="0"/>
          </a:p>
        </p:txBody>
      </p:sp>
      <p:sp>
        <p:nvSpPr>
          <p:cNvPr id="16" name="Text 14"/>
          <p:cNvSpPr/>
          <p:nvPr/>
        </p:nvSpPr>
        <p:spPr>
          <a:xfrm>
            <a:off x="8869680" y="2788920"/>
            <a:ext cx="2651760" cy="36576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Why did it break?</a:t>
            </a:r>
            <a:endParaRPr lang="en-US" sz="1350" dirty="0"/>
          </a:p>
        </p:txBody>
      </p:sp>
      <p:sp>
        <p:nvSpPr>
          <p:cNvPr id="17" name="Text 15"/>
          <p:cNvSpPr/>
          <p:nvPr/>
        </p:nvSpPr>
        <p:spPr>
          <a:xfrm>
            <a:off x="8869680" y="3401568"/>
            <a:ext cx="2651760" cy="320040"/>
          </a:xfrm>
          <a:prstGeom prst="rect">
            <a:avLst/>
          </a:prstGeom>
          <a:noFill/>
          <a:ln/>
        </p:spPr>
        <p:txBody>
          <a:bodyPr wrap="square" lIns="0" tIns="0" rIns="0" bIns="0" rtlCol="0" anchor="ctr"/>
          <a:lstStyle/>
          <a:p>
            <a:pPr indent="0" marL="0">
              <a:buNone/>
            </a:pPr>
            <a:r>
              <a:rPr lang="en-US" sz="1400" b="1" dirty="0">
                <a:solidFill>
                  <a:srgbClr val="6741D9"/>
                </a:solidFill>
                <a:latin typeface="Calibri" pitchFamily="34" charset="0"/>
                <a:ea typeface="Calibri" pitchFamily="34" charset="-122"/>
                <a:cs typeface="Calibri" pitchFamily="34" charset="-120"/>
              </a:rPr>
              <a:t>Traces</a:t>
            </a:r>
            <a:endParaRPr lang="en-US" sz="1400" dirty="0"/>
          </a:p>
        </p:txBody>
      </p:sp>
      <p:sp>
        <p:nvSpPr>
          <p:cNvPr id="18" name="Shape 16"/>
          <p:cNvSpPr/>
          <p:nvPr/>
        </p:nvSpPr>
        <p:spPr>
          <a:xfrm>
            <a:off x="640080" y="4526280"/>
            <a:ext cx="10881360" cy="1005840"/>
          </a:xfrm>
          <a:prstGeom prst="roundRect">
            <a:avLst>
              <a:gd name="adj" fmla="val 7273"/>
            </a:avLst>
          </a:prstGeom>
          <a:solidFill>
            <a:srgbClr val="F4F6F9"/>
          </a:solidFill>
          <a:ln w="19050">
            <a:solidFill>
              <a:srgbClr val="1A1D26"/>
            </a:solidFill>
            <a:prstDash val="solid"/>
          </a:ln>
        </p:spPr>
      </p:sp>
      <p:sp>
        <p:nvSpPr>
          <p:cNvPr id="19" name="Text 17"/>
          <p:cNvSpPr/>
          <p:nvPr/>
        </p:nvSpPr>
        <p:spPr>
          <a:xfrm>
            <a:off x="1005840" y="4828032"/>
            <a:ext cx="10149840" cy="411480"/>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Narrow the window first. Metrics turn millions of log lines into a few hundred.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24"/>
        </a:solidFill>
      </p:bgPr>
    </p:bg>
    <p:spTree>
      <p:nvGrpSpPr>
        <p:cNvPr id="1" name=""/>
        <p:cNvGrpSpPr/>
        <p:nvPr/>
      </p:nvGrpSpPr>
      <p:grpSpPr>
        <a:xfrm>
          <a:off x="0" y="0"/>
          <a:ext cx="0" cy="0"/>
          <a:chOff x="0" y="0"/>
          <a:chExt cx="0" cy="0"/>
        </a:xfrm>
      </p:grpSpPr>
      <p:sp>
        <p:nvSpPr>
          <p:cNvPr id="2" name="Text 0"/>
          <p:cNvSpPr/>
          <p:nvPr/>
        </p:nvSpPr>
        <p:spPr>
          <a:xfrm>
            <a:off x="640080" y="2468880"/>
            <a:ext cx="10881360" cy="457200"/>
          </a:xfrm>
          <a:prstGeom prst="rect">
            <a:avLst/>
          </a:prstGeom>
          <a:noFill/>
          <a:ln/>
        </p:spPr>
        <p:txBody>
          <a:bodyPr wrap="square" lIns="0" tIns="0" rIns="0" bIns="0" rtlCol="0" anchor="ctr"/>
          <a:lstStyle/>
          <a:p>
            <a:pPr indent="0" marL="0">
              <a:buNone/>
            </a:pPr>
            <a:r>
              <a:rPr lang="en-US" sz="1700" b="1" spc="300" kern="0" dirty="0">
                <a:solidFill>
                  <a:srgbClr val="E8590C"/>
                </a:solidFill>
                <a:latin typeface="Calibri" pitchFamily="34" charset="0"/>
                <a:ea typeface="Calibri" pitchFamily="34" charset="-122"/>
                <a:cs typeface="Calibri" pitchFamily="34" charset="-120"/>
              </a:rPr>
              <a:t>Section 2</a:t>
            </a:r>
            <a:endParaRPr lang="en-US" sz="1700" dirty="0"/>
          </a:p>
        </p:txBody>
      </p:sp>
      <p:sp>
        <p:nvSpPr>
          <p:cNvPr id="3" name="Text 1"/>
          <p:cNvSpPr/>
          <p:nvPr/>
        </p:nvSpPr>
        <p:spPr>
          <a:xfrm>
            <a:off x="640080" y="2926080"/>
            <a:ext cx="1088136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Prometheus Architecture</a:t>
            </a:r>
            <a:endParaRPr lang="en-US" sz="4600" dirty="0"/>
          </a:p>
        </p:txBody>
      </p:sp>
      <p:sp>
        <p:nvSpPr>
          <p:cNvPr id="4" name="Text 2"/>
          <p:cNvSpPr/>
          <p:nvPr/>
        </p:nvSpPr>
        <p:spPr>
          <a:xfrm>
            <a:off x="640080" y="3840480"/>
            <a:ext cx="10881360" cy="365760"/>
          </a:xfrm>
          <a:prstGeom prst="rect">
            <a:avLst/>
          </a:prstGeom>
          <a:noFill/>
          <a:ln/>
        </p:spPr>
        <p:txBody>
          <a:bodyPr wrap="square" lIns="0" tIns="0" rIns="0" bIns="0" rtlCol="0" anchor="ctr"/>
          <a:lstStyle/>
          <a:p>
            <a:pPr indent="0" marL="0">
              <a:buNone/>
            </a:pPr>
            <a:r>
              <a:rPr lang="en-US" sz="1500" dirty="0">
                <a:solidFill>
                  <a:srgbClr val="9AA4B8"/>
                </a:solidFill>
                <a:latin typeface="Calibri" pitchFamily="34" charset="0"/>
                <a:ea typeface="Calibri" pitchFamily="34" charset="-122"/>
                <a:cs typeface="Calibri" pitchFamily="34" charset="-120"/>
              </a:rPr>
              <a:t>Roughly 15 minutes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PUSH VS PULL</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Prometheus inverts the usual model</a:t>
            </a:r>
            <a:endParaRPr lang="en-US" sz="3400" dirty="0"/>
          </a:p>
        </p:txBody>
      </p:sp>
      <p:sp>
        <p:nvSpPr>
          <p:cNvPr id="4" name="Shape 2"/>
          <p:cNvSpPr/>
          <p:nvPr/>
        </p:nvSpPr>
        <p:spPr>
          <a:xfrm>
            <a:off x="640080" y="1645920"/>
            <a:ext cx="5257800" cy="2286000"/>
          </a:xfrm>
          <a:prstGeom prst="roundRect">
            <a:avLst>
              <a:gd name="adj" fmla="val 3200"/>
            </a:avLst>
          </a:prstGeom>
          <a:solidFill>
            <a:srgbClr val="F4F6F9"/>
          </a:solidFill>
          <a:ln w="19050">
            <a:solidFill>
              <a:srgbClr val="6B7280"/>
            </a:solidFill>
            <a:prstDash val="solid"/>
          </a:ln>
        </p:spPr>
      </p:sp>
      <p:sp>
        <p:nvSpPr>
          <p:cNvPr id="5" name="Text 3"/>
          <p:cNvSpPr/>
          <p:nvPr/>
        </p:nvSpPr>
        <p:spPr>
          <a:xfrm>
            <a:off x="960120" y="1828800"/>
            <a:ext cx="1828800" cy="365760"/>
          </a:xfrm>
          <a:prstGeom prst="rect">
            <a:avLst/>
          </a:prstGeom>
          <a:noFill/>
          <a:ln/>
        </p:spPr>
        <p:txBody>
          <a:bodyPr wrap="square" lIns="0" tIns="0" rIns="0" bIns="0" rtlCol="0" anchor="ctr"/>
          <a:lstStyle/>
          <a:p>
            <a:pPr indent="0" marL="0">
              <a:buNone/>
            </a:pPr>
            <a:r>
              <a:rPr lang="en-US" sz="1900" b="1" spc="100" kern="0" dirty="0">
                <a:solidFill>
                  <a:srgbClr val="6B7280"/>
                </a:solidFill>
                <a:latin typeface="Cambria" pitchFamily="34" charset="0"/>
                <a:ea typeface="Cambria" pitchFamily="34" charset="-122"/>
                <a:cs typeface="Cambria" pitchFamily="34" charset="-120"/>
              </a:rPr>
              <a:t>PUSH</a:t>
            </a:r>
            <a:endParaRPr lang="en-US" sz="1900" dirty="0"/>
          </a:p>
        </p:txBody>
      </p:sp>
      <p:sp>
        <p:nvSpPr>
          <p:cNvPr id="6" name="Text 4"/>
          <p:cNvSpPr/>
          <p:nvPr/>
        </p:nvSpPr>
        <p:spPr>
          <a:xfrm>
            <a:off x="960120" y="2212848"/>
            <a:ext cx="4572000" cy="274320"/>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Applications decide when to send</a:t>
            </a:r>
            <a:endParaRPr lang="en-US" sz="1300" dirty="0"/>
          </a:p>
        </p:txBody>
      </p:sp>
      <p:sp>
        <p:nvSpPr>
          <p:cNvPr id="7" name="Text 5"/>
          <p:cNvSpPr/>
          <p:nvPr/>
        </p:nvSpPr>
        <p:spPr>
          <a:xfrm>
            <a:off x="960120" y="2606040"/>
            <a:ext cx="1005840" cy="292608"/>
          </a:xfrm>
          <a:prstGeom prst="rect">
            <a:avLst/>
          </a:prstGeom>
          <a:noFill/>
          <a:ln/>
        </p:spPr>
        <p:txBody>
          <a:bodyPr wrap="square" lIns="0" tIns="0" rIns="0" bIns="0" rtlCol="0" anchor="ctr"/>
          <a:lstStyle/>
          <a:p>
            <a:pPr indent="0" marL="0">
              <a:buNone/>
            </a:pPr>
            <a:r>
              <a:rPr lang="en-US" sz="1300" dirty="0">
                <a:solidFill>
                  <a:srgbClr val="1A1D26"/>
                </a:solidFill>
                <a:latin typeface="Courier New" pitchFamily="34" charset="0"/>
                <a:ea typeface="Courier New" pitchFamily="34" charset="-122"/>
                <a:cs typeface="Courier New" pitchFamily="34" charset="-120"/>
              </a:rPr>
              <a:t>app-1</a:t>
            </a:r>
            <a:endParaRPr lang="en-US" sz="1300" dirty="0"/>
          </a:p>
        </p:txBody>
      </p:sp>
      <p:sp>
        <p:nvSpPr>
          <p:cNvPr id="8" name="Shape 6"/>
          <p:cNvSpPr/>
          <p:nvPr/>
        </p:nvSpPr>
        <p:spPr>
          <a:xfrm>
            <a:off x="2103120" y="2651760"/>
            <a:ext cx="1371600" cy="237744"/>
          </a:xfrm>
          <a:prstGeom prst="rightArrow">
            <a:avLst/>
          </a:prstGeom>
          <a:solidFill>
            <a:srgbClr val="6B7280"/>
          </a:solidFill>
          <a:ln w="12700">
            <a:solidFill>
              <a:srgbClr val="6B7280"/>
            </a:solidFill>
            <a:prstDash val="solid"/>
          </a:ln>
        </p:spPr>
      </p:sp>
      <p:sp>
        <p:nvSpPr>
          <p:cNvPr id="9" name="Text 7"/>
          <p:cNvSpPr/>
          <p:nvPr/>
        </p:nvSpPr>
        <p:spPr>
          <a:xfrm>
            <a:off x="960120" y="2990088"/>
            <a:ext cx="1005840" cy="292608"/>
          </a:xfrm>
          <a:prstGeom prst="rect">
            <a:avLst/>
          </a:prstGeom>
          <a:noFill/>
          <a:ln/>
        </p:spPr>
        <p:txBody>
          <a:bodyPr wrap="square" lIns="0" tIns="0" rIns="0" bIns="0" rtlCol="0" anchor="ctr"/>
          <a:lstStyle/>
          <a:p>
            <a:pPr indent="0" marL="0">
              <a:buNone/>
            </a:pPr>
            <a:r>
              <a:rPr lang="en-US" sz="1300" dirty="0">
                <a:solidFill>
                  <a:srgbClr val="1A1D26"/>
                </a:solidFill>
                <a:latin typeface="Courier New" pitchFamily="34" charset="0"/>
                <a:ea typeface="Courier New" pitchFamily="34" charset="-122"/>
                <a:cs typeface="Courier New" pitchFamily="34" charset="-120"/>
              </a:rPr>
              <a:t>app-2</a:t>
            </a:r>
            <a:endParaRPr lang="en-US" sz="1300" dirty="0"/>
          </a:p>
        </p:txBody>
      </p:sp>
      <p:sp>
        <p:nvSpPr>
          <p:cNvPr id="10" name="Shape 8"/>
          <p:cNvSpPr/>
          <p:nvPr/>
        </p:nvSpPr>
        <p:spPr>
          <a:xfrm>
            <a:off x="2103120" y="3035808"/>
            <a:ext cx="1371600" cy="237744"/>
          </a:xfrm>
          <a:prstGeom prst="rightArrow">
            <a:avLst/>
          </a:prstGeom>
          <a:solidFill>
            <a:srgbClr val="6B7280"/>
          </a:solidFill>
          <a:ln w="12700">
            <a:solidFill>
              <a:srgbClr val="6B7280"/>
            </a:solidFill>
            <a:prstDash val="solid"/>
          </a:ln>
        </p:spPr>
      </p:sp>
      <p:sp>
        <p:nvSpPr>
          <p:cNvPr id="11" name="Text 9"/>
          <p:cNvSpPr/>
          <p:nvPr/>
        </p:nvSpPr>
        <p:spPr>
          <a:xfrm>
            <a:off x="960120" y="3374136"/>
            <a:ext cx="1005840" cy="292608"/>
          </a:xfrm>
          <a:prstGeom prst="rect">
            <a:avLst/>
          </a:prstGeom>
          <a:noFill/>
          <a:ln/>
        </p:spPr>
        <p:txBody>
          <a:bodyPr wrap="square" lIns="0" tIns="0" rIns="0" bIns="0" rtlCol="0" anchor="ctr"/>
          <a:lstStyle/>
          <a:p>
            <a:pPr indent="0" marL="0">
              <a:buNone/>
            </a:pPr>
            <a:r>
              <a:rPr lang="en-US" sz="1300" dirty="0">
                <a:solidFill>
                  <a:srgbClr val="1A1D26"/>
                </a:solidFill>
                <a:latin typeface="Courier New" pitchFamily="34" charset="0"/>
                <a:ea typeface="Courier New" pitchFamily="34" charset="-122"/>
                <a:cs typeface="Courier New" pitchFamily="34" charset="-120"/>
              </a:rPr>
              <a:t>app-3</a:t>
            </a:r>
            <a:endParaRPr lang="en-US" sz="1300" dirty="0"/>
          </a:p>
        </p:txBody>
      </p:sp>
      <p:sp>
        <p:nvSpPr>
          <p:cNvPr id="12" name="Shape 10"/>
          <p:cNvSpPr/>
          <p:nvPr/>
        </p:nvSpPr>
        <p:spPr>
          <a:xfrm>
            <a:off x="2103120" y="3419856"/>
            <a:ext cx="1371600" cy="237744"/>
          </a:xfrm>
          <a:prstGeom prst="rightArrow">
            <a:avLst/>
          </a:prstGeom>
          <a:solidFill>
            <a:srgbClr val="6B7280"/>
          </a:solidFill>
          <a:ln w="12700">
            <a:solidFill>
              <a:srgbClr val="6B7280"/>
            </a:solidFill>
            <a:prstDash val="solid"/>
          </a:ln>
        </p:spPr>
      </p:sp>
      <p:sp>
        <p:nvSpPr>
          <p:cNvPr id="13" name="Text 11"/>
          <p:cNvSpPr/>
          <p:nvPr/>
        </p:nvSpPr>
        <p:spPr>
          <a:xfrm>
            <a:off x="3749040" y="2990088"/>
            <a:ext cx="1828800" cy="292608"/>
          </a:xfrm>
          <a:prstGeom prst="rect">
            <a:avLst/>
          </a:prstGeom>
          <a:noFill/>
          <a:ln/>
        </p:spPr>
        <p:txBody>
          <a:bodyPr wrap="square" lIns="0" tIns="0" rIns="0" bIns="0" rtlCol="0" anchor="ctr"/>
          <a:lstStyle/>
          <a:p>
            <a:pPr indent="0" marL="0">
              <a:buNone/>
            </a:pPr>
            <a:r>
              <a:rPr lang="en-US" sz="1350" b="1" dirty="0">
                <a:solidFill>
                  <a:srgbClr val="1A1D26"/>
                </a:solidFill>
                <a:latin typeface="Calibri" pitchFamily="34" charset="0"/>
                <a:ea typeface="Calibri" pitchFamily="34" charset="-122"/>
                <a:cs typeface="Calibri" pitchFamily="34" charset="-120"/>
              </a:rPr>
              <a:t>collector</a:t>
            </a:r>
            <a:endParaRPr lang="en-US" sz="1350" dirty="0"/>
          </a:p>
        </p:txBody>
      </p:sp>
      <p:sp>
        <p:nvSpPr>
          <p:cNvPr id="14" name="Shape 12"/>
          <p:cNvSpPr/>
          <p:nvPr/>
        </p:nvSpPr>
        <p:spPr>
          <a:xfrm>
            <a:off x="6263640" y="1645920"/>
            <a:ext cx="5257800" cy="2286000"/>
          </a:xfrm>
          <a:prstGeom prst="roundRect">
            <a:avLst>
              <a:gd name="adj" fmla="val 3200"/>
            </a:avLst>
          </a:prstGeom>
          <a:solidFill>
            <a:srgbClr val="FFE8D6"/>
          </a:solidFill>
          <a:ln w="19050">
            <a:solidFill>
              <a:srgbClr val="E8590C"/>
            </a:solidFill>
            <a:prstDash val="solid"/>
          </a:ln>
        </p:spPr>
      </p:sp>
      <p:sp>
        <p:nvSpPr>
          <p:cNvPr id="15" name="Text 13"/>
          <p:cNvSpPr/>
          <p:nvPr/>
        </p:nvSpPr>
        <p:spPr>
          <a:xfrm>
            <a:off x="6583680" y="1828800"/>
            <a:ext cx="1828800" cy="365760"/>
          </a:xfrm>
          <a:prstGeom prst="rect">
            <a:avLst/>
          </a:prstGeom>
          <a:noFill/>
          <a:ln/>
        </p:spPr>
        <p:txBody>
          <a:bodyPr wrap="square" lIns="0" tIns="0" rIns="0" bIns="0" rtlCol="0" anchor="ctr"/>
          <a:lstStyle/>
          <a:p>
            <a:pPr indent="0" marL="0">
              <a:buNone/>
            </a:pPr>
            <a:r>
              <a:rPr lang="en-US" sz="1900" b="1" spc="100" kern="0" dirty="0">
                <a:solidFill>
                  <a:srgbClr val="E8590C"/>
                </a:solidFill>
                <a:latin typeface="Cambria" pitchFamily="34" charset="0"/>
                <a:ea typeface="Cambria" pitchFamily="34" charset="-122"/>
                <a:cs typeface="Cambria" pitchFamily="34" charset="-120"/>
              </a:rPr>
              <a:t>PULL</a:t>
            </a:r>
            <a:endParaRPr lang="en-US" sz="1900" dirty="0"/>
          </a:p>
        </p:txBody>
      </p:sp>
      <p:sp>
        <p:nvSpPr>
          <p:cNvPr id="16" name="Text 14"/>
          <p:cNvSpPr/>
          <p:nvPr/>
        </p:nvSpPr>
        <p:spPr>
          <a:xfrm>
            <a:off x="6583680" y="2212848"/>
            <a:ext cx="4754880" cy="274320"/>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Prometheus decides when to collect</a:t>
            </a:r>
            <a:endParaRPr lang="en-US" sz="1300" dirty="0"/>
          </a:p>
        </p:txBody>
      </p:sp>
      <p:sp>
        <p:nvSpPr>
          <p:cNvPr id="17" name="Text 15"/>
          <p:cNvSpPr/>
          <p:nvPr/>
        </p:nvSpPr>
        <p:spPr>
          <a:xfrm>
            <a:off x="6583680" y="2606040"/>
            <a:ext cx="1005840" cy="292608"/>
          </a:xfrm>
          <a:prstGeom prst="rect">
            <a:avLst/>
          </a:prstGeom>
          <a:noFill/>
          <a:ln/>
        </p:spPr>
        <p:txBody>
          <a:bodyPr wrap="square" lIns="0" tIns="0" rIns="0" bIns="0" rtlCol="0" anchor="ctr"/>
          <a:lstStyle/>
          <a:p>
            <a:pPr indent="0" marL="0">
              <a:buNone/>
            </a:pPr>
            <a:r>
              <a:rPr lang="en-US" sz="1300" dirty="0">
                <a:solidFill>
                  <a:srgbClr val="1A1D26"/>
                </a:solidFill>
                <a:latin typeface="Courier New" pitchFamily="34" charset="0"/>
                <a:ea typeface="Courier New" pitchFamily="34" charset="-122"/>
                <a:cs typeface="Courier New" pitchFamily="34" charset="-120"/>
              </a:rPr>
              <a:t>app-1</a:t>
            </a:r>
            <a:endParaRPr lang="en-US" sz="1300" dirty="0"/>
          </a:p>
        </p:txBody>
      </p:sp>
      <p:sp>
        <p:nvSpPr>
          <p:cNvPr id="18" name="Shape 16"/>
          <p:cNvSpPr/>
          <p:nvPr/>
        </p:nvSpPr>
        <p:spPr>
          <a:xfrm>
            <a:off x="7726680" y="2651760"/>
            <a:ext cx="1371600" cy="237744"/>
          </a:xfrm>
          <a:prstGeom prst="leftArrow">
            <a:avLst/>
          </a:prstGeom>
          <a:solidFill>
            <a:srgbClr val="E8590C"/>
          </a:solidFill>
          <a:ln w="12700">
            <a:solidFill>
              <a:srgbClr val="E8590C"/>
            </a:solidFill>
            <a:prstDash val="solid"/>
          </a:ln>
        </p:spPr>
      </p:sp>
      <p:sp>
        <p:nvSpPr>
          <p:cNvPr id="19" name="Text 17"/>
          <p:cNvSpPr/>
          <p:nvPr/>
        </p:nvSpPr>
        <p:spPr>
          <a:xfrm>
            <a:off x="6583680" y="2990088"/>
            <a:ext cx="1005840" cy="292608"/>
          </a:xfrm>
          <a:prstGeom prst="rect">
            <a:avLst/>
          </a:prstGeom>
          <a:noFill/>
          <a:ln/>
        </p:spPr>
        <p:txBody>
          <a:bodyPr wrap="square" lIns="0" tIns="0" rIns="0" bIns="0" rtlCol="0" anchor="ctr"/>
          <a:lstStyle/>
          <a:p>
            <a:pPr indent="0" marL="0">
              <a:buNone/>
            </a:pPr>
            <a:r>
              <a:rPr lang="en-US" sz="1300" dirty="0">
                <a:solidFill>
                  <a:srgbClr val="1A1D26"/>
                </a:solidFill>
                <a:latin typeface="Courier New" pitchFamily="34" charset="0"/>
                <a:ea typeface="Courier New" pitchFamily="34" charset="-122"/>
                <a:cs typeface="Courier New" pitchFamily="34" charset="-120"/>
              </a:rPr>
              <a:t>app-2</a:t>
            </a:r>
            <a:endParaRPr lang="en-US" sz="1300" dirty="0"/>
          </a:p>
        </p:txBody>
      </p:sp>
      <p:sp>
        <p:nvSpPr>
          <p:cNvPr id="20" name="Shape 18"/>
          <p:cNvSpPr/>
          <p:nvPr/>
        </p:nvSpPr>
        <p:spPr>
          <a:xfrm>
            <a:off x="7726680" y="3035808"/>
            <a:ext cx="1371600" cy="237744"/>
          </a:xfrm>
          <a:prstGeom prst="leftArrow">
            <a:avLst/>
          </a:prstGeom>
          <a:solidFill>
            <a:srgbClr val="E8590C"/>
          </a:solidFill>
          <a:ln w="12700">
            <a:solidFill>
              <a:srgbClr val="E8590C"/>
            </a:solidFill>
            <a:prstDash val="solid"/>
          </a:ln>
        </p:spPr>
      </p:sp>
      <p:sp>
        <p:nvSpPr>
          <p:cNvPr id="21" name="Text 19"/>
          <p:cNvSpPr/>
          <p:nvPr/>
        </p:nvSpPr>
        <p:spPr>
          <a:xfrm>
            <a:off x="6583680" y="3374136"/>
            <a:ext cx="1005840" cy="292608"/>
          </a:xfrm>
          <a:prstGeom prst="rect">
            <a:avLst/>
          </a:prstGeom>
          <a:noFill/>
          <a:ln/>
        </p:spPr>
        <p:txBody>
          <a:bodyPr wrap="square" lIns="0" tIns="0" rIns="0" bIns="0" rtlCol="0" anchor="ctr"/>
          <a:lstStyle/>
          <a:p>
            <a:pPr indent="0" marL="0">
              <a:buNone/>
            </a:pPr>
            <a:r>
              <a:rPr lang="en-US" sz="1300" dirty="0">
                <a:solidFill>
                  <a:srgbClr val="1A1D26"/>
                </a:solidFill>
                <a:latin typeface="Courier New" pitchFamily="34" charset="0"/>
                <a:ea typeface="Courier New" pitchFamily="34" charset="-122"/>
                <a:cs typeface="Courier New" pitchFamily="34" charset="-120"/>
              </a:rPr>
              <a:t>app-3</a:t>
            </a:r>
            <a:endParaRPr lang="en-US" sz="1300" dirty="0"/>
          </a:p>
        </p:txBody>
      </p:sp>
      <p:sp>
        <p:nvSpPr>
          <p:cNvPr id="22" name="Shape 20"/>
          <p:cNvSpPr/>
          <p:nvPr/>
        </p:nvSpPr>
        <p:spPr>
          <a:xfrm>
            <a:off x="7726680" y="3419856"/>
            <a:ext cx="1371600" cy="237744"/>
          </a:xfrm>
          <a:prstGeom prst="leftArrow">
            <a:avLst/>
          </a:prstGeom>
          <a:solidFill>
            <a:srgbClr val="E8590C"/>
          </a:solidFill>
          <a:ln w="12700">
            <a:solidFill>
              <a:srgbClr val="E8590C"/>
            </a:solidFill>
            <a:prstDash val="solid"/>
          </a:ln>
        </p:spPr>
      </p:sp>
      <p:sp>
        <p:nvSpPr>
          <p:cNvPr id="23" name="Text 21"/>
          <p:cNvSpPr/>
          <p:nvPr/>
        </p:nvSpPr>
        <p:spPr>
          <a:xfrm>
            <a:off x="9326880" y="2990088"/>
            <a:ext cx="2011680" cy="292608"/>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Prometheus</a:t>
            </a:r>
            <a:endParaRPr lang="en-US" sz="1350" dirty="0"/>
          </a:p>
        </p:txBody>
      </p:sp>
      <p:sp>
        <p:nvSpPr>
          <p:cNvPr id="24" name="Shape 22"/>
          <p:cNvSpPr/>
          <p:nvPr/>
        </p:nvSpPr>
        <p:spPr>
          <a:xfrm>
            <a:off x="640080" y="4251960"/>
            <a:ext cx="10881360" cy="1691640"/>
          </a:xfrm>
          <a:prstGeom prst="roundRect">
            <a:avLst>
              <a:gd name="adj" fmla="val 4324"/>
            </a:avLst>
          </a:prstGeom>
          <a:solidFill>
            <a:srgbClr val="FFFFFF"/>
          </a:solidFill>
          <a:ln w="19050">
            <a:solidFill>
              <a:srgbClr val="1A1D26"/>
            </a:solidFill>
            <a:prstDash val="solid"/>
          </a:ln>
        </p:spPr>
      </p:sp>
      <p:sp>
        <p:nvSpPr>
          <p:cNvPr id="25" name="Text 23"/>
          <p:cNvSpPr/>
          <p:nvPr/>
        </p:nvSpPr>
        <p:spPr>
          <a:xfrm>
            <a:off x="1005840" y="4498848"/>
            <a:ext cx="10149840" cy="365760"/>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Your application does one thing: expose an HTTP endpoint at /metrics that returns its current numbers as text.</a:t>
            </a:r>
            <a:endParaRPr lang="en-US" sz="1600" dirty="0"/>
          </a:p>
        </p:txBody>
      </p:sp>
      <p:sp>
        <p:nvSpPr>
          <p:cNvPr id="26" name="Text 24"/>
          <p:cNvSpPr/>
          <p:nvPr/>
        </p:nvSpPr>
        <p:spPr>
          <a:xfrm>
            <a:off x="1005840" y="4937760"/>
            <a:ext cx="10149840" cy="82296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It never opens a connection. It has no queue, no retry logic, no backpressure handling, and no idea where Prometheus lives.</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It answers an HTTP request. That is the entire integration.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ANALOGY</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A telecom network operations centre</a:t>
            </a:r>
            <a:endParaRPr lang="en-US" sz="3400" dirty="0"/>
          </a:p>
        </p:txBody>
      </p:sp>
      <p:sp>
        <p:nvSpPr>
          <p:cNvPr id="4" name="Text 2"/>
          <p:cNvSpPr/>
          <p:nvPr/>
        </p:nvSpPr>
        <p:spPr>
          <a:xfrm>
            <a:off x="640080" y="1481328"/>
            <a:ext cx="10881360" cy="320040"/>
          </a:xfrm>
          <a:prstGeom prst="rect">
            <a:avLst/>
          </a:prstGeom>
          <a:noFill/>
          <a:ln/>
        </p:spPr>
        <p:txBody>
          <a:bodyPr wrap="square" lIns="0" tIns="0" rIns="0" bIns="0" rtlCol="0" anchor="ctr"/>
          <a:lstStyle/>
          <a:p>
            <a:pPr indent="0" marL="0">
              <a:buNone/>
            </a:pPr>
            <a:r>
              <a:rPr lang="en-US" sz="1500" dirty="0">
                <a:solidFill>
                  <a:srgbClr val="3D4351"/>
                </a:solidFill>
                <a:latin typeface="Calibri" pitchFamily="34" charset="0"/>
                <a:ea typeface="Calibri" pitchFamily="34" charset="-122"/>
                <a:cs typeface="Calibri" pitchFamily="34" charset="-120"/>
              </a:rPr>
              <a:t>A mobile operator runs thousands of cell towers. The NOC needs the state of every one.</a:t>
            </a:r>
            <a:endParaRPr lang="en-US" sz="1500" dirty="0"/>
          </a:p>
        </p:txBody>
      </p:sp>
      <p:sp>
        <p:nvSpPr>
          <p:cNvPr id="5" name="Shape 3"/>
          <p:cNvSpPr/>
          <p:nvPr/>
        </p:nvSpPr>
        <p:spPr>
          <a:xfrm>
            <a:off x="640080" y="2011680"/>
            <a:ext cx="10881360" cy="3017520"/>
          </a:xfrm>
          <a:prstGeom prst="roundRect">
            <a:avLst>
              <a:gd name="adj" fmla="val 2424"/>
            </a:avLst>
          </a:prstGeom>
          <a:solidFill>
            <a:srgbClr val="FBE0E0"/>
          </a:solidFill>
          <a:ln w="19050">
            <a:solidFill>
              <a:srgbClr val="C92A2A"/>
            </a:solidFill>
            <a:prstDash val="solid"/>
          </a:ln>
        </p:spPr>
      </p:sp>
      <p:sp>
        <p:nvSpPr>
          <p:cNvPr id="6" name="Text 4"/>
          <p:cNvSpPr/>
          <p:nvPr/>
        </p:nvSpPr>
        <p:spPr>
          <a:xfrm>
            <a:off x="1005840" y="2240280"/>
            <a:ext cx="4572000" cy="365760"/>
          </a:xfrm>
          <a:prstGeom prst="rect">
            <a:avLst/>
          </a:prstGeom>
          <a:noFill/>
          <a:ln/>
        </p:spPr>
        <p:txBody>
          <a:bodyPr wrap="square" lIns="0" tIns="0" rIns="0" bIns="0" rtlCol="0" anchor="ctr"/>
          <a:lstStyle/>
          <a:p>
            <a:pPr indent="0" marL="0">
              <a:buNone/>
            </a:pPr>
            <a:r>
              <a:rPr lang="en-US" sz="1700" b="1" spc="100" kern="0" dirty="0">
                <a:solidFill>
                  <a:srgbClr val="C92A2A"/>
                </a:solidFill>
                <a:latin typeface="Cambria" pitchFamily="34" charset="0"/>
                <a:ea typeface="Cambria" pitchFamily="34" charset="-122"/>
                <a:cs typeface="Cambria" pitchFamily="34" charset="-120"/>
              </a:rPr>
              <a:t>IN A PUSH DESIGN</a:t>
            </a:r>
            <a:endParaRPr lang="en-US" sz="1700" dirty="0"/>
          </a:p>
        </p:txBody>
      </p:sp>
      <p:sp>
        <p:nvSpPr>
          <p:cNvPr id="7" name="Text 5"/>
          <p:cNvSpPr/>
          <p:nvPr/>
        </p:nvSpPr>
        <p:spPr>
          <a:xfrm>
            <a:off x="1005840" y="2651760"/>
            <a:ext cx="10149840" cy="320040"/>
          </a:xfrm>
          <a:prstGeom prst="rect">
            <a:avLst/>
          </a:prstGeom>
          <a:noFill/>
          <a:ln/>
        </p:spPr>
        <p:txBody>
          <a:bodyPr wrap="square" lIns="0" tIns="0" rIns="0" bIns="0" rtlCol="0" anchor="ctr"/>
          <a:lstStyle/>
          <a:p>
            <a:pPr indent="0" marL="0">
              <a:buNone/>
            </a:pPr>
            <a:r>
              <a:rPr lang="en-US" sz="1450" dirty="0">
                <a:solidFill>
                  <a:srgbClr val="1A1D26"/>
                </a:solidFill>
                <a:latin typeface="Calibri" pitchFamily="34" charset="0"/>
                <a:ea typeface="Calibri" pitchFamily="34" charset="-122"/>
                <a:cs typeface="Calibri" pitchFamily="34" charset="-120"/>
              </a:rPr>
              <a:t>Every tower reports in when it feels like it. Two problems appear immediately.</a:t>
            </a:r>
            <a:endParaRPr lang="en-US" sz="1450" dirty="0"/>
          </a:p>
        </p:txBody>
      </p:sp>
      <p:sp>
        <p:nvSpPr>
          <p:cNvPr id="8" name="Shape 6"/>
          <p:cNvSpPr/>
          <p:nvPr/>
        </p:nvSpPr>
        <p:spPr>
          <a:xfrm>
            <a:off x="1005840" y="3127248"/>
            <a:ext cx="384048" cy="384048"/>
          </a:xfrm>
          <a:prstGeom prst="ellipse">
            <a:avLst/>
          </a:prstGeom>
          <a:solidFill>
            <a:srgbClr val="C92A2A"/>
          </a:solidFill>
          <a:ln w="12700">
            <a:solidFill>
              <a:srgbClr val="C92A2A"/>
            </a:solidFill>
            <a:prstDash val="solid"/>
          </a:ln>
        </p:spPr>
      </p:sp>
      <p:sp>
        <p:nvSpPr>
          <p:cNvPr id="9" name="Text 7"/>
          <p:cNvSpPr/>
          <p:nvPr/>
        </p:nvSpPr>
        <p:spPr>
          <a:xfrm>
            <a:off x="1005840" y="3127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54480" y="3127248"/>
            <a:ext cx="4206240" cy="320040"/>
          </a:xfrm>
          <a:prstGeom prst="rect">
            <a:avLst/>
          </a:prstGeom>
          <a:noFill/>
          <a:ln/>
        </p:spPr>
        <p:txBody>
          <a:bodyPr wrap="square" lIns="0" tIns="0" rIns="0" bIns="0" rtlCol="0" anchor="ctr"/>
          <a:lstStyle/>
          <a:p>
            <a:pPr indent="0" marL="0">
              <a:buNone/>
            </a:pPr>
            <a:r>
              <a:rPr lang="en-US" sz="1500" b="1" dirty="0">
                <a:solidFill>
                  <a:srgbClr val="1A1D26"/>
                </a:solidFill>
                <a:latin typeface="Calibri" pitchFamily="34" charset="0"/>
                <a:ea typeface="Calibri" pitchFamily="34" charset="-122"/>
                <a:cs typeface="Calibri" pitchFamily="34" charset="-120"/>
              </a:rPr>
              <a:t>Silence is ambiguous</a:t>
            </a:r>
            <a:endParaRPr lang="en-US" sz="1500" dirty="0"/>
          </a:p>
        </p:txBody>
      </p:sp>
      <p:sp>
        <p:nvSpPr>
          <p:cNvPr id="11" name="Text 9"/>
          <p:cNvSpPr/>
          <p:nvPr/>
        </p:nvSpPr>
        <p:spPr>
          <a:xfrm>
            <a:off x="1554480" y="3474720"/>
            <a:ext cx="4297680" cy="777240"/>
          </a:xfrm>
          <a:prstGeom prst="rect">
            <a:avLst/>
          </a:prstGeom>
          <a:noFill/>
          <a:ln/>
        </p:spPr>
        <p:txBody>
          <a:bodyPr wrap="square" lIns="0" tIns="0" rIns="0" bIns="0" rtlCol="0" anchor="ctr"/>
          <a:lstStyle/>
          <a:p>
            <a:pPr indent="0" marL="0">
              <a:lnSpc>
                <a:spcPts val="1700"/>
              </a:lnSpc>
              <a:buNone/>
            </a:pPr>
            <a:r>
              <a:rPr lang="en-US" sz="1250" dirty="0">
                <a:solidFill>
                  <a:srgbClr val="3D4351"/>
                </a:solidFill>
                <a:latin typeface="Calibri" pitchFamily="34" charset="0"/>
                <a:ea typeface="Calibri" pitchFamily="34" charset="-122"/>
                <a:cs typeface="Calibri" pitchFamily="34" charset="-120"/>
              </a:rPr>
              <a:t>A tower stops reporting. Did the tower fail? Did the network path fail?</a:t>
            </a:r>
            <a:endParaRPr lang="en-US" sz="1250" dirty="0"/>
          </a:p>
          <a:p>
            <a:pPr indent="0" marL="0">
              <a:lnSpc>
                <a:spcPts val="1700"/>
              </a:lnSpc>
              <a:buNone/>
            </a:pPr>
            <a:r>
              <a:rPr lang="en-US" sz="1250" dirty="0">
                <a:solidFill>
                  <a:srgbClr val="3D4351"/>
                </a:solidFill>
                <a:latin typeface="Calibri" pitchFamily="34" charset="0"/>
                <a:ea typeface="Calibri" pitchFamily="34" charset="-122"/>
                <a:cs typeface="Calibri" pitchFamily="34" charset="-120"/>
              </a:rPr>
              <a:t>Is the tower fine but its reporting process crashed?</a:t>
            </a:r>
            <a:endParaRPr lang="en-US" sz="1250" dirty="0"/>
          </a:p>
        </p:txBody>
      </p:sp>
      <p:sp>
        <p:nvSpPr>
          <p:cNvPr id="12" name="Shape 10"/>
          <p:cNvSpPr/>
          <p:nvPr/>
        </p:nvSpPr>
        <p:spPr>
          <a:xfrm>
            <a:off x="6126480" y="3127248"/>
            <a:ext cx="384048" cy="384048"/>
          </a:xfrm>
          <a:prstGeom prst="ellipse">
            <a:avLst/>
          </a:prstGeom>
          <a:solidFill>
            <a:srgbClr val="C92A2A"/>
          </a:solidFill>
          <a:ln w="12700">
            <a:solidFill>
              <a:srgbClr val="C92A2A"/>
            </a:solidFill>
            <a:prstDash val="solid"/>
          </a:ln>
        </p:spPr>
      </p:sp>
      <p:sp>
        <p:nvSpPr>
          <p:cNvPr id="13" name="Text 11"/>
          <p:cNvSpPr/>
          <p:nvPr/>
        </p:nvSpPr>
        <p:spPr>
          <a:xfrm>
            <a:off x="6126480" y="3127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6675120" y="3127248"/>
            <a:ext cx="4206240" cy="320040"/>
          </a:xfrm>
          <a:prstGeom prst="rect">
            <a:avLst/>
          </a:prstGeom>
          <a:noFill/>
          <a:ln/>
        </p:spPr>
        <p:txBody>
          <a:bodyPr wrap="square" lIns="0" tIns="0" rIns="0" bIns="0" rtlCol="0" anchor="ctr"/>
          <a:lstStyle/>
          <a:p>
            <a:pPr indent="0" marL="0">
              <a:buNone/>
            </a:pPr>
            <a:r>
              <a:rPr lang="en-US" sz="1500" b="1" dirty="0">
                <a:solidFill>
                  <a:srgbClr val="1A1D26"/>
                </a:solidFill>
                <a:latin typeface="Calibri" pitchFamily="34" charset="0"/>
                <a:ea typeface="Calibri" pitchFamily="34" charset="-122"/>
                <a:cs typeface="Calibri" pitchFamily="34" charset="-120"/>
              </a:rPr>
              <a:t>No control over load</a:t>
            </a:r>
            <a:endParaRPr lang="en-US" sz="1500" dirty="0"/>
          </a:p>
        </p:txBody>
      </p:sp>
      <p:sp>
        <p:nvSpPr>
          <p:cNvPr id="15" name="Text 13"/>
          <p:cNvSpPr/>
          <p:nvPr/>
        </p:nvSpPr>
        <p:spPr>
          <a:xfrm>
            <a:off x="6675120" y="3474720"/>
            <a:ext cx="4297680" cy="777240"/>
          </a:xfrm>
          <a:prstGeom prst="rect">
            <a:avLst/>
          </a:prstGeom>
          <a:noFill/>
          <a:ln/>
        </p:spPr>
        <p:txBody>
          <a:bodyPr wrap="square" lIns="0" tIns="0" rIns="0" bIns="0" rtlCol="0" anchor="ctr"/>
          <a:lstStyle/>
          <a:p>
            <a:pPr indent="0" marL="0">
              <a:lnSpc>
                <a:spcPts val="1700"/>
              </a:lnSpc>
              <a:buNone/>
            </a:pPr>
            <a:r>
              <a:rPr lang="en-US" sz="1250" dirty="0">
                <a:solidFill>
                  <a:srgbClr val="3D4351"/>
                </a:solidFill>
                <a:latin typeface="Calibri" pitchFamily="34" charset="0"/>
                <a:ea typeface="Calibri" pitchFamily="34" charset="-122"/>
                <a:cs typeface="Calibri" pitchFamily="34" charset="-120"/>
              </a:rPr>
              <a:t>If every tower reports at once during an incident, the collector is</a:t>
            </a:r>
            <a:endParaRPr lang="en-US" sz="1250" dirty="0"/>
          </a:p>
          <a:p>
            <a:pPr indent="0" marL="0">
              <a:lnSpc>
                <a:spcPts val="1700"/>
              </a:lnSpc>
              <a:buNone/>
            </a:pPr>
            <a:r>
              <a:rPr lang="en-US" sz="1250" dirty="0">
                <a:solidFill>
                  <a:srgbClr val="3D4351"/>
                </a:solidFill>
                <a:latin typeface="Calibri" pitchFamily="34" charset="0"/>
                <a:ea typeface="Calibri" pitchFamily="34" charset="-122"/>
                <a:cs typeface="Calibri" pitchFamily="34" charset="-120"/>
              </a:rPr>
              <a:t>overwhelmed exactly when it is needed most.</a:t>
            </a:r>
            <a:endParaRPr lang="en-US" sz="1250" dirty="0"/>
          </a:p>
        </p:txBody>
      </p:sp>
      <p:sp>
        <p:nvSpPr>
          <p:cNvPr id="16" name="Text 14"/>
          <p:cNvSpPr/>
          <p:nvPr/>
        </p:nvSpPr>
        <p:spPr>
          <a:xfrm>
            <a:off x="640080" y="5257800"/>
            <a:ext cx="10881360" cy="365760"/>
          </a:xfrm>
          <a:prstGeom prst="rect">
            <a:avLst/>
          </a:prstGeom>
          <a:noFill/>
          <a:ln/>
        </p:spPr>
        <p:txBody>
          <a:bodyPr wrap="square" lIns="0" tIns="0" rIns="0" bIns="0" rtlCol="0" anchor="ctr"/>
          <a:lstStyle/>
          <a:p>
            <a:pPr indent="0" marL="0">
              <a:buNone/>
            </a:pPr>
            <a:r>
              <a:rPr lang="en-US" sz="1600" i="1" dirty="0">
                <a:solidFill>
                  <a:srgbClr val="C92A2A"/>
                </a:solidFill>
                <a:latin typeface="Calibri" pitchFamily="34" charset="0"/>
                <a:ea typeface="Calibri" pitchFamily="34" charset="-122"/>
                <a:cs typeface="Calibri" pitchFamily="34" charset="-120"/>
              </a:rPr>
              <a:t>Ambiguity at 2 AM is expensive.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ANALOGY</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A telecom network operations centre</a:t>
            </a:r>
            <a:endParaRPr lang="en-US" sz="3400" dirty="0"/>
          </a:p>
        </p:txBody>
      </p:sp>
      <p:sp>
        <p:nvSpPr>
          <p:cNvPr id="4" name="Text 2"/>
          <p:cNvSpPr/>
          <p:nvPr/>
        </p:nvSpPr>
        <p:spPr>
          <a:xfrm>
            <a:off x="640080" y="1481328"/>
            <a:ext cx="10881360" cy="320040"/>
          </a:xfrm>
          <a:prstGeom prst="rect">
            <a:avLst/>
          </a:prstGeom>
          <a:noFill/>
          <a:ln/>
        </p:spPr>
        <p:txBody>
          <a:bodyPr wrap="square" lIns="0" tIns="0" rIns="0" bIns="0" rtlCol="0" anchor="ctr"/>
          <a:lstStyle/>
          <a:p>
            <a:pPr indent="0" marL="0">
              <a:buNone/>
            </a:pPr>
            <a:r>
              <a:rPr lang="en-US" sz="1500" dirty="0">
                <a:solidFill>
                  <a:srgbClr val="3D4351"/>
                </a:solidFill>
                <a:latin typeface="Calibri" pitchFamily="34" charset="0"/>
                <a:ea typeface="Calibri" pitchFamily="34" charset="-122"/>
                <a:cs typeface="Calibri" pitchFamily="34" charset="-120"/>
              </a:rPr>
              <a:t>Each tower keeps a live status page and does nothing else. The NOC polls on a fixed schedule.</a:t>
            </a:r>
            <a:endParaRPr lang="en-US" sz="1500" dirty="0"/>
          </a:p>
        </p:txBody>
      </p:sp>
      <p:sp>
        <p:nvSpPr>
          <p:cNvPr id="5" name="Shape 3"/>
          <p:cNvSpPr/>
          <p:nvPr/>
        </p:nvSpPr>
        <p:spPr>
          <a:xfrm>
            <a:off x="640080" y="2011680"/>
            <a:ext cx="10881360" cy="3017520"/>
          </a:xfrm>
          <a:prstGeom prst="roundRect">
            <a:avLst>
              <a:gd name="adj" fmla="val 2424"/>
            </a:avLst>
          </a:prstGeom>
          <a:solidFill>
            <a:srgbClr val="DFF3E3"/>
          </a:solidFill>
          <a:ln w="19050">
            <a:solidFill>
              <a:srgbClr val="2F9E44"/>
            </a:solidFill>
            <a:prstDash val="solid"/>
          </a:ln>
        </p:spPr>
      </p:sp>
      <p:sp>
        <p:nvSpPr>
          <p:cNvPr id="6" name="Text 4"/>
          <p:cNvSpPr/>
          <p:nvPr/>
        </p:nvSpPr>
        <p:spPr>
          <a:xfrm>
            <a:off x="1005840" y="2240280"/>
            <a:ext cx="4572000" cy="365760"/>
          </a:xfrm>
          <a:prstGeom prst="rect">
            <a:avLst/>
          </a:prstGeom>
          <a:noFill/>
          <a:ln/>
        </p:spPr>
        <p:txBody>
          <a:bodyPr wrap="square" lIns="0" tIns="0" rIns="0" bIns="0" rtlCol="0" anchor="ctr"/>
          <a:lstStyle/>
          <a:p>
            <a:pPr indent="0" marL="0">
              <a:buNone/>
            </a:pPr>
            <a:r>
              <a:rPr lang="en-US" sz="1700" b="1" spc="100" kern="0" dirty="0">
                <a:solidFill>
                  <a:srgbClr val="2F9E44"/>
                </a:solidFill>
                <a:latin typeface="Cambria" pitchFamily="34" charset="0"/>
                <a:ea typeface="Cambria" pitchFamily="34" charset="-122"/>
                <a:cs typeface="Cambria" pitchFamily="34" charset="-120"/>
              </a:rPr>
              <a:t>IN A PULL DESIGN</a:t>
            </a:r>
            <a:endParaRPr lang="en-US" sz="1700" dirty="0"/>
          </a:p>
        </p:txBody>
      </p:sp>
      <p:sp>
        <p:nvSpPr>
          <p:cNvPr id="7" name="Text 5"/>
          <p:cNvSpPr/>
          <p:nvPr/>
        </p:nvSpPr>
        <p:spPr>
          <a:xfrm>
            <a:off x="1005840" y="2651760"/>
            <a:ext cx="10149840" cy="320040"/>
          </a:xfrm>
          <a:prstGeom prst="rect">
            <a:avLst/>
          </a:prstGeom>
          <a:noFill/>
          <a:ln/>
        </p:spPr>
        <p:txBody>
          <a:bodyPr wrap="square" lIns="0" tIns="0" rIns="0" bIns="0" rtlCol="0" anchor="ctr"/>
          <a:lstStyle/>
          <a:p>
            <a:pPr indent="0" marL="0">
              <a:buNone/>
            </a:pPr>
            <a:r>
              <a:rPr lang="en-US" sz="1450" dirty="0">
                <a:solidFill>
                  <a:srgbClr val="1A1D26"/>
                </a:solidFill>
                <a:latin typeface="Calibri" pitchFamily="34" charset="0"/>
                <a:ea typeface="Calibri" pitchFamily="34" charset="-122"/>
                <a:cs typeface="Calibri" pitchFamily="34" charset="-120"/>
              </a:rPr>
              <a:t>Both problems disappear.</a:t>
            </a:r>
            <a:endParaRPr lang="en-US" sz="1450" dirty="0"/>
          </a:p>
        </p:txBody>
      </p:sp>
      <p:sp>
        <p:nvSpPr>
          <p:cNvPr id="8" name="Shape 6"/>
          <p:cNvSpPr/>
          <p:nvPr/>
        </p:nvSpPr>
        <p:spPr>
          <a:xfrm>
            <a:off x="1005840" y="3127248"/>
            <a:ext cx="384048" cy="384048"/>
          </a:xfrm>
          <a:prstGeom prst="ellipse">
            <a:avLst/>
          </a:prstGeom>
          <a:solidFill>
            <a:srgbClr val="2F9E44"/>
          </a:solidFill>
          <a:ln w="12700">
            <a:solidFill>
              <a:srgbClr val="2F9E44"/>
            </a:solidFill>
            <a:prstDash val="solid"/>
          </a:ln>
        </p:spPr>
      </p:sp>
      <p:sp>
        <p:nvSpPr>
          <p:cNvPr id="9" name="Text 7"/>
          <p:cNvSpPr/>
          <p:nvPr/>
        </p:nvSpPr>
        <p:spPr>
          <a:xfrm>
            <a:off x="1005840" y="3127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54480" y="3127248"/>
            <a:ext cx="4206240" cy="320040"/>
          </a:xfrm>
          <a:prstGeom prst="rect">
            <a:avLst/>
          </a:prstGeom>
          <a:noFill/>
          <a:ln/>
        </p:spPr>
        <p:txBody>
          <a:bodyPr wrap="square" lIns="0" tIns="0" rIns="0" bIns="0" rtlCol="0" anchor="ctr"/>
          <a:lstStyle/>
          <a:p>
            <a:pPr indent="0" marL="0">
              <a:buNone/>
            </a:pPr>
            <a:r>
              <a:rPr lang="en-US" sz="1500" b="1" dirty="0">
                <a:solidFill>
                  <a:srgbClr val="1A1D26"/>
                </a:solidFill>
                <a:latin typeface="Calibri" pitchFamily="34" charset="0"/>
                <a:ea typeface="Calibri" pitchFamily="34" charset="-122"/>
                <a:cs typeface="Calibri" pitchFamily="34" charset="-120"/>
              </a:rPr>
              <a:t>Silence becomes a fact</a:t>
            </a:r>
            <a:endParaRPr lang="en-US" sz="1500" dirty="0"/>
          </a:p>
        </p:txBody>
      </p:sp>
      <p:sp>
        <p:nvSpPr>
          <p:cNvPr id="11" name="Text 9"/>
          <p:cNvSpPr/>
          <p:nvPr/>
        </p:nvSpPr>
        <p:spPr>
          <a:xfrm>
            <a:off x="1554480" y="3474720"/>
            <a:ext cx="4297680" cy="777240"/>
          </a:xfrm>
          <a:prstGeom prst="rect">
            <a:avLst/>
          </a:prstGeom>
          <a:noFill/>
          <a:ln/>
        </p:spPr>
        <p:txBody>
          <a:bodyPr wrap="square" lIns="0" tIns="0" rIns="0" bIns="0" rtlCol="0" anchor="ctr"/>
          <a:lstStyle/>
          <a:p>
            <a:pPr indent="0" marL="0">
              <a:lnSpc>
                <a:spcPts val="1700"/>
              </a:lnSpc>
              <a:buNone/>
            </a:pPr>
            <a:r>
              <a:rPr lang="en-US" sz="1250" dirty="0">
                <a:solidFill>
                  <a:srgbClr val="3D4351"/>
                </a:solidFill>
                <a:latin typeface="Calibri" pitchFamily="34" charset="0"/>
                <a:ea typeface="Calibri" pitchFamily="34" charset="-122"/>
                <a:cs typeface="Calibri" pitchFamily="34" charset="-120"/>
              </a:rPr>
              <a:t>The NOC polls and the poll fails. That failure is recorded:</a:t>
            </a:r>
            <a:endParaRPr lang="en-US" sz="1250" dirty="0"/>
          </a:p>
          <a:p>
            <a:pPr indent="0" marL="0">
              <a:lnSpc>
                <a:spcPts val="1700"/>
              </a:lnSpc>
              <a:buNone/>
            </a:pPr>
            <a:r>
              <a:rPr lang="en-US" sz="1250" dirty="0">
                <a:solidFill>
                  <a:srgbClr val="3D4351"/>
                </a:solidFill>
                <a:latin typeface="Calibri" pitchFamily="34" charset="0"/>
                <a:ea typeface="Calibri" pitchFamily="34" charset="-122"/>
                <a:cs typeface="Calibri" pitchFamily="34" charset="-120"/>
              </a:rPr>
              <a:t>this tower did not answer at 09:14:30. A data point, not an absence.</a:t>
            </a:r>
            <a:endParaRPr lang="en-US" sz="1250" dirty="0"/>
          </a:p>
        </p:txBody>
      </p:sp>
      <p:sp>
        <p:nvSpPr>
          <p:cNvPr id="12" name="Shape 10"/>
          <p:cNvSpPr/>
          <p:nvPr/>
        </p:nvSpPr>
        <p:spPr>
          <a:xfrm>
            <a:off x="6126480" y="3127248"/>
            <a:ext cx="384048" cy="384048"/>
          </a:xfrm>
          <a:prstGeom prst="ellipse">
            <a:avLst/>
          </a:prstGeom>
          <a:solidFill>
            <a:srgbClr val="2F9E44"/>
          </a:solidFill>
          <a:ln w="12700">
            <a:solidFill>
              <a:srgbClr val="2F9E44"/>
            </a:solidFill>
            <a:prstDash val="solid"/>
          </a:ln>
        </p:spPr>
      </p:sp>
      <p:sp>
        <p:nvSpPr>
          <p:cNvPr id="13" name="Text 11"/>
          <p:cNvSpPr/>
          <p:nvPr/>
        </p:nvSpPr>
        <p:spPr>
          <a:xfrm>
            <a:off x="6126480" y="3127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6675120" y="3127248"/>
            <a:ext cx="4206240" cy="320040"/>
          </a:xfrm>
          <a:prstGeom prst="rect">
            <a:avLst/>
          </a:prstGeom>
          <a:noFill/>
          <a:ln/>
        </p:spPr>
        <p:txBody>
          <a:bodyPr wrap="square" lIns="0" tIns="0" rIns="0" bIns="0" rtlCol="0" anchor="ctr"/>
          <a:lstStyle/>
          <a:p>
            <a:pPr indent="0" marL="0">
              <a:buNone/>
            </a:pPr>
            <a:r>
              <a:rPr lang="en-US" sz="1500" b="1" dirty="0">
                <a:solidFill>
                  <a:srgbClr val="1A1D26"/>
                </a:solidFill>
                <a:latin typeface="Calibri" pitchFamily="34" charset="0"/>
                <a:ea typeface="Calibri" pitchFamily="34" charset="-122"/>
                <a:cs typeface="Calibri" pitchFamily="34" charset="-120"/>
              </a:rPr>
              <a:t>The NOC controls its load</a:t>
            </a:r>
            <a:endParaRPr lang="en-US" sz="1500" dirty="0"/>
          </a:p>
        </p:txBody>
      </p:sp>
      <p:sp>
        <p:nvSpPr>
          <p:cNvPr id="15" name="Text 13"/>
          <p:cNvSpPr/>
          <p:nvPr/>
        </p:nvSpPr>
        <p:spPr>
          <a:xfrm>
            <a:off x="6675120" y="3474720"/>
            <a:ext cx="4297680" cy="777240"/>
          </a:xfrm>
          <a:prstGeom prst="rect">
            <a:avLst/>
          </a:prstGeom>
          <a:noFill/>
          <a:ln/>
        </p:spPr>
        <p:txBody>
          <a:bodyPr wrap="square" lIns="0" tIns="0" rIns="0" bIns="0" rtlCol="0" anchor="ctr"/>
          <a:lstStyle/>
          <a:p>
            <a:pPr indent="0" marL="0">
              <a:lnSpc>
                <a:spcPts val="1700"/>
              </a:lnSpc>
              <a:buNone/>
            </a:pPr>
            <a:r>
              <a:rPr lang="en-US" sz="1250" dirty="0">
                <a:solidFill>
                  <a:srgbClr val="3D4351"/>
                </a:solidFill>
                <a:latin typeface="Calibri" pitchFamily="34" charset="0"/>
                <a:ea typeface="Calibri" pitchFamily="34" charset="-122"/>
                <a:cs typeface="Calibri" pitchFamily="34" charset="-120"/>
              </a:rPr>
              <a:t>It sets the interval, the timeout and the order. A surge of incidents</a:t>
            </a:r>
            <a:endParaRPr lang="en-US" sz="1250" dirty="0"/>
          </a:p>
          <a:p>
            <a:pPr indent="0" marL="0">
              <a:lnSpc>
                <a:spcPts val="1700"/>
              </a:lnSpc>
              <a:buNone/>
            </a:pPr>
            <a:r>
              <a:rPr lang="en-US" sz="1250" dirty="0">
                <a:solidFill>
                  <a:srgbClr val="3D4351"/>
                </a:solidFill>
                <a:latin typeface="Calibri" pitchFamily="34" charset="0"/>
                <a:ea typeface="Calibri" pitchFamily="34" charset="-122"/>
                <a:cs typeface="Calibri" pitchFamily="34" charset="-120"/>
              </a:rPr>
              <a:t>does not change how much work the NOC has to do.</a:t>
            </a:r>
            <a:endParaRPr lang="en-US" sz="1250" dirty="0"/>
          </a:p>
        </p:txBody>
      </p:sp>
      <p:sp>
        <p:nvSpPr>
          <p:cNvPr id="16" name="Shape 14"/>
          <p:cNvSpPr/>
          <p:nvPr/>
        </p:nvSpPr>
        <p:spPr>
          <a:xfrm>
            <a:off x="640080" y="5257800"/>
            <a:ext cx="10881360" cy="868680"/>
          </a:xfrm>
          <a:prstGeom prst="roundRect">
            <a:avLst>
              <a:gd name="adj" fmla="val 8421"/>
            </a:avLst>
          </a:prstGeom>
          <a:solidFill>
            <a:srgbClr val="F4F6F9"/>
          </a:solidFill>
          <a:ln w="19050">
            <a:solidFill>
              <a:srgbClr val="1A1D26"/>
            </a:solidFill>
            <a:prstDash val="solid"/>
          </a:ln>
        </p:spPr>
      </p:sp>
      <p:sp>
        <p:nvSpPr>
          <p:cNvPr id="17" name="Text 15"/>
          <p:cNvSpPr/>
          <p:nvPr/>
        </p:nvSpPr>
        <p:spPr>
          <a:xfrm>
            <a:off x="1005840" y="5486400"/>
            <a:ext cx="10149840" cy="411480"/>
          </a:xfrm>
          <a:prstGeom prst="rect">
            <a:avLst/>
          </a:prstGeom>
          <a:noFill/>
          <a:ln/>
        </p:spPr>
        <p:txBody>
          <a:bodyPr wrap="square" lIns="0" tIns="0" rIns="0" bIns="0" rtlCol="0" anchor="ctr"/>
          <a:lstStyle/>
          <a:p>
            <a:pPr indent="0" marL="0">
              <a:buNone/>
            </a:pPr>
            <a:r>
              <a:rPr lang="en-US" sz="1800" b="1" dirty="0">
                <a:solidFill>
                  <a:srgbClr val="1A1D26"/>
                </a:solidFill>
                <a:latin typeface="Cambria" pitchFamily="34" charset="0"/>
                <a:ea typeface="Cambria" pitchFamily="34" charset="-122"/>
                <a:cs typeface="Cambria" pitchFamily="34" charset="-120"/>
              </a:rPr>
              <a:t>Prometheus is the NOC. Your pods are the towers.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THE PAYOFF</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Every scrape writes a metric called up</a:t>
            </a:r>
            <a:endParaRPr lang="en-US" sz="3400" dirty="0"/>
          </a:p>
        </p:txBody>
      </p:sp>
      <p:sp>
        <p:nvSpPr>
          <p:cNvPr id="4" name="Shape 2"/>
          <p:cNvSpPr/>
          <p:nvPr/>
        </p:nvSpPr>
        <p:spPr>
          <a:xfrm>
            <a:off x="640080" y="1645920"/>
            <a:ext cx="5257800" cy="1600200"/>
          </a:xfrm>
          <a:prstGeom prst="roundRect">
            <a:avLst>
              <a:gd name="adj" fmla="val 4571"/>
            </a:avLst>
          </a:prstGeom>
          <a:solidFill>
            <a:srgbClr val="DFF3E3"/>
          </a:solidFill>
          <a:ln w="19050">
            <a:solidFill>
              <a:srgbClr val="2F9E44"/>
            </a:solidFill>
            <a:prstDash val="solid"/>
          </a:ln>
        </p:spPr>
      </p:sp>
      <p:sp>
        <p:nvSpPr>
          <p:cNvPr id="5" name="Text 3"/>
          <p:cNvSpPr/>
          <p:nvPr/>
        </p:nvSpPr>
        <p:spPr>
          <a:xfrm>
            <a:off x="960120" y="1874520"/>
            <a:ext cx="4572000" cy="365760"/>
          </a:xfrm>
          <a:prstGeom prst="rect">
            <a:avLst/>
          </a:prstGeom>
          <a:noFill/>
          <a:ln/>
        </p:spPr>
        <p:txBody>
          <a:bodyPr wrap="square" lIns="0" tIns="0" rIns="0" bIns="0" rtlCol="0" anchor="ctr"/>
          <a:lstStyle/>
          <a:p>
            <a:pPr indent="0" marL="0">
              <a:buNone/>
            </a:pPr>
            <a:r>
              <a:rPr lang="en-US" sz="1700" b="1" dirty="0">
                <a:solidFill>
                  <a:srgbClr val="2F9E44"/>
                </a:solidFill>
                <a:latin typeface="Cambria" pitchFamily="34" charset="0"/>
                <a:ea typeface="Cambria" pitchFamily="34" charset="-122"/>
                <a:cs typeface="Cambria" pitchFamily="34" charset="-120"/>
              </a:rPr>
              <a:t>Scrape succeeded</a:t>
            </a:r>
            <a:endParaRPr lang="en-US" sz="1700" dirty="0"/>
          </a:p>
        </p:txBody>
      </p:sp>
      <p:sp>
        <p:nvSpPr>
          <p:cNvPr id="6" name="Shape 4"/>
          <p:cNvSpPr/>
          <p:nvPr/>
        </p:nvSpPr>
        <p:spPr>
          <a:xfrm>
            <a:off x="960120" y="2331720"/>
            <a:ext cx="4617720" cy="658368"/>
          </a:xfrm>
          <a:prstGeom prst="roundRect">
            <a:avLst>
              <a:gd name="adj" fmla="val 6944"/>
            </a:avLst>
          </a:prstGeom>
          <a:solidFill>
            <a:srgbClr val="F4F6F9"/>
          </a:solidFill>
          <a:ln w="12700">
            <a:solidFill>
              <a:srgbClr val="D8DCE3"/>
            </a:solidFill>
            <a:prstDash val="solid"/>
          </a:ln>
        </p:spPr>
      </p:sp>
      <p:sp>
        <p:nvSpPr>
          <p:cNvPr id="7" name="Text 5"/>
          <p:cNvSpPr/>
          <p:nvPr/>
        </p:nvSpPr>
        <p:spPr>
          <a:xfrm>
            <a:off x="1124712" y="2441448"/>
            <a:ext cx="4288536" cy="438912"/>
          </a:xfrm>
          <a:prstGeom prst="rect">
            <a:avLst/>
          </a:prstGeom>
          <a:noFill/>
          <a:ln/>
        </p:spPr>
        <p:txBody>
          <a:bodyPr wrap="square" lIns="0" tIns="0" rIns="0" bIns="0" rtlCol="0" anchor="t"/>
          <a:lstStyle/>
          <a:p>
            <a:pPr indent="0" marL="0">
              <a:buNone/>
            </a:pPr>
            <a:r>
              <a:rPr lang="en-US" sz="1300" dirty="0">
                <a:solidFill>
                  <a:srgbClr val="3D4351"/>
                </a:solidFill>
                <a:latin typeface="Courier New" pitchFamily="34" charset="0"/>
                <a:ea typeface="Courier New" pitchFamily="34" charset="-122"/>
                <a:cs typeface="Courier New" pitchFamily="34" charset="-120"/>
              </a:rPr>
              <a:t>up{instance="10.0.1.7:9100"} = 1</a:t>
            </a:r>
            <a:endParaRPr lang="en-US" sz="1300" dirty="0"/>
          </a:p>
        </p:txBody>
      </p:sp>
      <p:sp>
        <p:nvSpPr>
          <p:cNvPr id="8" name="Shape 6"/>
          <p:cNvSpPr/>
          <p:nvPr/>
        </p:nvSpPr>
        <p:spPr>
          <a:xfrm>
            <a:off x="6263640" y="1645920"/>
            <a:ext cx="5257800" cy="1600200"/>
          </a:xfrm>
          <a:prstGeom prst="roundRect">
            <a:avLst>
              <a:gd name="adj" fmla="val 4571"/>
            </a:avLst>
          </a:prstGeom>
          <a:solidFill>
            <a:srgbClr val="FBE0E0"/>
          </a:solidFill>
          <a:ln w="19050">
            <a:solidFill>
              <a:srgbClr val="C92A2A"/>
            </a:solidFill>
            <a:prstDash val="solid"/>
          </a:ln>
        </p:spPr>
      </p:sp>
      <p:sp>
        <p:nvSpPr>
          <p:cNvPr id="9" name="Text 7"/>
          <p:cNvSpPr/>
          <p:nvPr/>
        </p:nvSpPr>
        <p:spPr>
          <a:xfrm>
            <a:off x="6583680" y="1874520"/>
            <a:ext cx="4572000" cy="365760"/>
          </a:xfrm>
          <a:prstGeom prst="rect">
            <a:avLst/>
          </a:prstGeom>
          <a:noFill/>
          <a:ln/>
        </p:spPr>
        <p:txBody>
          <a:bodyPr wrap="square" lIns="0" tIns="0" rIns="0" bIns="0" rtlCol="0" anchor="ctr"/>
          <a:lstStyle/>
          <a:p>
            <a:pPr indent="0" marL="0">
              <a:buNone/>
            </a:pPr>
            <a:r>
              <a:rPr lang="en-US" sz="1700" b="1" dirty="0">
                <a:solidFill>
                  <a:srgbClr val="C92A2A"/>
                </a:solidFill>
                <a:latin typeface="Cambria" pitchFamily="34" charset="0"/>
                <a:ea typeface="Cambria" pitchFamily="34" charset="-122"/>
                <a:cs typeface="Cambria" pitchFamily="34" charset="-120"/>
              </a:rPr>
              <a:t>Scrape failed</a:t>
            </a:r>
            <a:endParaRPr lang="en-US" sz="1700" dirty="0"/>
          </a:p>
        </p:txBody>
      </p:sp>
      <p:sp>
        <p:nvSpPr>
          <p:cNvPr id="10" name="Shape 8"/>
          <p:cNvSpPr/>
          <p:nvPr/>
        </p:nvSpPr>
        <p:spPr>
          <a:xfrm>
            <a:off x="6583680" y="2331720"/>
            <a:ext cx="4617720" cy="658368"/>
          </a:xfrm>
          <a:prstGeom prst="roundRect">
            <a:avLst>
              <a:gd name="adj" fmla="val 6944"/>
            </a:avLst>
          </a:prstGeom>
          <a:solidFill>
            <a:srgbClr val="F4F6F9"/>
          </a:solidFill>
          <a:ln w="12700">
            <a:solidFill>
              <a:srgbClr val="D8DCE3"/>
            </a:solidFill>
            <a:prstDash val="solid"/>
          </a:ln>
        </p:spPr>
      </p:sp>
      <p:sp>
        <p:nvSpPr>
          <p:cNvPr id="11" name="Text 9"/>
          <p:cNvSpPr/>
          <p:nvPr/>
        </p:nvSpPr>
        <p:spPr>
          <a:xfrm>
            <a:off x="6748272" y="2441448"/>
            <a:ext cx="4288536" cy="438912"/>
          </a:xfrm>
          <a:prstGeom prst="rect">
            <a:avLst/>
          </a:prstGeom>
          <a:noFill/>
          <a:ln/>
        </p:spPr>
        <p:txBody>
          <a:bodyPr wrap="square" lIns="0" tIns="0" rIns="0" bIns="0" rtlCol="0" anchor="t"/>
          <a:lstStyle/>
          <a:p>
            <a:pPr indent="0" marL="0">
              <a:buNone/>
            </a:pPr>
            <a:r>
              <a:rPr lang="en-US" sz="1300" dirty="0">
                <a:solidFill>
                  <a:srgbClr val="3D4351"/>
                </a:solidFill>
                <a:latin typeface="Courier New" pitchFamily="34" charset="0"/>
                <a:ea typeface="Courier New" pitchFamily="34" charset="-122"/>
                <a:cs typeface="Courier New" pitchFamily="34" charset="-120"/>
              </a:rPr>
              <a:t>up{instance="10.0.1.7:9100"} = 0</a:t>
            </a:r>
            <a:endParaRPr lang="en-US" sz="1300" dirty="0"/>
          </a:p>
        </p:txBody>
      </p:sp>
      <p:sp>
        <p:nvSpPr>
          <p:cNvPr id="12" name="Text 10"/>
          <p:cNvSpPr/>
          <p:nvPr/>
        </p:nvSpPr>
        <p:spPr>
          <a:xfrm>
            <a:off x="640080" y="3520440"/>
            <a:ext cx="10881360" cy="411480"/>
          </a:xfrm>
          <a:prstGeom prst="rect">
            <a:avLst/>
          </a:prstGeom>
          <a:noFill/>
          <a:ln/>
        </p:spPr>
        <p:txBody>
          <a:bodyPr wrap="square" lIns="0" tIns="0" rIns="0" bIns="0" rtlCol="0" anchor="ctr"/>
          <a:lstStyle/>
          <a:p>
            <a:pPr indent="0" marL="0">
              <a:buNone/>
            </a:pPr>
            <a:r>
              <a:rPr lang="en-US" sz="1900" b="1" dirty="0">
                <a:solidFill>
                  <a:srgbClr val="1A1D26"/>
                </a:solidFill>
                <a:latin typeface="Cambria" pitchFamily="34" charset="0"/>
                <a:ea typeface="Cambria" pitchFamily="34" charset="-122"/>
                <a:cs typeface="Cambria" pitchFamily="34" charset="-120"/>
              </a:rPr>
              <a:t>So "this target is down" is an ordinary time series.</a:t>
            </a:r>
            <a:endParaRPr lang="en-US" sz="1900" dirty="0"/>
          </a:p>
        </p:txBody>
      </p:sp>
      <p:sp>
        <p:nvSpPr>
          <p:cNvPr id="13" name="Text 11"/>
          <p:cNvSpPr/>
          <p:nvPr/>
        </p:nvSpPr>
        <p:spPr>
          <a:xfrm>
            <a:off x="640080" y="3977640"/>
            <a:ext cx="10881360" cy="640080"/>
          </a:xfrm>
          <a:prstGeom prst="rect">
            <a:avLst/>
          </a:prstGeom>
          <a:noFill/>
          <a:ln/>
        </p:spPr>
        <p:txBody>
          <a:bodyPr wrap="square" lIns="0" tIns="0" rIns="0" bIns="0" rtlCol="0" anchor="ctr"/>
          <a:lstStyle/>
          <a:p>
            <a:pPr indent="0" marL="0">
              <a:lnSpc>
                <a:spcPts val="2100"/>
              </a:lnSpc>
              <a:buNone/>
            </a:pPr>
            <a:r>
              <a:rPr lang="en-US" sz="1500" dirty="0">
                <a:solidFill>
                  <a:srgbClr val="3D4351"/>
                </a:solidFill>
                <a:latin typeface="Calibri" pitchFamily="34" charset="0"/>
                <a:ea typeface="Calibri" pitchFamily="34" charset="-122"/>
                <a:cs typeface="Calibri" pitchFamily="34" charset="-120"/>
              </a:rPr>
              <a:t>You can graph it, query it and alert on it exactly like CPU or memory. In a push system you have to infer failure from missing data, which is far harder to reason about.</a:t>
            </a:r>
            <a:endParaRPr lang="en-US" sz="1500" dirty="0"/>
          </a:p>
        </p:txBody>
      </p:sp>
      <p:sp>
        <p:nvSpPr>
          <p:cNvPr id="14" name="Shape 12"/>
          <p:cNvSpPr/>
          <p:nvPr/>
        </p:nvSpPr>
        <p:spPr>
          <a:xfrm>
            <a:off x="640080" y="4846320"/>
            <a:ext cx="10881360" cy="1234440"/>
          </a:xfrm>
          <a:prstGeom prst="roundRect">
            <a:avLst>
              <a:gd name="adj" fmla="val 5926"/>
            </a:avLst>
          </a:prstGeom>
          <a:solidFill>
            <a:srgbClr val="FFE8D6"/>
          </a:solidFill>
          <a:ln w="19050">
            <a:solidFill>
              <a:srgbClr val="E8590C"/>
            </a:solidFill>
            <a:prstDash val="solid"/>
          </a:ln>
        </p:spPr>
      </p:sp>
      <p:sp>
        <p:nvSpPr>
          <p:cNvPr id="15" name="Text 13"/>
          <p:cNvSpPr/>
          <p:nvPr/>
        </p:nvSpPr>
        <p:spPr>
          <a:xfrm>
            <a:off x="1005840" y="5029200"/>
            <a:ext cx="10149840" cy="320040"/>
          </a:xfrm>
          <a:prstGeom prst="rect">
            <a:avLst/>
          </a:prstGeom>
          <a:noFill/>
          <a:ln/>
        </p:spPr>
        <p:txBody>
          <a:bodyPr wrap="square" lIns="0" tIns="0" rIns="0" bIns="0" rtlCol="0" anchor="ctr"/>
          <a:lstStyle/>
          <a:p>
            <a:pPr indent="0" marL="0">
              <a:buNone/>
            </a:pPr>
            <a:r>
              <a:rPr lang="en-US" sz="1400" dirty="0">
                <a:solidFill>
                  <a:srgbClr val="3D4351"/>
                </a:solidFill>
                <a:latin typeface="Calibri" pitchFamily="34" charset="0"/>
                <a:ea typeface="Calibri" pitchFamily="34" charset="-122"/>
                <a:cs typeface="Calibri" pitchFamily="34" charset="-120"/>
              </a:rPr>
              <a:t>Most basic availability alerting in the world is built on one expression</a:t>
            </a:r>
            <a:endParaRPr lang="en-US" sz="1400" dirty="0"/>
          </a:p>
        </p:txBody>
      </p:sp>
      <p:sp>
        <p:nvSpPr>
          <p:cNvPr id="16" name="Text 14"/>
          <p:cNvSpPr/>
          <p:nvPr/>
        </p:nvSpPr>
        <p:spPr>
          <a:xfrm>
            <a:off x="1005840" y="5349240"/>
            <a:ext cx="10149840" cy="502920"/>
          </a:xfrm>
          <a:prstGeom prst="rect">
            <a:avLst/>
          </a:prstGeom>
          <a:noFill/>
          <a:ln/>
        </p:spPr>
        <p:txBody>
          <a:bodyPr wrap="square" lIns="0" tIns="0" rIns="0" bIns="0" rtlCol="0" anchor="ctr"/>
          <a:lstStyle/>
          <a:p>
            <a:pPr indent="0" marL="0">
              <a:buNone/>
            </a:pPr>
            <a:r>
              <a:rPr lang="en-US" sz="2600" b="1" dirty="0">
                <a:solidFill>
                  <a:srgbClr val="E8590C"/>
                </a:solidFill>
                <a:latin typeface="Courier New" pitchFamily="34" charset="0"/>
                <a:ea typeface="Courier New" pitchFamily="34" charset="-122"/>
                <a:cs typeface="Courier New" pitchFamily="34" charset="-120"/>
              </a:rPr>
              <a:t>up == 0</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FOUR PROPERTIES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Why pull suits Kubernetes</a:t>
            </a:r>
            <a:endParaRPr lang="en-US" sz="3400" dirty="0"/>
          </a:p>
        </p:txBody>
      </p:sp>
      <p:sp>
        <p:nvSpPr>
          <p:cNvPr id="4" name="Shape 2"/>
          <p:cNvSpPr/>
          <p:nvPr/>
        </p:nvSpPr>
        <p:spPr>
          <a:xfrm>
            <a:off x="640080" y="1691640"/>
            <a:ext cx="5257800" cy="1463040"/>
          </a:xfrm>
          <a:prstGeom prst="roundRect">
            <a:avLst>
              <a:gd name="adj" fmla="val 5000"/>
            </a:avLst>
          </a:prstGeom>
          <a:solidFill>
            <a:srgbClr val="FFE8D6"/>
          </a:solidFill>
          <a:ln w="19050">
            <a:solidFill>
              <a:srgbClr val="E8590C"/>
            </a:solidFill>
            <a:prstDash val="solid"/>
          </a:ln>
        </p:spPr>
      </p:sp>
      <p:sp>
        <p:nvSpPr>
          <p:cNvPr id="5" name="Shape 3"/>
          <p:cNvSpPr/>
          <p:nvPr/>
        </p:nvSpPr>
        <p:spPr>
          <a:xfrm>
            <a:off x="932688" y="1965960"/>
            <a:ext cx="457200" cy="457200"/>
          </a:xfrm>
          <a:prstGeom prst="ellipse">
            <a:avLst/>
          </a:prstGeom>
          <a:solidFill>
            <a:srgbClr val="E8590C"/>
          </a:solidFill>
          <a:ln w="12700">
            <a:solidFill>
              <a:srgbClr val="E8590C"/>
            </a:solidFill>
            <a:prstDash val="solid"/>
          </a:ln>
        </p:spPr>
      </p:sp>
      <p:sp>
        <p:nvSpPr>
          <p:cNvPr id="6" name="Text 4"/>
          <p:cNvSpPr/>
          <p:nvPr/>
        </p:nvSpPr>
        <p:spPr>
          <a:xfrm>
            <a:off x="932688"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36192" y="1929384"/>
            <a:ext cx="4114800" cy="347472"/>
          </a:xfrm>
          <a:prstGeom prst="rect">
            <a:avLst/>
          </a:prstGeom>
          <a:noFill/>
          <a:ln/>
        </p:spPr>
        <p:txBody>
          <a:bodyPr wrap="square" lIns="0" tIns="0" rIns="0" bIns="0" rtlCol="0" anchor="ctr"/>
          <a:lstStyle/>
          <a:p>
            <a:pPr indent="0" marL="0">
              <a:buNone/>
            </a:pPr>
            <a:r>
              <a:rPr lang="en-US" sz="1650" b="1" dirty="0">
                <a:solidFill>
                  <a:srgbClr val="1A1D26"/>
                </a:solidFill>
                <a:latin typeface="Cambria" pitchFamily="34" charset="0"/>
                <a:ea typeface="Cambria" pitchFamily="34" charset="-122"/>
                <a:cs typeface="Cambria" pitchFamily="34" charset="-120"/>
              </a:rPr>
              <a:t>Failure is a signal</a:t>
            </a:r>
            <a:endParaRPr lang="en-US" sz="1650" dirty="0"/>
          </a:p>
        </p:txBody>
      </p:sp>
      <p:sp>
        <p:nvSpPr>
          <p:cNvPr id="8" name="Text 6"/>
          <p:cNvSpPr/>
          <p:nvPr/>
        </p:nvSpPr>
        <p:spPr>
          <a:xfrm>
            <a:off x="1536192" y="2313432"/>
            <a:ext cx="4160520" cy="731520"/>
          </a:xfrm>
          <a:prstGeom prst="rect">
            <a:avLst/>
          </a:prstGeom>
          <a:noFill/>
          <a:ln/>
        </p:spPr>
        <p:txBody>
          <a:bodyPr wrap="square" lIns="0" tIns="0" rIns="0" bIns="0" rtlCol="0" anchor="ctr"/>
          <a:lstStyle/>
          <a:p>
            <a:pPr indent="0" marL="0">
              <a:lnSpc>
                <a:spcPts val="1600"/>
              </a:lnSpc>
              <a:buNone/>
            </a:pPr>
            <a:r>
              <a:rPr lang="en-US" sz="1250" dirty="0">
                <a:solidFill>
                  <a:srgbClr val="3D4351"/>
                </a:solidFill>
                <a:latin typeface="Calibri" pitchFamily="34" charset="0"/>
                <a:ea typeface="Calibri" pitchFamily="34" charset="-122"/>
                <a:cs typeface="Calibri" pitchFamily="34" charset="-120"/>
              </a:rPr>
              <a:t>up = 0 is recorded data, not an absence of data</a:t>
            </a:r>
            <a:endParaRPr lang="en-US" sz="1250" dirty="0"/>
          </a:p>
        </p:txBody>
      </p:sp>
      <p:sp>
        <p:nvSpPr>
          <p:cNvPr id="9" name="Shape 7"/>
          <p:cNvSpPr/>
          <p:nvPr/>
        </p:nvSpPr>
        <p:spPr>
          <a:xfrm>
            <a:off x="6263640" y="1691640"/>
            <a:ext cx="5257800" cy="1463040"/>
          </a:xfrm>
          <a:prstGeom prst="roundRect">
            <a:avLst>
              <a:gd name="adj" fmla="val 5000"/>
            </a:avLst>
          </a:prstGeom>
          <a:solidFill>
            <a:srgbClr val="DFF3E3"/>
          </a:solidFill>
          <a:ln w="19050">
            <a:solidFill>
              <a:srgbClr val="2F9E44"/>
            </a:solidFill>
            <a:prstDash val="solid"/>
          </a:ln>
        </p:spPr>
      </p:sp>
      <p:sp>
        <p:nvSpPr>
          <p:cNvPr id="10" name="Shape 8"/>
          <p:cNvSpPr/>
          <p:nvPr/>
        </p:nvSpPr>
        <p:spPr>
          <a:xfrm>
            <a:off x="6556248" y="1965960"/>
            <a:ext cx="457200" cy="457200"/>
          </a:xfrm>
          <a:prstGeom prst="ellipse">
            <a:avLst/>
          </a:prstGeom>
          <a:solidFill>
            <a:srgbClr val="2F9E44"/>
          </a:solidFill>
          <a:ln w="12700">
            <a:solidFill>
              <a:srgbClr val="2F9E44"/>
            </a:solidFill>
            <a:prstDash val="solid"/>
          </a:ln>
        </p:spPr>
      </p:sp>
      <p:sp>
        <p:nvSpPr>
          <p:cNvPr id="11" name="Text 9"/>
          <p:cNvSpPr/>
          <p:nvPr/>
        </p:nvSpPr>
        <p:spPr>
          <a:xfrm>
            <a:off x="6556248"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159752" y="1929384"/>
            <a:ext cx="4114800" cy="347472"/>
          </a:xfrm>
          <a:prstGeom prst="rect">
            <a:avLst/>
          </a:prstGeom>
          <a:noFill/>
          <a:ln/>
        </p:spPr>
        <p:txBody>
          <a:bodyPr wrap="square" lIns="0" tIns="0" rIns="0" bIns="0" rtlCol="0" anchor="ctr"/>
          <a:lstStyle/>
          <a:p>
            <a:pPr indent="0" marL="0">
              <a:buNone/>
            </a:pPr>
            <a:r>
              <a:rPr lang="en-US" sz="1650" b="1" dirty="0">
                <a:solidFill>
                  <a:srgbClr val="1A1D26"/>
                </a:solidFill>
                <a:latin typeface="Cambria" pitchFamily="34" charset="0"/>
                <a:ea typeface="Cambria" pitchFamily="34" charset="-122"/>
                <a:cs typeface="Cambria" pitchFamily="34" charset="-120"/>
              </a:rPr>
              <a:t>Prometheus controls load</a:t>
            </a:r>
            <a:endParaRPr lang="en-US" sz="1650" dirty="0"/>
          </a:p>
        </p:txBody>
      </p:sp>
      <p:sp>
        <p:nvSpPr>
          <p:cNvPr id="13" name="Text 11"/>
          <p:cNvSpPr/>
          <p:nvPr/>
        </p:nvSpPr>
        <p:spPr>
          <a:xfrm>
            <a:off x="7159752" y="2313432"/>
            <a:ext cx="4160520" cy="731520"/>
          </a:xfrm>
          <a:prstGeom prst="rect">
            <a:avLst/>
          </a:prstGeom>
          <a:noFill/>
          <a:ln/>
        </p:spPr>
        <p:txBody>
          <a:bodyPr wrap="square" lIns="0" tIns="0" rIns="0" bIns="0" rtlCol="0" anchor="ctr"/>
          <a:lstStyle/>
          <a:p>
            <a:pPr indent="0" marL="0">
              <a:lnSpc>
                <a:spcPts val="1600"/>
              </a:lnSpc>
              <a:buNone/>
            </a:pPr>
            <a:r>
              <a:rPr lang="en-US" sz="1250" dirty="0">
                <a:solidFill>
                  <a:srgbClr val="3D4351"/>
                </a:solidFill>
                <a:latin typeface="Calibri" pitchFamily="34" charset="0"/>
                <a:ea typeface="Calibri" pitchFamily="34" charset="-122"/>
                <a:cs typeface="Calibri" pitchFamily="34" charset="-120"/>
              </a:rPr>
              <a:t>The interval is set by Prometheus, not by a thousand pods</a:t>
            </a:r>
            <a:endParaRPr lang="en-US" sz="1250" dirty="0"/>
          </a:p>
        </p:txBody>
      </p:sp>
      <p:sp>
        <p:nvSpPr>
          <p:cNvPr id="14" name="Shape 12"/>
          <p:cNvSpPr/>
          <p:nvPr/>
        </p:nvSpPr>
        <p:spPr>
          <a:xfrm>
            <a:off x="640080" y="3383280"/>
            <a:ext cx="5257800" cy="1463040"/>
          </a:xfrm>
          <a:prstGeom prst="roundRect">
            <a:avLst>
              <a:gd name="adj" fmla="val 5000"/>
            </a:avLst>
          </a:prstGeom>
          <a:solidFill>
            <a:srgbClr val="E9E2FB"/>
          </a:solidFill>
          <a:ln w="19050">
            <a:solidFill>
              <a:srgbClr val="6741D9"/>
            </a:solidFill>
            <a:prstDash val="solid"/>
          </a:ln>
        </p:spPr>
      </p:sp>
      <p:sp>
        <p:nvSpPr>
          <p:cNvPr id="15" name="Shape 13"/>
          <p:cNvSpPr/>
          <p:nvPr/>
        </p:nvSpPr>
        <p:spPr>
          <a:xfrm>
            <a:off x="932688" y="3657600"/>
            <a:ext cx="457200" cy="457200"/>
          </a:xfrm>
          <a:prstGeom prst="ellipse">
            <a:avLst/>
          </a:prstGeom>
          <a:solidFill>
            <a:srgbClr val="6741D9"/>
          </a:solidFill>
          <a:ln w="12700">
            <a:solidFill>
              <a:srgbClr val="6741D9"/>
            </a:solidFill>
            <a:prstDash val="solid"/>
          </a:ln>
        </p:spPr>
      </p:sp>
      <p:sp>
        <p:nvSpPr>
          <p:cNvPr id="16" name="Text 14"/>
          <p:cNvSpPr/>
          <p:nvPr/>
        </p:nvSpPr>
        <p:spPr>
          <a:xfrm>
            <a:off x="932688" y="3657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536192" y="3621024"/>
            <a:ext cx="4114800" cy="347472"/>
          </a:xfrm>
          <a:prstGeom prst="rect">
            <a:avLst/>
          </a:prstGeom>
          <a:noFill/>
          <a:ln/>
        </p:spPr>
        <p:txBody>
          <a:bodyPr wrap="square" lIns="0" tIns="0" rIns="0" bIns="0" rtlCol="0" anchor="ctr"/>
          <a:lstStyle/>
          <a:p>
            <a:pPr indent="0" marL="0">
              <a:buNone/>
            </a:pPr>
            <a:r>
              <a:rPr lang="en-US" sz="1650" b="1" dirty="0">
                <a:solidFill>
                  <a:srgbClr val="1A1D26"/>
                </a:solidFill>
                <a:latin typeface="Cambria" pitchFamily="34" charset="0"/>
                <a:ea typeface="Cambria" pitchFamily="34" charset="-122"/>
                <a:cs typeface="Cambria" pitchFamily="34" charset="-120"/>
              </a:rPr>
              <a:t>Targets are discovered</a:t>
            </a:r>
            <a:endParaRPr lang="en-US" sz="1650" dirty="0"/>
          </a:p>
        </p:txBody>
      </p:sp>
      <p:sp>
        <p:nvSpPr>
          <p:cNvPr id="18" name="Text 16"/>
          <p:cNvSpPr/>
          <p:nvPr/>
        </p:nvSpPr>
        <p:spPr>
          <a:xfrm>
            <a:off x="1536192" y="4005072"/>
            <a:ext cx="4160520" cy="731520"/>
          </a:xfrm>
          <a:prstGeom prst="rect">
            <a:avLst/>
          </a:prstGeom>
          <a:noFill/>
          <a:ln/>
        </p:spPr>
        <p:txBody>
          <a:bodyPr wrap="square" lIns="0" tIns="0" rIns="0" bIns="0" rtlCol="0" anchor="ctr"/>
          <a:lstStyle/>
          <a:p>
            <a:pPr indent="0" marL="0">
              <a:lnSpc>
                <a:spcPts val="1600"/>
              </a:lnSpc>
              <a:buNone/>
            </a:pPr>
            <a:r>
              <a:rPr lang="en-US" sz="1250" dirty="0">
                <a:solidFill>
                  <a:srgbClr val="3D4351"/>
                </a:solidFill>
                <a:latin typeface="Calibri" pitchFamily="34" charset="0"/>
                <a:ea typeface="Calibri" pitchFamily="34" charset="-122"/>
                <a:cs typeface="Calibri" pitchFamily="34" charset="-120"/>
              </a:rPr>
              <a:t>Pods appear and vanish with unpredictable names and IPs.</a:t>
            </a:r>
            <a:endParaRPr lang="en-US" sz="1250" dirty="0"/>
          </a:p>
          <a:p>
            <a:pPr indent="0" marL="0">
              <a:lnSpc>
                <a:spcPts val="1600"/>
              </a:lnSpc>
              <a:buNone/>
            </a:pPr>
            <a:r>
              <a:rPr lang="en-US" sz="1250" dirty="0">
                <a:solidFill>
                  <a:srgbClr val="3D4351"/>
                </a:solidFill>
                <a:latin typeface="Calibri" pitchFamily="34" charset="0"/>
                <a:ea typeface="Calibri" pitchFamily="34" charset="-122"/>
                <a:cs typeface="Calibri" pitchFamily="34" charset="-120"/>
              </a:rPr>
              <a:t>Prometheus asks the Kubernetes API what exists right now</a:t>
            </a:r>
            <a:endParaRPr lang="en-US" sz="1250" dirty="0"/>
          </a:p>
        </p:txBody>
      </p:sp>
      <p:sp>
        <p:nvSpPr>
          <p:cNvPr id="19" name="Shape 17"/>
          <p:cNvSpPr/>
          <p:nvPr/>
        </p:nvSpPr>
        <p:spPr>
          <a:xfrm>
            <a:off x="6263640" y="3383280"/>
            <a:ext cx="5257800" cy="1463040"/>
          </a:xfrm>
          <a:prstGeom prst="roundRect">
            <a:avLst>
              <a:gd name="adj" fmla="val 5000"/>
            </a:avLst>
          </a:prstGeom>
          <a:solidFill>
            <a:srgbClr val="DCEBFA"/>
          </a:solidFill>
          <a:ln w="19050">
            <a:solidFill>
              <a:srgbClr val="1971C2"/>
            </a:solidFill>
            <a:prstDash val="solid"/>
          </a:ln>
        </p:spPr>
      </p:sp>
      <p:sp>
        <p:nvSpPr>
          <p:cNvPr id="20" name="Shape 18"/>
          <p:cNvSpPr/>
          <p:nvPr/>
        </p:nvSpPr>
        <p:spPr>
          <a:xfrm>
            <a:off x="6556248" y="3657600"/>
            <a:ext cx="457200" cy="457200"/>
          </a:xfrm>
          <a:prstGeom prst="ellipse">
            <a:avLst/>
          </a:prstGeom>
          <a:solidFill>
            <a:srgbClr val="1971C2"/>
          </a:solidFill>
          <a:ln w="12700">
            <a:solidFill>
              <a:srgbClr val="1971C2"/>
            </a:solidFill>
            <a:prstDash val="solid"/>
          </a:ln>
        </p:spPr>
      </p:sp>
      <p:sp>
        <p:nvSpPr>
          <p:cNvPr id="21" name="Text 19"/>
          <p:cNvSpPr/>
          <p:nvPr/>
        </p:nvSpPr>
        <p:spPr>
          <a:xfrm>
            <a:off x="6556248" y="3657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159752" y="3621024"/>
            <a:ext cx="4114800" cy="347472"/>
          </a:xfrm>
          <a:prstGeom prst="rect">
            <a:avLst/>
          </a:prstGeom>
          <a:noFill/>
          <a:ln/>
        </p:spPr>
        <p:txBody>
          <a:bodyPr wrap="square" lIns="0" tIns="0" rIns="0" bIns="0" rtlCol="0" anchor="ctr"/>
          <a:lstStyle/>
          <a:p>
            <a:pPr indent="0" marL="0">
              <a:buNone/>
            </a:pPr>
            <a:r>
              <a:rPr lang="en-US" sz="1650" b="1" dirty="0">
                <a:solidFill>
                  <a:srgbClr val="1A1D26"/>
                </a:solidFill>
                <a:latin typeface="Cambria" pitchFamily="34" charset="0"/>
                <a:ea typeface="Cambria" pitchFamily="34" charset="-122"/>
                <a:cs typeface="Cambria" pitchFamily="34" charset="-120"/>
              </a:rPr>
              <a:t>Applications stay simple</a:t>
            </a:r>
            <a:endParaRPr lang="en-US" sz="1650" dirty="0"/>
          </a:p>
        </p:txBody>
      </p:sp>
      <p:sp>
        <p:nvSpPr>
          <p:cNvPr id="23" name="Text 21"/>
          <p:cNvSpPr/>
          <p:nvPr/>
        </p:nvSpPr>
        <p:spPr>
          <a:xfrm>
            <a:off x="7159752" y="4005072"/>
            <a:ext cx="4160520" cy="731520"/>
          </a:xfrm>
          <a:prstGeom prst="rect">
            <a:avLst/>
          </a:prstGeom>
          <a:noFill/>
          <a:ln/>
        </p:spPr>
        <p:txBody>
          <a:bodyPr wrap="square" lIns="0" tIns="0" rIns="0" bIns="0" rtlCol="0" anchor="ctr"/>
          <a:lstStyle/>
          <a:p>
            <a:pPr indent="0" marL="0">
              <a:lnSpc>
                <a:spcPts val="1600"/>
              </a:lnSpc>
              <a:buNone/>
            </a:pPr>
            <a:r>
              <a:rPr lang="en-US" sz="1250" dirty="0">
                <a:solidFill>
                  <a:srgbClr val="3D4351"/>
                </a:solidFill>
                <a:latin typeface="Calibri" pitchFamily="34" charset="0"/>
                <a:ea typeface="Calibri" pitchFamily="34" charset="-122"/>
                <a:cs typeface="Calibri" pitchFamily="34" charset="-120"/>
              </a:rPr>
              <a:t>No queue, no retries, no knowledge of where Prometheus lives</a:t>
            </a:r>
            <a:endParaRPr lang="en-US" sz="1250" dirty="0"/>
          </a:p>
        </p:txBody>
      </p:sp>
      <p:sp>
        <p:nvSpPr>
          <p:cNvPr id="24" name="Shape 22"/>
          <p:cNvSpPr/>
          <p:nvPr/>
        </p:nvSpPr>
        <p:spPr>
          <a:xfrm>
            <a:off x="640080" y="5212080"/>
            <a:ext cx="10881360" cy="1051560"/>
          </a:xfrm>
          <a:prstGeom prst="roundRect">
            <a:avLst>
              <a:gd name="adj" fmla="val 6957"/>
            </a:avLst>
          </a:prstGeom>
          <a:solidFill>
            <a:srgbClr val="F4F6F9"/>
          </a:solidFill>
          <a:ln w="19050">
            <a:solidFill>
              <a:srgbClr val="6B7280"/>
            </a:solidFill>
            <a:prstDash val="solid"/>
          </a:ln>
        </p:spPr>
      </p:sp>
      <p:sp>
        <p:nvSpPr>
          <p:cNvPr id="25" name="Text 23"/>
          <p:cNvSpPr/>
          <p:nvPr/>
        </p:nvSpPr>
        <p:spPr>
          <a:xfrm>
            <a:off x="1005840" y="5376672"/>
            <a:ext cx="3657600" cy="292608"/>
          </a:xfrm>
          <a:prstGeom prst="rect">
            <a:avLst/>
          </a:prstGeom>
          <a:noFill/>
          <a:ln/>
        </p:spPr>
        <p:txBody>
          <a:bodyPr wrap="square" lIns="0" tIns="0" rIns="0" bIns="0" rtlCol="0" anchor="ctr"/>
          <a:lstStyle/>
          <a:p>
            <a:pPr indent="0" marL="0">
              <a:buNone/>
            </a:pPr>
            <a:r>
              <a:rPr lang="en-US" sz="1400" b="1" dirty="0">
                <a:solidFill>
                  <a:srgbClr val="1A1D26"/>
                </a:solidFill>
                <a:latin typeface="Calibri" pitchFamily="34" charset="0"/>
                <a:ea typeface="Calibri" pitchFamily="34" charset="-122"/>
                <a:cs typeface="Calibri" pitchFamily="34" charset="-120"/>
              </a:rPr>
              <a:t>The honest trade-off</a:t>
            </a:r>
            <a:endParaRPr lang="en-US" sz="1400" dirty="0"/>
          </a:p>
        </p:txBody>
      </p:sp>
      <p:sp>
        <p:nvSpPr>
          <p:cNvPr id="26" name="Text 24"/>
          <p:cNvSpPr/>
          <p:nvPr/>
        </p:nvSpPr>
        <p:spPr>
          <a:xfrm>
            <a:off x="1005840" y="5669280"/>
            <a:ext cx="10149840" cy="411480"/>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Pull needs network reachability to every target, and a batch job may finish before any scrape happens. Pushgateway covers that case. It is a deliberate exception, not the normal path.</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CORE COMPONENTS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What the stack is made of</a:t>
            </a:r>
            <a:endParaRPr lang="en-US" sz="3400" dirty="0"/>
          </a:p>
        </p:txBody>
      </p:sp>
      <p:sp>
        <p:nvSpPr>
          <p:cNvPr id="4" name="Shape 2"/>
          <p:cNvSpPr/>
          <p:nvPr/>
        </p:nvSpPr>
        <p:spPr>
          <a:xfrm>
            <a:off x="640080" y="1691640"/>
            <a:ext cx="5257800" cy="1920240"/>
          </a:xfrm>
          <a:prstGeom prst="roundRect">
            <a:avLst>
              <a:gd name="adj" fmla="val 3810"/>
            </a:avLst>
          </a:prstGeom>
          <a:solidFill>
            <a:srgbClr val="FFE8D6"/>
          </a:solidFill>
          <a:ln w="19050">
            <a:solidFill>
              <a:srgbClr val="E8590C"/>
            </a:solidFill>
            <a:prstDash val="solid"/>
          </a:ln>
        </p:spPr>
      </p:sp>
      <p:sp>
        <p:nvSpPr>
          <p:cNvPr id="5" name="Text 3"/>
          <p:cNvSpPr/>
          <p:nvPr/>
        </p:nvSpPr>
        <p:spPr>
          <a:xfrm>
            <a:off x="1005840" y="1920240"/>
            <a:ext cx="4572000" cy="384048"/>
          </a:xfrm>
          <a:prstGeom prst="rect">
            <a:avLst/>
          </a:prstGeom>
          <a:noFill/>
          <a:ln/>
        </p:spPr>
        <p:txBody>
          <a:bodyPr wrap="square" lIns="0" tIns="0" rIns="0" bIns="0" rtlCol="0" anchor="ctr"/>
          <a:lstStyle/>
          <a:p>
            <a:pPr indent="0" marL="0">
              <a:buNone/>
            </a:pPr>
            <a:r>
              <a:rPr lang="en-US" sz="1800" b="1" spc="50" kern="0" dirty="0">
                <a:solidFill>
                  <a:srgbClr val="E8590C"/>
                </a:solidFill>
                <a:latin typeface="Cambria" pitchFamily="34" charset="0"/>
                <a:ea typeface="Cambria" pitchFamily="34" charset="-122"/>
                <a:cs typeface="Cambria" pitchFamily="34" charset="-120"/>
              </a:rPr>
              <a:t>PROMETHEUS SERVER</a:t>
            </a:r>
            <a:endParaRPr lang="en-US" sz="1800" dirty="0"/>
          </a:p>
        </p:txBody>
      </p:sp>
      <p:sp>
        <p:nvSpPr>
          <p:cNvPr id="6" name="Text 4"/>
          <p:cNvSpPr/>
          <p:nvPr/>
        </p:nvSpPr>
        <p:spPr>
          <a:xfrm>
            <a:off x="1005840" y="2404872"/>
            <a:ext cx="4572000" cy="105156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Scrapes targets on a schedule</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Stores samples in a local TSDB</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Evaluates alerting rules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CORE COMPONENTS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What the stack is made of</a:t>
            </a:r>
            <a:endParaRPr lang="en-US" sz="3400" dirty="0"/>
          </a:p>
        </p:txBody>
      </p:sp>
      <p:sp>
        <p:nvSpPr>
          <p:cNvPr id="4" name="Shape 2"/>
          <p:cNvSpPr/>
          <p:nvPr/>
        </p:nvSpPr>
        <p:spPr>
          <a:xfrm>
            <a:off x="640080" y="1691640"/>
            <a:ext cx="5257800" cy="1920240"/>
          </a:xfrm>
          <a:prstGeom prst="roundRect">
            <a:avLst>
              <a:gd name="adj" fmla="val 3810"/>
            </a:avLst>
          </a:prstGeom>
          <a:solidFill>
            <a:srgbClr val="FFE8D6"/>
          </a:solidFill>
          <a:ln w="19050">
            <a:solidFill>
              <a:srgbClr val="E8590C"/>
            </a:solidFill>
            <a:prstDash val="solid"/>
          </a:ln>
        </p:spPr>
      </p:sp>
      <p:sp>
        <p:nvSpPr>
          <p:cNvPr id="5" name="Text 3"/>
          <p:cNvSpPr/>
          <p:nvPr/>
        </p:nvSpPr>
        <p:spPr>
          <a:xfrm>
            <a:off x="1005840" y="1920240"/>
            <a:ext cx="4572000" cy="384048"/>
          </a:xfrm>
          <a:prstGeom prst="rect">
            <a:avLst/>
          </a:prstGeom>
          <a:noFill/>
          <a:ln/>
        </p:spPr>
        <p:txBody>
          <a:bodyPr wrap="square" lIns="0" tIns="0" rIns="0" bIns="0" rtlCol="0" anchor="ctr"/>
          <a:lstStyle/>
          <a:p>
            <a:pPr indent="0" marL="0">
              <a:buNone/>
            </a:pPr>
            <a:r>
              <a:rPr lang="en-US" sz="1800" b="1" spc="50" kern="0" dirty="0">
                <a:solidFill>
                  <a:srgbClr val="E8590C"/>
                </a:solidFill>
                <a:latin typeface="Cambria" pitchFamily="34" charset="0"/>
                <a:ea typeface="Cambria" pitchFamily="34" charset="-122"/>
                <a:cs typeface="Cambria" pitchFamily="34" charset="-120"/>
              </a:rPr>
              <a:t>PROMETHEUS SERVER</a:t>
            </a:r>
            <a:endParaRPr lang="en-US" sz="1800" dirty="0"/>
          </a:p>
        </p:txBody>
      </p:sp>
      <p:sp>
        <p:nvSpPr>
          <p:cNvPr id="6" name="Text 4"/>
          <p:cNvSpPr/>
          <p:nvPr/>
        </p:nvSpPr>
        <p:spPr>
          <a:xfrm>
            <a:off x="1005840" y="2404872"/>
            <a:ext cx="4572000" cy="105156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Scrapes targets on a schedule</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Stores samples in a local TSDB</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Evaluates alerting rules</a:t>
            </a:r>
            <a:endParaRPr lang="en-US" sz="1400" dirty="0"/>
          </a:p>
        </p:txBody>
      </p:sp>
      <p:sp>
        <p:nvSpPr>
          <p:cNvPr id="7" name="Shape 5"/>
          <p:cNvSpPr/>
          <p:nvPr/>
        </p:nvSpPr>
        <p:spPr>
          <a:xfrm>
            <a:off x="6263640" y="1691640"/>
            <a:ext cx="5257800" cy="1920240"/>
          </a:xfrm>
          <a:prstGeom prst="roundRect">
            <a:avLst>
              <a:gd name="adj" fmla="val 3810"/>
            </a:avLst>
          </a:prstGeom>
          <a:solidFill>
            <a:srgbClr val="DFF3E3"/>
          </a:solidFill>
          <a:ln w="19050">
            <a:solidFill>
              <a:srgbClr val="2F9E44"/>
            </a:solidFill>
            <a:prstDash val="solid"/>
          </a:ln>
        </p:spPr>
      </p:sp>
      <p:sp>
        <p:nvSpPr>
          <p:cNvPr id="8" name="Text 6"/>
          <p:cNvSpPr/>
          <p:nvPr/>
        </p:nvSpPr>
        <p:spPr>
          <a:xfrm>
            <a:off x="6629400" y="1920240"/>
            <a:ext cx="4572000" cy="384048"/>
          </a:xfrm>
          <a:prstGeom prst="rect">
            <a:avLst/>
          </a:prstGeom>
          <a:noFill/>
          <a:ln/>
        </p:spPr>
        <p:txBody>
          <a:bodyPr wrap="square" lIns="0" tIns="0" rIns="0" bIns="0" rtlCol="0" anchor="ctr"/>
          <a:lstStyle/>
          <a:p>
            <a:pPr indent="0" marL="0">
              <a:buNone/>
            </a:pPr>
            <a:r>
              <a:rPr lang="en-US" sz="1800" b="1" spc="50" kern="0" dirty="0">
                <a:solidFill>
                  <a:srgbClr val="2F9E44"/>
                </a:solidFill>
                <a:latin typeface="Cambria" pitchFamily="34" charset="0"/>
                <a:ea typeface="Cambria" pitchFamily="34" charset="-122"/>
                <a:cs typeface="Cambria" pitchFamily="34" charset="-120"/>
              </a:rPr>
              <a:t>EXPORTERS</a:t>
            </a:r>
            <a:endParaRPr lang="en-US" sz="1800" dirty="0"/>
          </a:p>
        </p:txBody>
      </p:sp>
      <p:sp>
        <p:nvSpPr>
          <p:cNvPr id="9" name="Text 7"/>
          <p:cNvSpPr/>
          <p:nvPr/>
        </p:nvSpPr>
        <p:spPr>
          <a:xfrm>
            <a:off x="6629400" y="2404872"/>
            <a:ext cx="4572000" cy="105156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node-exporter: the machine</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kube-state-metrics: the API objects</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blackbox-exporter: external probes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CORE COMPONENTS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What the stack is made of</a:t>
            </a:r>
            <a:endParaRPr lang="en-US" sz="3400" dirty="0"/>
          </a:p>
        </p:txBody>
      </p:sp>
      <p:sp>
        <p:nvSpPr>
          <p:cNvPr id="4" name="Shape 2"/>
          <p:cNvSpPr/>
          <p:nvPr/>
        </p:nvSpPr>
        <p:spPr>
          <a:xfrm>
            <a:off x="640080" y="1691640"/>
            <a:ext cx="5257800" cy="1920240"/>
          </a:xfrm>
          <a:prstGeom prst="roundRect">
            <a:avLst>
              <a:gd name="adj" fmla="val 3810"/>
            </a:avLst>
          </a:prstGeom>
          <a:solidFill>
            <a:srgbClr val="FFE8D6"/>
          </a:solidFill>
          <a:ln w="19050">
            <a:solidFill>
              <a:srgbClr val="E8590C"/>
            </a:solidFill>
            <a:prstDash val="solid"/>
          </a:ln>
        </p:spPr>
      </p:sp>
      <p:sp>
        <p:nvSpPr>
          <p:cNvPr id="5" name="Text 3"/>
          <p:cNvSpPr/>
          <p:nvPr/>
        </p:nvSpPr>
        <p:spPr>
          <a:xfrm>
            <a:off x="1005840" y="1920240"/>
            <a:ext cx="4572000" cy="384048"/>
          </a:xfrm>
          <a:prstGeom prst="rect">
            <a:avLst/>
          </a:prstGeom>
          <a:noFill/>
          <a:ln/>
        </p:spPr>
        <p:txBody>
          <a:bodyPr wrap="square" lIns="0" tIns="0" rIns="0" bIns="0" rtlCol="0" anchor="ctr"/>
          <a:lstStyle/>
          <a:p>
            <a:pPr indent="0" marL="0">
              <a:buNone/>
            </a:pPr>
            <a:r>
              <a:rPr lang="en-US" sz="1800" b="1" spc="50" kern="0" dirty="0">
                <a:solidFill>
                  <a:srgbClr val="E8590C"/>
                </a:solidFill>
                <a:latin typeface="Cambria" pitchFamily="34" charset="0"/>
                <a:ea typeface="Cambria" pitchFamily="34" charset="-122"/>
                <a:cs typeface="Cambria" pitchFamily="34" charset="-120"/>
              </a:rPr>
              <a:t>PROMETHEUS SERVER</a:t>
            </a:r>
            <a:endParaRPr lang="en-US" sz="1800" dirty="0"/>
          </a:p>
        </p:txBody>
      </p:sp>
      <p:sp>
        <p:nvSpPr>
          <p:cNvPr id="6" name="Text 4"/>
          <p:cNvSpPr/>
          <p:nvPr/>
        </p:nvSpPr>
        <p:spPr>
          <a:xfrm>
            <a:off x="1005840" y="2404872"/>
            <a:ext cx="4572000" cy="105156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Scrapes targets on a schedule</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Stores samples in a local TSDB</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Evaluates alerting rules</a:t>
            </a:r>
            <a:endParaRPr lang="en-US" sz="1400" dirty="0"/>
          </a:p>
        </p:txBody>
      </p:sp>
      <p:sp>
        <p:nvSpPr>
          <p:cNvPr id="7" name="Shape 5"/>
          <p:cNvSpPr/>
          <p:nvPr/>
        </p:nvSpPr>
        <p:spPr>
          <a:xfrm>
            <a:off x="6263640" y="1691640"/>
            <a:ext cx="5257800" cy="1920240"/>
          </a:xfrm>
          <a:prstGeom prst="roundRect">
            <a:avLst>
              <a:gd name="adj" fmla="val 3810"/>
            </a:avLst>
          </a:prstGeom>
          <a:solidFill>
            <a:srgbClr val="DFF3E3"/>
          </a:solidFill>
          <a:ln w="19050">
            <a:solidFill>
              <a:srgbClr val="2F9E44"/>
            </a:solidFill>
            <a:prstDash val="solid"/>
          </a:ln>
        </p:spPr>
      </p:sp>
      <p:sp>
        <p:nvSpPr>
          <p:cNvPr id="8" name="Text 6"/>
          <p:cNvSpPr/>
          <p:nvPr/>
        </p:nvSpPr>
        <p:spPr>
          <a:xfrm>
            <a:off x="6629400" y="1920240"/>
            <a:ext cx="4572000" cy="384048"/>
          </a:xfrm>
          <a:prstGeom prst="rect">
            <a:avLst/>
          </a:prstGeom>
          <a:noFill/>
          <a:ln/>
        </p:spPr>
        <p:txBody>
          <a:bodyPr wrap="square" lIns="0" tIns="0" rIns="0" bIns="0" rtlCol="0" anchor="ctr"/>
          <a:lstStyle/>
          <a:p>
            <a:pPr indent="0" marL="0">
              <a:buNone/>
            </a:pPr>
            <a:r>
              <a:rPr lang="en-US" sz="1800" b="1" spc="50" kern="0" dirty="0">
                <a:solidFill>
                  <a:srgbClr val="2F9E44"/>
                </a:solidFill>
                <a:latin typeface="Cambria" pitchFamily="34" charset="0"/>
                <a:ea typeface="Cambria" pitchFamily="34" charset="-122"/>
                <a:cs typeface="Cambria" pitchFamily="34" charset="-120"/>
              </a:rPr>
              <a:t>EXPORTERS</a:t>
            </a:r>
            <a:endParaRPr lang="en-US" sz="1800" dirty="0"/>
          </a:p>
        </p:txBody>
      </p:sp>
      <p:sp>
        <p:nvSpPr>
          <p:cNvPr id="9" name="Text 7"/>
          <p:cNvSpPr/>
          <p:nvPr/>
        </p:nvSpPr>
        <p:spPr>
          <a:xfrm>
            <a:off x="6629400" y="2404872"/>
            <a:ext cx="4572000" cy="105156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node-exporter: the machine</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kube-state-metrics: the API objects</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blackbox-exporter: external probes</a:t>
            </a:r>
            <a:endParaRPr lang="en-US" sz="1400" dirty="0"/>
          </a:p>
        </p:txBody>
      </p:sp>
      <p:sp>
        <p:nvSpPr>
          <p:cNvPr id="10" name="Shape 8"/>
          <p:cNvSpPr/>
          <p:nvPr/>
        </p:nvSpPr>
        <p:spPr>
          <a:xfrm>
            <a:off x="640080" y="3840480"/>
            <a:ext cx="5257800" cy="1920240"/>
          </a:xfrm>
          <a:prstGeom prst="roundRect">
            <a:avLst>
              <a:gd name="adj" fmla="val 3810"/>
            </a:avLst>
          </a:prstGeom>
          <a:solidFill>
            <a:srgbClr val="FBE0E0"/>
          </a:solidFill>
          <a:ln w="19050">
            <a:solidFill>
              <a:srgbClr val="C92A2A"/>
            </a:solidFill>
            <a:prstDash val="solid"/>
          </a:ln>
        </p:spPr>
      </p:sp>
      <p:sp>
        <p:nvSpPr>
          <p:cNvPr id="11" name="Text 9"/>
          <p:cNvSpPr/>
          <p:nvPr/>
        </p:nvSpPr>
        <p:spPr>
          <a:xfrm>
            <a:off x="1005840" y="4069080"/>
            <a:ext cx="4572000" cy="384048"/>
          </a:xfrm>
          <a:prstGeom prst="rect">
            <a:avLst/>
          </a:prstGeom>
          <a:noFill/>
          <a:ln/>
        </p:spPr>
        <p:txBody>
          <a:bodyPr wrap="square" lIns="0" tIns="0" rIns="0" bIns="0" rtlCol="0" anchor="ctr"/>
          <a:lstStyle/>
          <a:p>
            <a:pPr indent="0" marL="0">
              <a:buNone/>
            </a:pPr>
            <a:r>
              <a:rPr lang="en-US" sz="1800" b="1" spc="50" kern="0" dirty="0">
                <a:solidFill>
                  <a:srgbClr val="C92A2A"/>
                </a:solidFill>
                <a:latin typeface="Cambria" pitchFamily="34" charset="0"/>
                <a:ea typeface="Cambria" pitchFamily="34" charset="-122"/>
                <a:cs typeface="Cambria" pitchFamily="34" charset="-120"/>
              </a:rPr>
              <a:t>ALERTMANAGER</a:t>
            </a:r>
            <a:endParaRPr lang="en-US" sz="1800" dirty="0"/>
          </a:p>
        </p:txBody>
      </p:sp>
      <p:sp>
        <p:nvSpPr>
          <p:cNvPr id="12" name="Text 10"/>
          <p:cNvSpPr/>
          <p:nvPr/>
        </p:nvSpPr>
        <p:spPr>
          <a:xfrm>
            <a:off x="1005840" y="4553712"/>
            <a:ext cx="4572000" cy="105156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Groups related alerts</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Silences and de-duplicates</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Routes to Slack, PagerDuty, email</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CORE COMPONENTS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What the stack is made of</a:t>
            </a:r>
            <a:endParaRPr lang="en-US" sz="3400" dirty="0"/>
          </a:p>
        </p:txBody>
      </p:sp>
      <p:sp>
        <p:nvSpPr>
          <p:cNvPr id="4" name="Shape 2"/>
          <p:cNvSpPr/>
          <p:nvPr/>
        </p:nvSpPr>
        <p:spPr>
          <a:xfrm>
            <a:off x="640080" y="1691640"/>
            <a:ext cx="5257800" cy="1920240"/>
          </a:xfrm>
          <a:prstGeom prst="roundRect">
            <a:avLst>
              <a:gd name="adj" fmla="val 3810"/>
            </a:avLst>
          </a:prstGeom>
          <a:solidFill>
            <a:srgbClr val="FFE8D6"/>
          </a:solidFill>
          <a:ln w="19050">
            <a:solidFill>
              <a:srgbClr val="E8590C"/>
            </a:solidFill>
            <a:prstDash val="solid"/>
          </a:ln>
        </p:spPr>
      </p:sp>
      <p:sp>
        <p:nvSpPr>
          <p:cNvPr id="5" name="Text 3"/>
          <p:cNvSpPr/>
          <p:nvPr/>
        </p:nvSpPr>
        <p:spPr>
          <a:xfrm>
            <a:off x="1005840" y="1920240"/>
            <a:ext cx="4572000" cy="384048"/>
          </a:xfrm>
          <a:prstGeom prst="rect">
            <a:avLst/>
          </a:prstGeom>
          <a:noFill/>
          <a:ln/>
        </p:spPr>
        <p:txBody>
          <a:bodyPr wrap="square" lIns="0" tIns="0" rIns="0" bIns="0" rtlCol="0" anchor="ctr"/>
          <a:lstStyle/>
          <a:p>
            <a:pPr indent="0" marL="0">
              <a:buNone/>
            </a:pPr>
            <a:r>
              <a:rPr lang="en-US" sz="1800" b="1" spc="50" kern="0" dirty="0">
                <a:solidFill>
                  <a:srgbClr val="E8590C"/>
                </a:solidFill>
                <a:latin typeface="Cambria" pitchFamily="34" charset="0"/>
                <a:ea typeface="Cambria" pitchFamily="34" charset="-122"/>
                <a:cs typeface="Cambria" pitchFamily="34" charset="-120"/>
              </a:rPr>
              <a:t>PROMETHEUS SERVER</a:t>
            </a:r>
            <a:endParaRPr lang="en-US" sz="1800" dirty="0"/>
          </a:p>
        </p:txBody>
      </p:sp>
      <p:sp>
        <p:nvSpPr>
          <p:cNvPr id="6" name="Text 4"/>
          <p:cNvSpPr/>
          <p:nvPr/>
        </p:nvSpPr>
        <p:spPr>
          <a:xfrm>
            <a:off x="1005840" y="2404872"/>
            <a:ext cx="4572000" cy="105156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Scrapes targets on a schedule</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Stores samples in a local TSDB</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Evaluates alerting rules</a:t>
            </a:r>
            <a:endParaRPr lang="en-US" sz="1400" dirty="0"/>
          </a:p>
        </p:txBody>
      </p:sp>
      <p:sp>
        <p:nvSpPr>
          <p:cNvPr id="7" name="Shape 5"/>
          <p:cNvSpPr/>
          <p:nvPr/>
        </p:nvSpPr>
        <p:spPr>
          <a:xfrm>
            <a:off x="6263640" y="1691640"/>
            <a:ext cx="5257800" cy="1920240"/>
          </a:xfrm>
          <a:prstGeom prst="roundRect">
            <a:avLst>
              <a:gd name="adj" fmla="val 3810"/>
            </a:avLst>
          </a:prstGeom>
          <a:solidFill>
            <a:srgbClr val="DFF3E3"/>
          </a:solidFill>
          <a:ln w="19050">
            <a:solidFill>
              <a:srgbClr val="2F9E44"/>
            </a:solidFill>
            <a:prstDash val="solid"/>
          </a:ln>
        </p:spPr>
      </p:sp>
      <p:sp>
        <p:nvSpPr>
          <p:cNvPr id="8" name="Text 6"/>
          <p:cNvSpPr/>
          <p:nvPr/>
        </p:nvSpPr>
        <p:spPr>
          <a:xfrm>
            <a:off x="6629400" y="1920240"/>
            <a:ext cx="4572000" cy="384048"/>
          </a:xfrm>
          <a:prstGeom prst="rect">
            <a:avLst/>
          </a:prstGeom>
          <a:noFill/>
          <a:ln/>
        </p:spPr>
        <p:txBody>
          <a:bodyPr wrap="square" lIns="0" tIns="0" rIns="0" bIns="0" rtlCol="0" anchor="ctr"/>
          <a:lstStyle/>
          <a:p>
            <a:pPr indent="0" marL="0">
              <a:buNone/>
            </a:pPr>
            <a:r>
              <a:rPr lang="en-US" sz="1800" b="1" spc="50" kern="0" dirty="0">
                <a:solidFill>
                  <a:srgbClr val="2F9E44"/>
                </a:solidFill>
                <a:latin typeface="Cambria" pitchFamily="34" charset="0"/>
                <a:ea typeface="Cambria" pitchFamily="34" charset="-122"/>
                <a:cs typeface="Cambria" pitchFamily="34" charset="-120"/>
              </a:rPr>
              <a:t>EXPORTERS</a:t>
            </a:r>
            <a:endParaRPr lang="en-US" sz="1800" dirty="0"/>
          </a:p>
        </p:txBody>
      </p:sp>
      <p:sp>
        <p:nvSpPr>
          <p:cNvPr id="9" name="Text 7"/>
          <p:cNvSpPr/>
          <p:nvPr/>
        </p:nvSpPr>
        <p:spPr>
          <a:xfrm>
            <a:off x="6629400" y="2404872"/>
            <a:ext cx="4572000" cy="105156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node-exporter: the machine</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kube-state-metrics: the API objects</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blackbox-exporter: external probes</a:t>
            </a:r>
            <a:endParaRPr lang="en-US" sz="1400" dirty="0"/>
          </a:p>
        </p:txBody>
      </p:sp>
      <p:sp>
        <p:nvSpPr>
          <p:cNvPr id="10" name="Shape 8"/>
          <p:cNvSpPr/>
          <p:nvPr/>
        </p:nvSpPr>
        <p:spPr>
          <a:xfrm>
            <a:off x="640080" y="3840480"/>
            <a:ext cx="5257800" cy="1920240"/>
          </a:xfrm>
          <a:prstGeom prst="roundRect">
            <a:avLst>
              <a:gd name="adj" fmla="val 3810"/>
            </a:avLst>
          </a:prstGeom>
          <a:solidFill>
            <a:srgbClr val="FBE0E0"/>
          </a:solidFill>
          <a:ln w="19050">
            <a:solidFill>
              <a:srgbClr val="C92A2A"/>
            </a:solidFill>
            <a:prstDash val="solid"/>
          </a:ln>
        </p:spPr>
      </p:sp>
      <p:sp>
        <p:nvSpPr>
          <p:cNvPr id="11" name="Text 9"/>
          <p:cNvSpPr/>
          <p:nvPr/>
        </p:nvSpPr>
        <p:spPr>
          <a:xfrm>
            <a:off x="1005840" y="4069080"/>
            <a:ext cx="4572000" cy="384048"/>
          </a:xfrm>
          <a:prstGeom prst="rect">
            <a:avLst/>
          </a:prstGeom>
          <a:noFill/>
          <a:ln/>
        </p:spPr>
        <p:txBody>
          <a:bodyPr wrap="square" lIns="0" tIns="0" rIns="0" bIns="0" rtlCol="0" anchor="ctr"/>
          <a:lstStyle/>
          <a:p>
            <a:pPr indent="0" marL="0">
              <a:buNone/>
            </a:pPr>
            <a:r>
              <a:rPr lang="en-US" sz="1800" b="1" spc="50" kern="0" dirty="0">
                <a:solidFill>
                  <a:srgbClr val="C92A2A"/>
                </a:solidFill>
                <a:latin typeface="Cambria" pitchFamily="34" charset="0"/>
                <a:ea typeface="Cambria" pitchFamily="34" charset="-122"/>
                <a:cs typeface="Cambria" pitchFamily="34" charset="-120"/>
              </a:rPr>
              <a:t>ALERTMANAGER</a:t>
            </a:r>
            <a:endParaRPr lang="en-US" sz="1800" dirty="0"/>
          </a:p>
        </p:txBody>
      </p:sp>
      <p:sp>
        <p:nvSpPr>
          <p:cNvPr id="12" name="Text 10"/>
          <p:cNvSpPr/>
          <p:nvPr/>
        </p:nvSpPr>
        <p:spPr>
          <a:xfrm>
            <a:off x="1005840" y="4553712"/>
            <a:ext cx="4572000" cy="105156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Groups related alerts</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Silences and de-duplicates</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Routes to Slack, PagerDuty, email</a:t>
            </a:r>
            <a:endParaRPr lang="en-US" sz="1400" dirty="0"/>
          </a:p>
        </p:txBody>
      </p:sp>
      <p:sp>
        <p:nvSpPr>
          <p:cNvPr id="13" name="Shape 11"/>
          <p:cNvSpPr/>
          <p:nvPr/>
        </p:nvSpPr>
        <p:spPr>
          <a:xfrm>
            <a:off x="6263640" y="3840480"/>
            <a:ext cx="5257800" cy="1920240"/>
          </a:xfrm>
          <a:prstGeom prst="roundRect">
            <a:avLst>
              <a:gd name="adj" fmla="val 3810"/>
            </a:avLst>
          </a:prstGeom>
          <a:solidFill>
            <a:srgbClr val="E9E2FB"/>
          </a:solidFill>
          <a:ln w="19050">
            <a:solidFill>
              <a:srgbClr val="6741D9"/>
            </a:solidFill>
            <a:prstDash val="solid"/>
          </a:ln>
        </p:spPr>
      </p:sp>
      <p:sp>
        <p:nvSpPr>
          <p:cNvPr id="14" name="Text 12"/>
          <p:cNvSpPr/>
          <p:nvPr/>
        </p:nvSpPr>
        <p:spPr>
          <a:xfrm>
            <a:off x="6629400" y="4069080"/>
            <a:ext cx="4572000" cy="384048"/>
          </a:xfrm>
          <a:prstGeom prst="rect">
            <a:avLst/>
          </a:prstGeom>
          <a:noFill/>
          <a:ln/>
        </p:spPr>
        <p:txBody>
          <a:bodyPr wrap="square" lIns="0" tIns="0" rIns="0" bIns="0" rtlCol="0" anchor="ctr"/>
          <a:lstStyle/>
          <a:p>
            <a:pPr indent="0" marL="0">
              <a:buNone/>
            </a:pPr>
            <a:r>
              <a:rPr lang="en-US" sz="1800" b="1" spc="50" kern="0" dirty="0">
                <a:solidFill>
                  <a:srgbClr val="6741D9"/>
                </a:solidFill>
                <a:latin typeface="Cambria" pitchFamily="34" charset="0"/>
                <a:ea typeface="Cambria" pitchFamily="34" charset="-122"/>
                <a:cs typeface="Cambria" pitchFamily="34" charset="-120"/>
              </a:rPr>
              <a:t>GRAFANA</a:t>
            </a:r>
            <a:endParaRPr lang="en-US" sz="1800" dirty="0"/>
          </a:p>
        </p:txBody>
      </p:sp>
      <p:sp>
        <p:nvSpPr>
          <p:cNvPr id="15" name="Text 13"/>
          <p:cNvSpPr/>
          <p:nvPr/>
        </p:nvSpPr>
        <p:spPr>
          <a:xfrm>
            <a:off x="6629400" y="4553712"/>
            <a:ext cx="4572000" cy="105156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Stores no metrics of its own</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Sends PromQL queries to Prometheus</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Renders the results</a:t>
            </a:r>
            <a:endParaRPr lang="en-US" sz="1400" dirty="0"/>
          </a:p>
        </p:txBody>
      </p:sp>
      <p:sp>
        <p:nvSpPr>
          <p:cNvPr id="16" name="Text 14"/>
          <p:cNvSpPr/>
          <p:nvPr/>
        </p:nvSpPr>
        <p:spPr>
          <a:xfrm>
            <a:off x="640080" y="6035040"/>
            <a:ext cx="10881360" cy="365760"/>
          </a:xfrm>
          <a:prstGeom prst="rect">
            <a:avLst/>
          </a:prstGeom>
          <a:noFill/>
          <a:ln/>
        </p:spPr>
        <p:txBody>
          <a:bodyPr wrap="square" lIns="0" tIns="0" rIns="0" bIns="0" rtlCol="0" anchor="ctr"/>
          <a:lstStyle/>
          <a:p>
            <a:pPr indent="0" marL="0">
              <a:buNone/>
            </a:pPr>
            <a:r>
              <a:rPr lang="en-US" sz="1500" i="1" dirty="0">
                <a:solidFill>
                  <a:srgbClr val="E8590C"/>
                </a:solidFill>
                <a:latin typeface="Calibri" pitchFamily="34" charset="0"/>
                <a:ea typeface="Calibri" pitchFamily="34" charset="-122"/>
                <a:cs typeface="Calibri" pitchFamily="34" charset="-120"/>
              </a:rPr>
              <a:t>Prometheus decides whether to alert. Alertmanager decides who to tell.</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HOW SCRAPING WORKS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One scrape cycle</a:t>
            </a:r>
            <a:endParaRPr lang="en-US" sz="3400" dirty="0"/>
          </a:p>
        </p:txBody>
      </p:sp>
      <p:sp>
        <p:nvSpPr>
          <p:cNvPr id="4" name="Shape 2"/>
          <p:cNvSpPr/>
          <p:nvPr/>
        </p:nvSpPr>
        <p:spPr>
          <a:xfrm>
            <a:off x="685800" y="1728216"/>
            <a:ext cx="457200" cy="457200"/>
          </a:xfrm>
          <a:prstGeom prst="ellipse">
            <a:avLst/>
          </a:prstGeom>
          <a:solidFill>
            <a:srgbClr val="E8590C"/>
          </a:solidFill>
          <a:ln w="12700">
            <a:solidFill>
              <a:srgbClr val="E8590C"/>
            </a:solidFill>
            <a:prstDash val="solid"/>
          </a:ln>
        </p:spPr>
      </p:sp>
      <p:sp>
        <p:nvSpPr>
          <p:cNvPr id="5" name="Text 3"/>
          <p:cNvSpPr/>
          <p:nvPr/>
        </p:nvSpPr>
        <p:spPr>
          <a:xfrm>
            <a:off x="685800" y="17282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325880" y="1664208"/>
            <a:ext cx="4206240" cy="347472"/>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Consult the target list</a:t>
            </a:r>
            <a:endParaRPr lang="en-US" sz="1600" dirty="0"/>
          </a:p>
        </p:txBody>
      </p:sp>
      <p:sp>
        <p:nvSpPr>
          <p:cNvPr id="7" name="Text 5"/>
          <p:cNvSpPr/>
          <p:nvPr/>
        </p:nvSpPr>
        <p:spPr>
          <a:xfrm>
            <a:off x="5577840" y="1700784"/>
            <a:ext cx="5852160" cy="32004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Built from Kubernetes service discovery</a:t>
            </a:r>
            <a:endParaRPr lang="en-US" sz="1350" dirty="0"/>
          </a:p>
        </p:txBody>
      </p:sp>
      <p:sp>
        <p:nvSpPr>
          <p:cNvPr id="8" name="Shape 6"/>
          <p:cNvSpPr/>
          <p:nvPr/>
        </p:nvSpPr>
        <p:spPr>
          <a:xfrm>
            <a:off x="685800" y="2487168"/>
            <a:ext cx="457200" cy="457200"/>
          </a:xfrm>
          <a:prstGeom prst="ellipse">
            <a:avLst/>
          </a:prstGeom>
          <a:solidFill>
            <a:srgbClr val="E8590C"/>
          </a:solidFill>
          <a:ln w="12700">
            <a:solidFill>
              <a:srgbClr val="E8590C"/>
            </a:solidFill>
            <a:prstDash val="solid"/>
          </a:ln>
        </p:spPr>
      </p:sp>
      <p:sp>
        <p:nvSpPr>
          <p:cNvPr id="9" name="Text 7"/>
          <p:cNvSpPr/>
          <p:nvPr/>
        </p:nvSpPr>
        <p:spPr>
          <a:xfrm>
            <a:off x="685800" y="24871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325880" y="2423160"/>
            <a:ext cx="4206240" cy="347472"/>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HTTP GET /metrics</a:t>
            </a:r>
            <a:endParaRPr lang="en-US" sz="1600" dirty="0"/>
          </a:p>
        </p:txBody>
      </p:sp>
      <p:sp>
        <p:nvSpPr>
          <p:cNvPr id="11" name="Text 9"/>
          <p:cNvSpPr/>
          <p:nvPr/>
        </p:nvSpPr>
        <p:spPr>
          <a:xfrm>
            <a:off x="5577840" y="2459736"/>
            <a:ext cx="5852160" cy="32004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One request per target</a:t>
            </a:r>
            <a:endParaRPr lang="en-US" sz="1350" dirty="0"/>
          </a:p>
        </p:txBody>
      </p:sp>
      <p:sp>
        <p:nvSpPr>
          <p:cNvPr id="12" name="Shape 10"/>
          <p:cNvSpPr/>
          <p:nvPr/>
        </p:nvSpPr>
        <p:spPr>
          <a:xfrm>
            <a:off x="685800" y="3246120"/>
            <a:ext cx="457200" cy="457200"/>
          </a:xfrm>
          <a:prstGeom prst="ellipse">
            <a:avLst/>
          </a:prstGeom>
          <a:solidFill>
            <a:srgbClr val="2F9E44"/>
          </a:solidFill>
          <a:ln w="12700">
            <a:solidFill>
              <a:srgbClr val="2F9E44"/>
            </a:solidFill>
            <a:prstDash val="solid"/>
          </a:ln>
        </p:spPr>
      </p:sp>
      <p:sp>
        <p:nvSpPr>
          <p:cNvPr id="13" name="Text 11"/>
          <p:cNvSpPr/>
          <p:nvPr/>
        </p:nvSpPr>
        <p:spPr>
          <a:xfrm>
            <a:off x="68580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325880" y="3182112"/>
            <a:ext cx="4206240" cy="347472"/>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Target responds</a:t>
            </a:r>
            <a:endParaRPr lang="en-US" sz="1600" dirty="0"/>
          </a:p>
        </p:txBody>
      </p:sp>
      <p:sp>
        <p:nvSpPr>
          <p:cNvPr id="15" name="Text 13"/>
          <p:cNvSpPr/>
          <p:nvPr/>
        </p:nvSpPr>
        <p:spPr>
          <a:xfrm>
            <a:off x="5577840" y="3218688"/>
            <a:ext cx="5852160" cy="32004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Plain text, current values, no timestamps</a:t>
            </a:r>
            <a:endParaRPr lang="en-US" sz="1350" dirty="0"/>
          </a:p>
        </p:txBody>
      </p:sp>
      <p:sp>
        <p:nvSpPr>
          <p:cNvPr id="16" name="Shape 14"/>
          <p:cNvSpPr/>
          <p:nvPr/>
        </p:nvSpPr>
        <p:spPr>
          <a:xfrm>
            <a:off x="685800" y="4005072"/>
            <a:ext cx="457200" cy="457200"/>
          </a:xfrm>
          <a:prstGeom prst="ellipse">
            <a:avLst/>
          </a:prstGeom>
          <a:solidFill>
            <a:srgbClr val="1971C2"/>
          </a:solidFill>
          <a:ln w="12700">
            <a:solidFill>
              <a:srgbClr val="1971C2"/>
            </a:solidFill>
            <a:prstDash val="solid"/>
          </a:ln>
        </p:spPr>
      </p:sp>
      <p:sp>
        <p:nvSpPr>
          <p:cNvPr id="17" name="Text 15"/>
          <p:cNvSpPr/>
          <p:nvPr/>
        </p:nvSpPr>
        <p:spPr>
          <a:xfrm>
            <a:off x="685800" y="40050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325880" y="3941064"/>
            <a:ext cx="4206240" cy="347472"/>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Attach timestamp, append</a:t>
            </a:r>
            <a:endParaRPr lang="en-US" sz="1600" dirty="0"/>
          </a:p>
        </p:txBody>
      </p:sp>
      <p:sp>
        <p:nvSpPr>
          <p:cNvPr id="19" name="Text 17"/>
          <p:cNvSpPr/>
          <p:nvPr/>
        </p:nvSpPr>
        <p:spPr>
          <a:xfrm>
            <a:off x="5577840" y="3977640"/>
            <a:ext cx="5852160" cy="32004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Prometheus supplies the time, not the target</a:t>
            </a:r>
            <a:endParaRPr lang="en-US" sz="1350" dirty="0"/>
          </a:p>
        </p:txBody>
      </p:sp>
      <p:sp>
        <p:nvSpPr>
          <p:cNvPr id="20" name="Shape 18"/>
          <p:cNvSpPr/>
          <p:nvPr/>
        </p:nvSpPr>
        <p:spPr>
          <a:xfrm>
            <a:off x="685800" y="4764024"/>
            <a:ext cx="457200" cy="457200"/>
          </a:xfrm>
          <a:prstGeom prst="ellipse">
            <a:avLst/>
          </a:prstGeom>
          <a:solidFill>
            <a:srgbClr val="6741D9"/>
          </a:solidFill>
          <a:ln w="12700">
            <a:solidFill>
              <a:srgbClr val="6741D9"/>
            </a:solidFill>
            <a:prstDash val="solid"/>
          </a:ln>
        </p:spPr>
      </p:sp>
      <p:sp>
        <p:nvSpPr>
          <p:cNvPr id="21" name="Text 19"/>
          <p:cNvSpPr/>
          <p:nvPr/>
        </p:nvSpPr>
        <p:spPr>
          <a:xfrm>
            <a:off x="685800" y="47640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325880" y="4700016"/>
            <a:ext cx="4206240" cy="347472"/>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Record up = 1, or 0</a:t>
            </a:r>
            <a:endParaRPr lang="en-US" sz="1600" dirty="0"/>
          </a:p>
        </p:txBody>
      </p:sp>
      <p:sp>
        <p:nvSpPr>
          <p:cNvPr id="23" name="Text 21"/>
          <p:cNvSpPr/>
          <p:nvPr/>
        </p:nvSpPr>
        <p:spPr>
          <a:xfrm>
            <a:off x="5577840" y="4736592"/>
            <a:ext cx="5852160" cy="32004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Success or failure, either way it is written</a:t>
            </a:r>
            <a:endParaRPr lang="en-US" sz="1350" dirty="0"/>
          </a:p>
        </p:txBody>
      </p:sp>
      <p:sp>
        <p:nvSpPr>
          <p:cNvPr id="24" name="Shape 22"/>
          <p:cNvSpPr/>
          <p:nvPr/>
        </p:nvSpPr>
        <p:spPr>
          <a:xfrm>
            <a:off x="685800" y="5522976"/>
            <a:ext cx="457200" cy="457200"/>
          </a:xfrm>
          <a:prstGeom prst="ellipse">
            <a:avLst/>
          </a:prstGeom>
          <a:solidFill>
            <a:srgbClr val="6B7280"/>
          </a:solidFill>
          <a:ln w="12700">
            <a:solidFill>
              <a:srgbClr val="6B7280"/>
            </a:solidFill>
            <a:prstDash val="solid"/>
          </a:ln>
        </p:spPr>
      </p:sp>
      <p:sp>
        <p:nvSpPr>
          <p:cNvPr id="25" name="Text 23"/>
          <p:cNvSpPr/>
          <p:nvPr/>
        </p:nvSpPr>
        <p:spPr>
          <a:xfrm>
            <a:off x="685800" y="552297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p:nvPr/>
        </p:nvSpPr>
        <p:spPr>
          <a:xfrm>
            <a:off x="1325880" y="5458968"/>
            <a:ext cx="4206240" cy="347472"/>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Wait for the interval</a:t>
            </a:r>
            <a:endParaRPr lang="en-US" sz="1600" dirty="0"/>
          </a:p>
        </p:txBody>
      </p:sp>
      <p:sp>
        <p:nvSpPr>
          <p:cNvPr id="27" name="Text 25"/>
          <p:cNvSpPr/>
          <p:nvPr/>
        </p:nvSpPr>
        <p:spPr>
          <a:xfrm>
            <a:off x="5577840" y="5495544"/>
            <a:ext cx="5852160" cy="32004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Default 15s. This course uses 30s</a:t>
            </a:r>
            <a:endParaRPr lang="en-US" sz="1350" dirty="0"/>
          </a:p>
        </p:txBody>
      </p:sp>
      <p:sp>
        <p:nvSpPr>
          <p:cNvPr id="28" name="Shape 26"/>
          <p:cNvSpPr/>
          <p:nvPr/>
        </p:nvSpPr>
        <p:spPr>
          <a:xfrm>
            <a:off x="640080" y="6199632"/>
            <a:ext cx="10881360" cy="502920"/>
          </a:xfrm>
          <a:prstGeom prst="roundRect">
            <a:avLst>
              <a:gd name="adj" fmla="val 14545"/>
            </a:avLst>
          </a:prstGeom>
          <a:solidFill>
            <a:srgbClr val="FFE8D6"/>
          </a:solidFill>
          <a:ln w="19050">
            <a:solidFill>
              <a:srgbClr val="E8590C"/>
            </a:solidFill>
            <a:prstDash val="solid"/>
          </a:ln>
        </p:spPr>
      </p:sp>
      <p:sp>
        <p:nvSpPr>
          <p:cNvPr id="29" name="Text 27"/>
          <p:cNvSpPr/>
          <p:nvPr/>
        </p:nvSpPr>
        <p:spPr>
          <a:xfrm>
            <a:off x="1005840" y="6291072"/>
            <a:ext cx="10149840" cy="320040"/>
          </a:xfrm>
          <a:prstGeom prst="rect">
            <a:avLst/>
          </a:prstGeom>
          <a:noFill/>
          <a:ln/>
        </p:spPr>
        <p:txBody>
          <a:bodyPr wrap="square" lIns="0" tIns="0" rIns="0" bIns="0" rtlCol="0" anchor="ctr"/>
          <a:lstStyle/>
          <a:p>
            <a:pPr indent="0" marL="0">
              <a:buNone/>
            </a:pPr>
            <a:r>
              <a:rPr lang="en-US" sz="1350" b="1" dirty="0">
                <a:solidFill>
                  <a:srgbClr val="1A1D26"/>
                </a:solidFill>
                <a:latin typeface="Calibri" pitchFamily="34" charset="0"/>
                <a:ea typeface="Calibri" pitchFamily="34" charset="-122"/>
                <a:cs typeface="Calibri" pitchFamily="34" charset="-120"/>
              </a:rPr>
              <a:t>Prometheus only knows what it saw at scrape time. A spike that rises and falls between two scrapes is invisible.</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THE /metrics ENDPOINT</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There is no special protocol</a:t>
            </a:r>
            <a:endParaRPr lang="en-US" sz="3400" dirty="0"/>
          </a:p>
        </p:txBody>
      </p:sp>
      <p:sp>
        <p:nvSpPr>
          <p:cNvPr id="4" name="Shape 2"/>
          <p:cNvSpPr/>
          <p:nvPr/>
        </p:nvSpPr>
        <p:spPr>
          <a:xfrm>
            <a:off x="640080" y="1600200"/>
            <a:ext cx="6583680" cy="2560320"/>
          </a:xfrm>
          <a:prstGeom prst="roundRect">
            <a:avLst>
              <a:gd name="adj" fmla="val 1786"/>
            </a:avLst>
          </a:prstGeom>
          <a:solidFill>
            <a:srgbClr val="F4F6F9"/>
          </a:solidFill>
          <a:ln w="12700">
            <a:solidFill>
              <a:srgbClr val="D8DCE3"/>
            </a:solidFill>
            <a:prstDash val="solid"/>
          </a:ln>
        </p:spPr>
      </p:sp>
      <p:sp>
        <p:nvSpPr>
          <p:cNvPr id="5" name="Text 3"/>
          <p:cNvSpPr/>
          <p:nvPr/>
        </p:nvSpPr>
        <p:spPr>
          <a:xfrm>
            <a:off x="804672" y="1709928"/>
            <a:ext cx="6254496" cy="2340864"/>
          </a:xfrm>
          <a:prstGeom prst="rect">
            <a:avLst/>
          </a:prstGeom>
          <a:noFill/>
          <a:ln/>
        </p:spPr>
        <p:txBody>
          <a:bodyPr wrap="square" lIns="0" tIns="0" rIns="0" bIns="0" rtlCol="0" anchor="t"/>
          <a:lstStyle/>
          <a:p>
            <a:pPr indent="0" marL="0">
              <a:buNone/>
            </a:pPr>
            <a:r>
              <a:rPr lang="en-US" sz="1100" dirty="0">
                <a:solidFill>
                  <a:srgbClr val="3D4351"/>
                </a:solidFill>
                <a:latin typeface="Courier New" pitchFamily="34" charset="0"/>
                <a:ea typeface="Courier New" pitchFamily="34" charset="-122"/>
                <a:cs typeface="Courier New" pitchFamily="34" charset="-120"/>
              </a:rPr>
              <a:t># HELP node_cpu_seconds_total Seconds the CPUs spent in each mode.</a:t>
            </a:r>
            <a:endParaRPr lang="en-US" sz="1100" dirty="0"/>
          </a:p>
          <a:p>
            <a:pPr indent="0" marL="0">
              <a:buNone/>
            </a:pPr>
            <a:r>
              <a:rPr lang="en-US" sz="1100" dirty="0">
                <a:solidFill>
                  <a:srgbClr val="3D4351"/>
                </a:solidFill>
                <a:latin typeface="Courier New" pitchFamily="34" charset="0"/>
                <a:ea typeface="Courier New" pitchFamily="34" charset="-122"/>
                <a:cs typeface="Courier New" pitchFamily="34" charset="-120"/>
              </a:rPr>
              <a:t># TYPE node_cpu_seconds_total counter</a:t>
            </a:r>
            <a:endParaRPr lang="en-US" sz="1100" dirty="0"/>
          </a:p>
          <a:p>
            <a:pPr indent="0" marL="0">
              <a:buNone/>
            </a:pPr>
            <a:r>
              <a:rPr lang="en-US" sz="1100" dirty="0">
                <a:solidFill>
                  <a:srgbClr val="3D4351"/>
                </a:solidFill>
                <a:latin typeface="Courier New" pitchFamily="34" charset="0"/>
                <a:ea typeface="Courier New" pitchFamily="34" charset="-122"/>
                <a:cs typeface="Courier New" pitchFamily="34" charset="-120"/>
              </a:rPr>
              <a:t>node_cpu_seconds_total{cpu="0",mode="idle"} 12345.67</a:t>
            </a:r>
            <a:endParaRPr lang="en-US" sz="1100" dirty="0"/>
          </a:p>
          <a:p>
            <a:pPr indent="0" marL="0">
              <a:buNone/>
            </a:pPr>
            <a:r>
              <a:rPr lang="en-US" sz="1100" dirty="0">
                <a:solidFill>
                  <a:srgbClr val="3D4351"/>
                </a:solidFill>
                <a:latin typeface="Courier New" pitchFamily="34" charset="0"/>
                <a:ea typeface="Courier New" pitchFamily="34" charset="-122"/>
                <a:cs typeface="Courier New" pitchFamily="34" charset="-120"/>
              </a:rPr>
              <a:t>node_cpu_seconds_total{cpu="0",mode="user"} 890.12</a:t>
            </a:r>
            <a:endParaRPr lang="en-US" sz="1100" dirty="0"/>
          </a:p>
          <a:p>
            <a:pPr indent="0" marL="0">
              <a:buNone/>
            </a:pPr>
            <a:endParaRPr lang="en-US" sz="1100" dirty="0"/>
          </a:p>
          <a:p>
            <a:pPr indent="0" marL="0">
              <a:buNone/>
            </a:pPr>
            <a:r>
              <a:rPr lang="en-US" sz="1100" dirty="0">
                <a:solidFill>
                  <a:srgbClr val="3D4351"/>
                </a:solidFill>
                <a:latin typeface="Courier New" pitchFamily="34" charset="0"/>
                <a:ea typeface="Courier New" pitchFamily="34" charset="-122"/>
                <a:cs typeface="Courier New" pitchFamily="34" charset="-120"/>
              </a:rPr>
              <a:t># HELP node_memory_MemAvailable_bytes Available memory.</a:t>
            </a:r>
            <a:endParaRPr lang="en-US" sz="1100" dirty="0"/>
          </a:p>
          <a:p>
            <a:pPr indent="0" marL="0">
              <a:buNone/>
            </a:pPr>
            <a:r>
              <a:rPr lang="en-US" sz="1100" dirty="0">
                <a:solidFill>
                  <a:srgbClr val="3D4351"/>
                </a:solidFill>
                <a:latin typeface="Courier New" pitchFamily="34" charset="0"/>
                <a:ea typeface="Courier New" pitchFamily="34" charset="-122"/>
                <a:cs typeface="Courier New" pitchFamily="34" charset="-120"/>
              </a:rPr>
              <a:t># TYPE node_memory_MemAvailable_bytes gauge</a:t>
            </a:r>
            <a:endParaRPr lang="en-US" sz="1100" dirty="0"/>
          </a:p>
          <a:p>
            <a:pPr indent="0" marL="0">
              <a:buNone/>
            </a:pPr>
            <a:r>
              <a:rPr lang="en-US" sz="1100" dirty="0">
                <a:solidFill>
                  <a:srgbClr val="3D4351"/>
                </a:solidFill>
                <a:latin typeface="Courier New" pitchFamily="34" charset="0"/>
                <a:ea typeface="Courier New" pitchFamily="34" charset="-122"/>
                <a:cs typeface="Courier New" pitchFamily="34" charset="-120"/>
              </a:rPr>
              <a:t>node_memory_MemAvailable_bytes 4294967296</a:t>
            </a:r>
            <a:endParaRPr lang="en-US" sz="1100" dirty="0"/>
          </a:p>
        </p:txBody>
      </p:sp>
      <p:sp>
        <p:nvSpPr>
          <p:cNvPr id="6" name="Shape 4"/>
          <p:cNvSpPr/>
          <p:nvPr/>
        </p:nvSpPr>
        <p:spPr>
          <a:xfrm>
            <a:off x="7543800" y="1627632"/>
            <a:ext cx="3977640" cy="777240"/>
          </a:xfrm>
          <a:prstGeom prst="roundRect">
            <a:avLst>
              <a:gd name="adj" fmla="val 9412"/>
            </a:avLst>
          </a:prstGeom>
          <a:solidFill>
            <a:srgbClr val="FFFFFF"/>
          </a:solidFill>
          <a:ln w="19050">
            <a:solidFill>
              <a:srgbClr val="E8590C"/>
            </a:solidFill>
            <a:prstDash val="solid"/>
          </a:ln>
        </p:spPr>
      </p:sp>
      <p:sp>
        <p:nvSpPr>
          <p:cNvPr id="7" name="Text 5"/>
          <p:cNvSpPr/>
          <p:nvPr/>
        </p:nvSpPr>
        <p:spPr>
          <a:xfrm>
            <a:off x="7772400" y="1728216"/>
            <a:ext cx="3566160" cy="292608"/>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HELP and TYPE are metadata</a:t>
            </a:r>
            <a:endParaRPr lang="en-US" sz="1350" dirty="0"/>
          </a:p>
        </p:txBody>
      </p:sp>
      <p:sp>
        <p:nvSpPr>
          <p:cNvPr id="8" name="Text 6"/>
          <p:cNvSpPr/>
          <p:nvPr/>
        </p:nvSpPr>
        <p:spPr>
          <a:xfrm>
            <a:off x="7772400" y="2039112"/>
            <a:ext cx="3566160" cy="274320"/>
          </a:xfrm>
          <a:prstGeom prst="rect">
            <a:avLst/>
          </a:prstGeom>
          <a:noFill/>
          <a:ln/>
        </p:spPr>
        <p:txBody>
          <a:bodyPr wrap="square" lIns="0" tIns="0" rIns="0" bIns="0" rtlCol="0" anchor="ctr"/>
          <a:lstStyle/>
          <a:p>
            <a:pPr indent="0" marL="0">
              <a:buNone/>
            </a:pPr>
            <a:r>
              <a:rPr lang="en-US" sz="1200" dirty="0">
                <a:solidFill>
                  <a:srgbClr val="3D4351"/>
                </a:solidFill>
                <a:latin typeface="Calibri" pitchFamily="34" charset="0"/>
                <a:ea typeface="Calibri" pitchFamily="34" charset="-122"/>
                <a:cs typeface="Calibri" pitchFamily="34" charset="-120"/>
              </a:rPr>
              <a:t>What it means, what kind it is</a:t>
            </a:r>
            <a:endParaRPr lang="en-US" sz="1200" dirty="0"/>
          </a:p>
        </p:txBody>
      </p:sp>
      <p:sp>
        <p:nvSpPr>
          <p:cNvPr id="9" name="Shape 7"/>
          <p:cNvSpPr/>
          <p:nvPr/>
        </p:nvSpPr>
        <p:spPr>
          <a:xfrm>
            <a:off x="7543800" y="2523744"/>
            <a:ext cx="3977640" cy="777240"/>
          </a:xfrm>
          <a:prstGeom prst="roundRect">
            <a:avLst>
              <a:gd name="adj" fmla="val 9412"/>
            </a:avLst>
          </a:prstGeom>
          <a:solidFill>
            <a:srgbClr val="FFFFFF"/>
          </a:solidFill>
          <a:ln w="19050">
            <a:solidFill>
              <a:srgbClr val="2F9E44"/>
            </a:solidFill>
            <a:prstDash val="solid"/>
          </a:ln>
        </p:spPr>
      </p:sp>
      <p:sp>
        <p:nvSpPr>
          <p:cNvPr id="10" name="Text 8"/>
          <p:cNvSpPr/>
          <p:nvPr/>
        </p:nvSpPr>
        <p:spPr>
          <a:xfrm>
            <a:off x="7772400" y="2624328"/>
            <a:ext cx="3566160" cy="292608"/>
          </a:xfrm>
          <a:prstGeom prst="rect">
            <a:avLst/>
          </a:prstGeom>
          <a:noFill/>
          <a:ln/>
        </p:spPr>
        <p:txBody>
          <a:bodyPr wrap="square" lIns="0" tIns="0" rIns="0" bIns="0" rtlCol="0" anchor="ctr"/>
          <a:lstStyle/>
          <a:p>
            <a:pPr indent="0" marL="0">
              <a:buNone/>
            </a:pPr>
            <a:r>
              <a:rPr lang="en-US" sz="1350" b="1" dirty="0">
                <a:solidFill>
                  <a:srgbClr val="2F9E44"/>
                </a:solidFill>
                <a:latin typeface="Calibri" pitchFamily="34" charset="0"/>
                <a:ea typeface="Calibri" pitchFamily="34" charset="-122"/>
                <a:cs typeface="Calibri" pitchFamily="34" charset="-120"/>
              </a:rPr>
              <a:t>No timestamps in the response</a:t>
            </a:r>
            <a:endParaRPr lang="en-US" sz="1350" dirty="0"/>
          </a:p>
        </p:txBody>
      </p:sp>
      <p:sp>
        <p:nvSpPr>
          <p:cNvPr id="11" name="Text 9"/>
          <p:cNvSpPr/>
          <p:nvPr/>
        </p:nvSpPr>
        <p:spPr>
          <a:xfrm>
            <a:off x="7772400" y="2935224"/>
            <a:ext cx="3566160" cy="274320"/>
          </a:xfrm>
          <a:prstGeom prst="rect">
            <a:avLst/>
          </a:prstGeom>
          <a:noFill/>
          <a:ln/>
        </p:spPr>
        <p:txBody>
          <a:bodyPr wrap="square" lIns="0" tIns="0" rIns="0" bIns="0" rtlCol="0" anchor="ctr"/>
          <a:lstStyle/>
          <a:p>
            <a:pPr indent="0" marL="0">
              <a:buNone/>
            </a:pPr>
            <a:r>
              <a:rPr lang="en-US" sz="1200" dirty="0">
                <a:solidFill>
                  <a:srgbClr val="3D4351"/>
                </a:solidFill>
                <a:latin typeface="Calibri" pitchFamily="34" charset="0"/>
                <a:ea typeface="Calibri" pitchFamily="34" charset="-122"/>
                <a:cs typeface="Calibri" pitchFamily="34" charset="-120"/>
              </a:rPr>
              <a:t>The target does not know what time it is</a:t>
            </a:r>
            <a:endParaRPr lang="en-US" sz="1200" dirty="0"/>
          </a:p>
        </p:txBody>
      </p:sp>
      <p:sp>
        <p:nvSpPr>
          <p:cNvPr id="12" name="Shape 10"/>
          <p:cNvSpPr/>
          <p:nvPr/>
        </p:nvSpPr>
        <p:spPr>
          <a:xfrm>
            <a:off x="7543800" y="3419856"/>
            <a:ext cx="3977640" cy="777240"/>
          </a:xfrm>
          <a:prstGeom prst="roundRect">
            <a:avLst>
              <a:gd name="adj" fmla="val 9412"/>
            </a:avLst>
          </a:prstGeom>
          <a:solidFill>
            <a:srgbClr val="FFFFFF"/>
          </a:solidFill>
          <a:ln w="19050">
            <a:solidFill>
              <a:srgbClr val="6741D9"/>
            </a:solidFill>
            <a:prstDash val="solid"/>
          </a:ln>
        </p:spPr>
      </p:sp>
      <p:sp>
        <p:nvSpPr>
          <p:cNvPr id="13" name="Text 11"/>
          <p:cNvSpPr/>
          <p:nvPr/>
        </p:nvSpPr>
        <p:spPr>
          <a:xfrm>
            <a:off x="7772400" y="3520440"/>
            <a:ext cx="3566160" cy="292608"/>
          </a:xfrm>
          <a:prstGeom prst="rect">
            <a:avLst/>
          </a:prstGeom>
          <a:noFill/>
          <a:ln/>
        </p:spPr>
        <p:txBody>
          <a:bodyPr wrap="square" lIns="0" tIns="0" rIns="0" bIns="0" rtlCol="0" anchor="ctr"/>
          <a:lstStyle/>
          <a:p>
            <a:pPr indent="0" marL="0">
              <a:buNone/>
            </a:pPr>
            <a:r>
              <a:rPr lang="en-US" sz="1350" b="1" dirty="0">
                <a:solidFill>
                  <a:srgbClr val="6741D9"/>
                </a:solidFill>
                <a:latin typeface="Calibri" pitchFamily="34" charset="0"/>
                <a:ea typeface="Calibri" pitchFamily="34" charset="-122"/>
                <a:cs typeface="Calibri" pitchFamily="34" charset="-120"/>
              </a:rPr>
              <a:t>Counter versus gauge</a:t>
            </a:r>
            <a:endParaRPr lang="en-US" sz="1350" dirty="0"/>
          </a:p>
        </p:txBody>
      </p:sp>
      <p:sp>
        <p:nvSpPr>
          <p:cNvPr id="14" name="Text 12"/>
          <p:cNvSpPr/>
          <p:nvPr/>
        </p:nvSpPr>
        <p:spPr>
          <a:xfrm>
            <a:off x="7772400" y="3831336"/>
            <a:ext cx="3566160" cy="274320"/>
          </a:xfrm>
          <a:prstGeom prst="rect">
            <a:avLst/>
          </a:prstGeom>
          <a:noFill/>
          <a:ln/>
        </p:spPr>
        <p:txBody>
          <a:bodyPr wrap="square" lIns="0" tIns="0" rIns="0" bIns="0" rtlCol="0" anchor="ctr"/>
          <a:lstStyle/>
          <a:p>
            <a:pPr indent="0" marL="0">
              <a:buNone/>
            </a:pPr>
            <a:r>
              <a:rPr lang="en-US" sz="1200" dirty="0">
                <a:solidFill>
                  <a:srgbClr val="3D4351"/>
                </a:solidFill>
                <a:latin typeface="Calibri" pitchFamily="34" charset="0"/>
                <a:ea typeface="Calibri" pitchFamily="34" charset="-122"/>
                <a:cs typeface="Calibri" pitchFamily="34" charset="-120"/>
              </a:rPr>
              <a:t>One only rises, one moves freely</a:t>
            </a:r>
            <a:endParaRPr lang="en-US" sz="1200" dirty="0"/>
          </a:p>
        </p:txBody>
      </p:sp>
      <p:sp>
        <p:nvSpPr>
          <p:cNvPr id="15" name="Shape 13"/>
          <p:cNvSpPr/>
          <p:nvPr/>
        </p:nvSpPr>
        <p:spPr>
          <a:xfrm>
            <a:off x="640080" y="4526280"/>
            <a:ext cx="10881360" cy="1554480"/>
          </a:xfrm>
          <a:prstGeom prst="roundRect">
            <a:avLst>
              <a:gd name="adj" fmla="val 4706"/>
            </a:avLst>
          </a:prstGeom>
          <a:solidFill>
            <a:srgbClr val="F4F6F9"/>
          </a:solidFill>
          <a:ln w="19050">
            <a:solidFill>
              <a:srgbClr val="1A1D26"/>
            </a:solidFill>
            <a:prstDash val="solid"/>
          </a:ln>
        </p:spPr>
      </p:sp>
      <p:sp>
        <p:nvSpPr>
          <p:cNvPr id="16" name="Text 14"/>
          <p:cNvSpPr/>
          <p:nvPr/>
        </p:nvSpPr>
        <p:spPr>
          <a:xfrm>
            <a:off x="1005840" y="4736592"/>
            <a:ext cx="10149840" cy="347472"/>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A counter only ever increases and resets to zero on restart</a:t>
            </a:r>
            <a:endParaRPr lang="en-US" sz="1600" dirty="0"/>
          </a:p>
        </p:txBody>
      </p:sp>
      <p:sp>
        <p:nvSpPr>
          <p:cNvPr id="17" name="Text 15"/>
          <p:cNvSpPr/>
          <p:nvPr/>
        </p:nvSpPr>
        <p:spPr>
          <a:xfrm>
            <a:off x="1005840" y="5120640"/>
            <a:ext cx="10149840" cy="77724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Its raw value is meaningless on its own. You care about the rate of change, which is why PromQL queries against counters almost always wrap them in rate().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TIME SERIES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A metric name plus labels equals identity</a:t>
            </a:r>
            <a:endParaRPr lang="en-US" sz="3400" dirty="0"/>
          </a:p>
        </p:txBody>
      </p:sp>
      <p:sp>
        <p:nvSpPr>
          <p:cNvPr id="4" name="Shape 2"/>
          <p:cNvSpPr/>
          <p:nvPr/>
        </p:nvSpPr>
        <p:spPr>
          <a:xfrm>
            <a:off x="640080" y="1645920"/>
            <a:ext cx="10881360" cy="1234440"/>
          </a:xfrm>
          <a:prstGeom prst="roundRect">
            <a:avLst>
              <a:gd name="adj" fmla="val 3704"/>
            </a:avLst>
          </a:prstGeom>
          <a:solidFill>
            <a:srgbClr val="F4F6F9"/>
          </a:solidFill>
          <a:ln w="12700">
            <a:solidFill>
              <a:srgbClr val="D8DCE3"/>
            </a:solidFill>
            <a:prstDash val="solid"/>
          </a:ln>
        </p:spPr>
      </p:sp>
      <p:sp>
        <p:nvSpPr>
          <p:cNvPr id="5" name="Text 3"/>
          <p:cNvSpPr/>
          <p:nvPr/>
        </p:nvSpPr>
        <p:spPr>
          <a:xfrm>
            <a:off x="804672" y="1755648"/>
            <a:ext cx="10552176" cy="1014984"/>
          </a:xfrm>
          <a:prstGeom prst="rect">
            <a:avLst/>
          </a:prstGeom>
          <a:noFill/>
          <a:ln/>
        </p:spPr>
        <p:txBody>
          <a:bodyPr wrap="square" lIns="0" tIns="0" rIns="0" bIns="0" rtlCol="0" anchor="t"/>
          <a:lstStyle/>
          <a:p>
            <a:pPr indent="0" marL="0">
              <a:buNone/>
            </a:pPr>
            <a:r>
              <a:rPr lang="en-US" sz="1300" dirty="0">
                <a:solidFill>
                  <a:srgbClr val="3D4351"/>
                </a:solidFill>
                <a:latin typeface="Courier New" pitchFamily="34" charset="0"/>
                <a:ea typeface="Courier New" pitchFamily="34" charset="-122"/>
                <a:cs typeface="Courier New" pitchFamily="34" charset="-120"/>
              </a:rPr>
              <a:t>node_cpu_seconds_total{instance="node1", mode="idle"}</a:t>
            </a:r>
            <a:endParaRPr lang="en-US" sz="1300" dirty="0"/>
          </a:p>
          <a:p>
            <a:pPr indent="0" marL="0">
              <a:buNone/>
            </a:pPr>
            <a:endParaRPr lang="en-US" sz="1300" dirty="0"/>
          </a:p>
          <a:p>
            <a:pPr indent="0" marL="0">
              <a:buNone/>
            </a:pPr>
            <a:r>
              <a:rPr lang="en-US" sz="1300" dirty="0">
                <a:solidFill>
                  <a:srgbClr val="3D4351"/>
                </a:solidFill>
                <a:latin typeface="Courier New" pitchFamily="34" charset="0"/>
                <a:ea typeface="Courier New" pitchFamily="34" charset="-122"/>
                <a:cs typeface="Courier New" pitchFamily="34" charset="-120"/>
              </a:rPr>
              <a:t>    12345.67  at 10:00:00      12346.01  at 10:00:30      12346.89  at 10:01:00</a:t>
            </a:r>
            <a:endParaRPr lang="en-US" sz="1300" dirty="0"/>
          </a:p>
        </p:txBody>
      </p:sp>
      <p:sp>
        <p:nvSpPr>
          <p:cNvPr id="6" name="Text 4"/>
          <p:cNvSpPr/>
          <p:nvPr/>
        </p:nvSpPr>
        <p:spPr>
          <a:xfrm>
            <a:off x="640080" y="3017520"/>
            <a:ext cx="10881360" cy="365760"/>
          </a:xfrm>
          <a:prstGeom prst="rect">
            <a:avLst/>
          </a:prstGeom>
          <a:noFill/>
          <a:ln/>
        </p:spPr>
        <p:txBody>
          <a:bodyPr wrap="square" lIns="0" tIns="0" rIns="0" bIns="0" rtlCol="0" anchor="ctr"/>
          <a:lstStyle/>
          <a:p>
            <a:pPr indent="0" marL="0">
              <a:buNone/>
            </a:pPr>
            <a:r>
              <a:rPr lang="en-US" sz="1600" b="1" dirty="0">
                <a:solidFill>
                  <a:srgbClr val="1A1D26"/>
                </a:solidFill>
                <a:latin typeface="Calibri" pitchFamily="34" charset="0"/>
                <a:ea typeface="Calibri" pitchFamily="34" charset="-122"/>
                <a:cs typeface="Calibri" pitchFamily="34" charset="-120"/>
              </a:rPr>
              <a:t>Change one label value and you have a different series with its own separate history.</a:t>
            </a:r>
            <a:endParaRPr lang="en-US" sz="1600" dirty="0"/>
          </a:p>
        </p:txBody>
      </p:sp>
      <p:sp>
        <p:nvSpPr>
          <p:cNvPr id="7" name="Shape 5"/>
          <p:cNvSpPr/>
          <p:nvPr/>
        </p:nvSpPr>
        <p:spPr>
          <a:xfrm>
            <a:off x="640080" y="3520440"/>
            <a:ext cx="10881360" cy="1143000"/>
          </a:xfrm>
          <a:prstGeom prst="roundRect">
            <a:avLst>
              <a:gd name="adj" fmla="val 4000"/>
            </a:avLst>
          </a:prstGeom>
          <a:solidFill>
            <a:srgbClr val="F4F6F9"/>
          </a:solidFill>
          <a:ln w="12700">
            <a:solidFill>
              <a:srgbClr val="D8DCE3"/>
            </a:solidFill>
            <a:prstDash val="solid"/>
          </a:ln>
        </p:spPr>
      </p:sp>
      <p:sp>
        <p:nvSpPr>
          <p:cNvPr id="8" name="Text 6"/>
          <p:cNvSpPr/>
          <p:nvPr/>
        </p:nvSpPr>
        <p:spPr>
          <a:xfrm>
            <a:off x="804672" y="3630168"/>
            <a:ext cx="10552176" cy="923544"/>
          </a:xfrm>
          <a:prstGeom prst="rect">
            <a:avLst/>
          </a:prstGeom>
          <a:noFill/>
          <a:ln/>
        </p:spPr>
        <p:txBody>
          <a:bodyPr wrap="square" lIns="0" tIns="0" rIns="0" bIns="0" rtlCol="0" anchor="t"/>
          <a:lstStyle/>
          <a:p>
            <a:pPr indent="0" marL="0">
              <a:buNone/>
            </a:pPr>
            <a:r>
              <a:rPr lang="en-US" sz="1300" dirty="0">
                <a:solidFill>
                  <a:srgbClr val="3D4351"/>
                </a:solidFill>
                <a:latin typeface="Courier New" pitchFamily="34" charset="0"/>
                <a:ea typeface="Courier New" pitchFamily="34" charset="-122"/>
                <a:cs typeface="Courier New" pitchFamily="34" charset="-120"/>
              </a:rPr>
              <a:t>http_requests_total{method="GET",  status="200", service="api"}</a:t>
            </a:r>
            <a:endParaRPr lang="en-US" sz="1300" dirty="0"/>
          </a:p>
          <a:p>
            <a:pPr indent="0" marL="0">
              <a:buNone/>
            </a:pPr>
            <a:r>
              <a:rPr lang="en-US" sz="1300" dirty="0">
                <a:solidFill>
                  <a:srgbClr val="3D4351"/>
                </a:solidFill>
                <a:latin typeface="Courier New" pitchFamily="34" charset="0"/>
                <a:ea typeface="Courier New" pitchFamily="34" charset="-122"/>
                <a:cs typeface="Courier New" pitchFamily="34" charset="-120"/>
              </a:rPr>
              <a:t>http_requests_total{method="POST", status="500", service="api"}</a:t>
            </a:r>
            <a:endParaRPr lang="en-US" sz="1300" dirty="0"/>
          </a:p>
          <a:p>
            <a:pPr indent="0" marL="0">
              <a:buNone/>
            </a:pPr>
            <a:r>
              <a:rPr lang="en-US" sz="1300" dirty="0">
                <a:solidFill>
                  <a:srgbClr val="3D4351"/>
                </a:solidFill>
                <a:latin typeface="Courier New" pitchFamily="34" charset="0"/>
                <a:ea typeface="Courier New" pitchFamily="34" charset="-122"/>
                <a:cs typeface="Courier New" pitchFamily="34" charset="-120"/>
              </a:rPr>
              <a:t>http_requests_total{method="GET",  status="200", service="web"}</a:t>
            </a:r>
            <a:endParaRPr lang="en-US" sz="1300" dirty="0"/>
          </a:p>
        </p:txBody>
      </p:sp>
      <p:sp>
        <p:nvSpPr>
          <p:cNvPr id="9" name="Text 7"/>
          <p:cNvSpPr/>
          <p:nvPr/>
        </p:nvSpPr>
        <p:spPr>
          <a:xfrm>
            <a:off x="640080" y="4800600"/>
            <a:ext cx="10881360" cy="320040"/>
          </a:xfrm>
          <a:prstGeom prst="rect">
            <a:avLst/>
          </a:prstGeom>
          <a:noFill/>
          <a:ln/>
        </p:spPr>
        <p:txBody>
          <a:bodyPr wrap="square" lIns="0" tIns="0" rIns="0" bIns="0" rtlCol="0" anchor="ctr"/>
          <a:lstStyle/>
          <a:p>
            <a:pPr indent="0" marL="0">
              <a:buNone/>
            </a:pPr>
            <a:r>
              <a:rPr lang="en-US" sz="1450" dirty="0">
                <a:solidFill>
                  <a:srgbClr val="3D4351"/>
                </a:solidFill>
                <a:latin typeface="Calibri" pitchFamily="34" charset="0"/>
                <a:ea typeface="Calibri" pitchFamily="34" charset="-122"/>
                <a:cs typeface="Calibri" pitchFamily="34" charset="-120"/>
              </a:rPr>
              <a:t>Same metric name. Three separate time series, because the label sets differ.</a:t>
            </a:r>
            <a:endParaRPr lang="en-US" sz="1450" dirty="0"/>
          </a:p>
        </p:txBody>
      </p:sp>
      <p:sp>
        <p:nvSpPr>
          <p:cNvPr id="10" name="Shape 8"/>
          <p:cNvSpPr/>
          <p:nvPr/>
        </p:nvSpPr>
        <p:spPr>
          <a:xfrm>
            <a:off x="640080" y="5257800"/>
            <a:ext cx="10881360" cy="1005840"/>
          </a:xfrm>
          <a:prstGeom prst="roundRect">
            <a:avLst>
              <a:gd name="adj" fmla="val 7273"/>
            </a:avLst>
          </a:prstGeom>
          <a:solidFill>
            <a:srgbClr val="E9E2FB"/>
          </a:solidFill>
          <a:ln w="19050">
            <a:solidFill>
              <a:srgbClr val="6741D9"/>
            </a:solidFill>
            <a:prstDash val="solid"/>
          </a:ln>
        </p:spPr>
      </p:sp>
      <p:sp>
        <p:nvSpPr>
          <p:cNvPr id="11" name="Text 9"/>
          <p:cNvSpPr/>
          <p:nvPr/>
        </p:nvSpPr>
        <p:spPr>
          <a:xfrm>
            <a:off x="1005840" y="5532120"/>
            <a:ext cx="10149840" cy="502920"/>
          </a:xfrm>
          <a:prstGeom prst="rect">
            <a:avLst/>
          </a:prstGeom>
          <a:noFill/>
          <a:ln/>
        </p:spPr>
        <p:txBody>
          <a:bodyPr wrap="square" lIns="0" tIns="0" rIns="0" bIns="0" rtlCol="0" anchor="ctr"/>
          <a:lstStyle/>
          <a:p>
            <a:pPr indent="0" marL="0">
              <a:buNone/>
            </a:pPr>
            <a:r>
              <a:rPr lang="en-US" sz="1400" dirty="0">
                <a:solidFill>
                  <a:srgbClr val="1A1D26"/>
                </a:solidFill>
                <a:latin typeface="Calibri" pitchFamily="34" charset="0"/>
                <a:ea typeface="Calibri" pitchFamily="34" charset="-122"/>
                <a:cs typeface="Calibri" pitchFamily="34" charset="-120"/>
              </a:rPr>
              <a:t>This is what makes PromQL powerful. Filter on any label, aggregate away the ones you do not care about, group by the ones you do. All without defining those views in advance.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CARDINALITY</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The fastest way to break Prometheus</a:t>
            </a:r>
            <a:endParaRPr lang="en-US" sz="3400" dirty="0"/>
          </a:p>
        </p:txBody>
      </p:sp>
      <p:sp>
        <p:nvSpPr>
          <p:cNvPr id="4" name="Shape 2"/>
          <p:cNvSpPr/>
          <p:nvPr/>
        </p:nvSpPr>
        <p:spPr>
          <a:xfrm>
            <a:off x="640080" y="1645920"/>
            <a:ext cx="5257800" cy="2240280"/>
          </a:xfrm>
          <a:prstGeom prst="roundRect">
            <a:avLst>
              <a:gd name="adj" fmla="val 3265"/>
            </a:avLst>
          </a:prstGeom>
          <a:solidFill>
            <a:srgbClr val="DFF3E3"/>
          </a:solidFill>
          <a:ln w="19050">
            <a:solidFill>
              <a:srgbClr val="2F9E44"/>
            </a:solidFill>
            <a:prstDash val="solid"/>
          </a:ln>
        </p:spPr>
      </p:sp>
      <p:sp>
        <p:nvSpPr>
          <p:cNvPr id="5" name="Text 3"/>
          <p:cNvSpPr/>
          <p:nvPr/>
        </p:nvSpPr>
        <p:spPr>
          <a:xfrm>
            <a:off x="960120" y="1847088"/>
            <a:ext cx="4572000" cy="347472"/>
          </a:xfrm>
          <a:prstGeom prst="rect">
            <a:avLst/>
          </a:prstGeom>
          <a:noFill/>
          <a:ln/>
        </p:spPr>
        <p:txBody>
          <a:bodyPr wrap="square" lIns="0" tIns="0" rIns="0" bIns="0" rtlCol="0" anchor="ctr"/>
          <a:lstStyle/>
          <a:p>
            <a:pPr indent="0" marL="0">
              <a:buNone/>
            </a:pPr>
            <a:r>
              <a:rPr lang="en-US" sz="1600" b="1" spc="100" kern="0" dirty="0">
                <a:solidFill>
                  <a:srgbClr val="2F9E44"/>
                </a:solidFill>
                <a:latin typeface="Cambria" pitchFamily="34" charset="0"/>
                <a:ea typeface="Cambria" pitchFamily="34" charset="-122"/>
                <a:cs typeface="Cambria" pitchFamily="34" charset="-120"/>
              </a:rPr>
              <a:t>BOUNDED, SAFE</a:t>
            </a:r>
            <a:endParaRPr lang="en-US" sz="1600" dirty="0"/>
          </a:p>
        </p:txBody>
      </p:sp>
      <p:sp>
        <p:nvSpPr>
          <p:cNvPr id="6" name="Text 4"/>
          <p:cNvSpPr/>
          <p:nvPr/>
        </p:nvSpPr>
        <p:spPr>
          <a:xfrm>
            <a:off x="960120" y="2286000"/>
            <a:ext cx="4617720" cy="1188720"/>
          </a:xfrm>
          <a:prstGeom prst="rect">
            <a:avLst/>
          </a:prstGeom>
          <a:noFill/>
          <a:ln/>
        </p:spPr>
        <p:txBody>
          <a:bodyPr wrap="square" lIns="0" tIns="0" rIns="0" bIns="0" rtlCol="0" anchor="ctr"/>
          <a:lstStyle/>
          <a:p>
            <a:pPr indent="0" marL="0">
              <a:lnSpc>
                <a:spcPts val="2200"/>
              </a:lnSpc>
              <a:buNone/>
            </a:pPr>
            <a:r>
              <a:rPr lang="en-US" sz="1350" dirty="0">
                <a:solidFill>
                  <a:srgbClr val="3D4351"/>
                </a:solidFill>
                <a:latin typeface="Courier New" pitchFamily="34" charset="0"/>
                <a:ea typeface="Courier New" pitchFamily="34" charset="-122"/>
                <a:cs typeface="Courier New" pitchFamily="34" charset="-120"/>
              </a:rPr>
              <a:t>method    a handful of values</a:t>
            </a:r>
            <a:endParaRPr lang="en-US" sz="1350" dirty="0"/>
          </a:p>
          <a:p>
            <a:pPr indent="0" marL="0">
              <a:lnSpc>
                <a:spcPts val="2200"/>
              </a:lnSpc>
              <a:buNone/>
            </a:pPr>
            <a:r>
              <a:rPr lang="en-US" sz="1350" dirty="0">
                <a:solidFill>
                  <a:srgbClr val="3D4351"/>
                </a:solidFill>
                <a:latin typeface="Courier New" pitchFamily="34" charset="0"/>
                <a:ea typeface="Courier New" pitchFamily="34" charset="-122"/>
                <a:cs typeface="Courier New" pitchFamily="34" charset="-120"/>
              </a:rPr>
              <a:t>status    a few dozen</a:t>
            </a:r>
            <a:endParaRPr lang="en-US" sz="1350" dirty="0"/>
          </a:p>
          <a:p>
            <a:pPr indent="0" marL="0">
              <a:lnSpc>
                <a:spcPts val="2200"/>
              </a:lnSpc>
              <a:buNone/>
            </a:pPr>
            <a:r>
              <a:rPr lang="en-US" sz="1350" dirty="0">
                <a:solidFill>
                  <a:srgbClr val="3D4351"/>
                </a:solidFill>
                <a:latin typeface="Courier New" pitchFamily="34" charset="0"/>
                <a:ea typeface="Courier New" pitchFamily="34" charset="-122"/>
                <a:cs typeface="Courier New" pitchFamily="34" charset="-120"/>
              </a:rPr>
              <a:t>service   tens or hundreds</a:t>
            </a:r>
            <a:endParaRPr lang="en-US" sz="1350" dirty="0"/>
          </a:p>
          <a:p>
            <a:pPr indent="0" marL="0">
              <a:lnSpc>
                <a:spcPts val="2200"/>
              </a:lnSpc>
              <a:buNone/>
            </a:pPr>
            <a:r>
              <a:rPr lang="en-US" sz="1350" dirty="0">
                <a:solidFill>
                  <a:srgbClr val="3D4351"/>
                </a:solidFill>
                <a:latin typeface="Courier New" pitchFamily="34" charset="0"/>
                <a:ea typeface="Courier New" pitchFamily="34" charset="-122"/>
                <a:cs typeface="Courier New" pitchFamily="34" charset="-120"/>
              </a:rPr>
              <a:t>namespace tens</a:t>
            </a:r>
            <a:endParaRPr lang="en-US" sz="1350" dirty="0"/>
          </a:p>
        </p:txBody>
      </p:sp>
      <p:sp>
        <p:nvSpPr>
          <p:cNvPr id="7" name="Shape 5"/>
          <p:cNvSpPr/>
          <p:nvPr/>
        </p:nvSpPr>
        <p:spPr>
          <a:xfrm>
            <a:off x="6263640" y="1645920"/>
            <a:ext cx="5257800" cy="2240280"/>
          </a:xfrm>
          <a:prstGeom prst="roundRect">
            <a:avLst>
              <a:gd name="adj" fmla="val 3265"/>
            </a:avLst>
          </a:prstGeom>
          <a:solidFill>
            <a:srgbClr val="FBE0E0"/>
          </a:solidFill>
          <a:ln w="19050">
            <a:solidFill>
              <a:srgbClr val="C92A2A"/>
            </a:solidFill>
            <a:prstDash val="solid"/>
          </a:ln>
        </p:spPr>
      </p:sp>
      <p:sp>
        <p:nvSpPr>
          <p:cNvPr id="8" name="Text 6"/>
          <p:cNvSpPr/>
          <p:nvPr/>
        </p:nvSpPr>
        <p:spPr>
          <a:xfrm>
            <a:off x="6583680" y="1847088"/>
            <a:ext cx="4754880" cy="347472"/>
          </a:xfrm>
          <a:prstGeom prst="rect">
            <a:avLst/>
          </a:prstGeom>
          <a:noFill/>
          <a:ln/>
        </p:spPr>
        <p:txBody>
          <a:bodyPr wrap="square" lIns="0" tIns="0" rIns="0" bIns="0" rtlCol="0" anchor="ctr"/>
          <a:lstStyle/>
          <a:p>
            <a:pPr indent="0" marL="0">
              <a:buNone/>
            </a:pPr>
            <a:r>
              <a:rPr lang="en-US" sz="1600" b="1" spc="100" kern="0" dirty="0">
                <a:solidFill>
                  <a:srgbClr val="C92A2A"/>
                </a:solidFill>
                <a:latin typeface="Cambria" pitchFamily="34" charset="0"/>
                <a:ea typeface="Cambria" pitchFamily="34" charset="-122"/>
                <a:cs typeface="Cambria" pitchFamily="34" charset="-120"/>
              </a:rPr>
              <a:t>UNBOUNDED, DANGEROUS</a:t>
            </a:r>
            <a:endParaRPr lang="en-US" sz="1600" dirty="0"/>
          </a:p>
        </p:txBody>
      </p:sp>
      <p:sp>
        <p:nvSpPr>
          <p:cNvPr id="9" name="Text 7"/>
          <p:cNvSpPr/>
          <p:nvPr/>
        </p:nvSpPr>
        <p:spPr>
          <a:xfrm>
            <a:off x="6583680" y="2286000"/>
            <a:ext cx="4617720" cy="1188720"/>
          </a:xfrm>
          <a:prstGeom prst="rect">
            <a:avLst/>
          </a:prstGeom>
          <a:noFill/>
          <a:ln/>
        </p:spPr>
        <p:txBody>
          <a:bodyPr wrap="square" lIns="0" tIns="0" rIns="0" bIns="0" rtlCol="0" anchor="ctr"/>
          <a:lstStyle/>
          <a:p>
            <a:pPr indent="0" marL="0">
              <a:lnSpc>
                <a:spcPts val="2200"/>
              </a:lnSpc>
              <a:buNone/>
            </a:pPr>
            <a:r>
              <a:rPr lang="en-US" sz="1350" dirty="0">
                <a:solidFill>
                  <a:srgbClr val="3D4351"/>
                </a:solidFill>
                <a:latin typeface="Courier New" pitchFamily="34" charset="0"/>
                <a:ea typeface="Courier New" pitchFamily="34" charset="-122"/>
                <a:cs typeface="Courier New" pitchFamily="34" charset="-120"/>
              </a:rPr>
              <a:t>user_id     one series per user</a:t>
            </a:r>
            <a:endParaRPr lang="en-US" sz="1350" dirty="0"/>
          </a:p>
          <a:p>
            <a:pPr indent="0" marL="0">
              <a:lnSpc>
                <a:spcPts val="2200"/>
              </a:lnSpc>
              <a:buNone/>
            </a:pPr>
            <a:r>
              <a:rPr lang="en-US" sz="1350" dirty="0">
                <a:solidFill>
                  <a:srgbClr val="3D4351"/>
                </a:solidFill>
                <a:latin typeface="Courier New" pitchFamily="34" charset="0"/>
                <a:ea typeface="Courier New" pitchFamily="34" charset="-122"/>
                <a:cs typeface="Courier New" pitchFamily="34" charset="-120"/>
              </a:rPr>
              <a:t>request_id  one series per request</a:t>
            </a:r>
            <a:endParaRPr lang="en-US" sz="1350" dirty="0"/>
          </a:p>
          <a:p>
            <a:pPr indent="0" marL="0">
              <a:lnSpc>
                <a:spcPts val="2200"/>
              </a:lnSpc>
              <a:buNone/>
            </a:pPr>
            <a:r>
              <a:rPr lang="en-US" sz="1350" dirty="0">
                <a:solidFill>
                  <a:srgbClr val="3D4351"/>
                </a:solidFill>
                <a:latin typeface="Courier New" pitchFamily="34" charset="0"/>
                <a:ea typeface="Courier New" pitchFamily="34" charset="-122"/>
                <a:cs typeface="Courier New" pitchFamily="34" charset="-120"/>
              </a:rPr>
              <a:t>email       millions</a:t>
            </a:r>
            <a:endParaRPr lang="en-US" sz="1350" dirty="0"/>
          </a:p>
          <a:p>
            <a:pPr indent="0" marL="0">
              <a:lnSpc>
                <a:spcPts val="2200"/>
              </a:lnSpc>
              <a:buNone/>
            </a:pPr>
            <a:r>
              <a:rPr lang="en-US" sz="1350" dirty="0">
                <a:solidFill>
                  <a:srgbClr val="3D4351"/>
                </a:solidFill>
                <a:latin typeface="Courier New" pitchFamily="34" charset="0"/>
                <a:ea typeface="Courier New" pitchFamily="34" charset="-122"/>
                <a:cs typeface="Courier New" pitchFamily="34" charset="-120"/>
              </a:rPr>
              <a:t>session_id  unbounded, forever</a:t>
            </a:r>
            <a:endParaRPr lang="en-US" sz="1350" dirty="0"/>
          </a:p>
        </p:txBody>
      </p:sp>
      <p:sp>
        <p:nvSpPr>
          <p:cNvPr id="10" name="Text 8"/>
          <p:cNvSpPr/>
          <p:nvPr/>
        </p:nvSpPr>
        <p:spPr>
          <a:xfrm>
            <a:off x="640080" y="4114800"/>
            <a:ext cx="10881360" cy="365760"/>
          </a:xfrm>
          <a:prstGeom prst="rect">
            <a:avLst/>
          </a:prstGeom>
          <a:noFill/>
          <a:ln/>
        </p:spPr>
        <p:txBody>
          <a:bodyPr wrap="square" lIns="0" tIns="0" rIns="0" bIns="0" rtlCol="0" anchor="ctr"/>
          <a:lstStyle/>
          <a:p>
            <a:pPr indent="0" marL="0">
              <a:buNone/>
            </a:pPr>
            <a:r>
              <a:rPr lang="en-US" sz="1600" dirty="0">
                <a:solidFill>
                  <a:srgbClr val="3D4351"/>
                </a:solidFill>
                <a:latin typeface="Calibri" pitchFamily="34" charset="0"/>
                <a:ea typeface="Calibri" pitchFamily="34" charset="-122"/>
                <a:cs typeface="Calibri" pitchFamily="34" charset="-120"/>
              </a:rPr>
              <a:t>Every unique label combination is a separate time series, indexed in memory.</a:t>
            </a:r>
            <a:endParaRPr lang="en-US" sz="1600" dirty="0"/>
          </a:p>
        </p:txBody>
      </p:sp>
      <p:sp>
        <p:nvSpPr>
          <p:cNvPr id="11" name="Text 9"/>
          <p:cNvSpPr/>
          <p:nvPr/>
        </p:nvSpPr>
        <p:spPr>
          <a:xfrm>
            <a:off x="640080" y="4526280"/>
            <a:ext cx="10881360" cy="365760"/>
          </a:xfrm>
          <a:prstGeom prst="rect">
            <a:avLst/>
          </a:prstGeom>
          <a:noFill/>
          <a:ln/>
        </p:spPr>
        <p:txBody>
          <a:bodyPr wrap="square" lIns="0" tIns="0" rIns="0" bIns="0" rtlCol="0" anchor="ctr"/>
          <a:lstStyle/>
          <a:p>
            <a:pPr indent="0" marL="0">
              <a:buNone/>
            </a:pPr>
            <a:r>
              <a:rPr lang="en-US" sz="1600" b="1" dirty="0">
                <a:solidFill>
                  <a:srgbClr val="C92A2A"/>
                </a:solidFill>
                <a:latin typeface="Calibri" pitchFamily="34" charset="0"/>
                <a:ea typeface="Calibri" pitchFamily="34" charset="-122"/>
                <a:cs typeface="Calibri" pitchFamily="34" charset="-120"/>
              </a:rPr>
              <a:t>Unbounded cardinality is the leading cause of Prometheus running out of memory in production.</a:t>
            </a:r>
            <a:endParaRPr lang="en-US" sz="1600" dirty="0"/>
          </a:p>
        </p:txBody>
      </p:sp>
      <p:sp>
        <p:nvSpPr>
          <p:cNvPr id="12" name="Shape 10"/>
          <p:cNvSpPr/>
          <p:nvPr/>
        </p:nvSpPr>
        <p:spPr>
          <a:xfrm>
            <a:off x="640080" y="5166360"/>
            <a:ext cx="10881360" cy="1097280"/>
          </a:xfrm>
          <a:prstGeom prst="roundRect">
            <a:avLst>
              <a:gd name="adj" fmla="val 6667"/>
            </a:avLst>
          </a:prstGeom>
          <a:solidFill>
            <a:srgbClr val="F4F6F9"/>
          </a:solidFill>
          <a:ln w="19050">
            <a:solidFill>
              <a:srgbClr val="1A1D26"/>
            </a:solidFill>
            <a:prstDash val="solid"/>
          </a:ln>
        </p:spPr>
      </p:sp>
      <p:sp>
        <p:nvSpPr>
          <p:cNvPr id="13" name="Text 11"/>
          <p:cNvSpPr/>
          <p:nvPr/>
        </p:nvSpPr>
        <p:spPr>
          <a:xfrm>
            <a:off x="1005840" y="5349240"/>
            <a:ext cx="2743200" cy="292608"/>
          </a:xfrm>
          <a:prstGeom prst="rect">
            <a:avLst/>
          </a:prstGeom>
          <a:noFill/>
          <a:ln/>
        </p:spPr>
        <p:txBody>
          <a:bodyPr wrap="square" lIns="0" tIns="0" rIns="0" bIns="0" rtlCol="0" anchor="ctr"/>
          <a:lstStyle/>
          <a:p>
            <a:pPr indent="0" marL="0">
              <a:buNone/>
            </a:pPr>
            <a:r>
              <a:rPr lang="en-US" sz="1300" b="1" spc="100" kern="0" dirty="0">
                <a:solidFill>
                  <a:srgbClr val="6B7280"/>
                </a:solidFill>
                <a:latin typeface="Calibri" pitchFamily="34" charset="0"/>
                <a:ea typeface="Calibri" pitchFamily="34" charset="-122"/>
                <a:cs typeface="Calibri" pitchFamily="34" charset="-120"/>
              </a:rPr>
              <a:t>The rule</a:t>
            </a:r>
            <a:endParaRPr lang="en-US" sz="1300" dirty="0"/>
          </a:p>
        </p:txBody>
      </p:sp>
      <p:sp>
        <p:nvSpPr>
          <p:cNvPr id="14" name="Text 12"/>
          <p:cNvSpPr/>
          <p:nvPr/>
        </p:nvSpPr>
        <p:spPr>
          <a:xfrm>
            <a:off x="1005840" y="5632704"/>
            <a:ext cx="10149840" cy="411480"/>
          </a:xfrm>
          <a:prstGeom prst="rect">
            <a:avLst/>
          </a:prstGeom>
          <a:noFill/>
          <a:ln/>
        </p:spPr>
        <p:txBody>
          <a:bodyPr wrap="square" lIns="0" tIns="0" rIns="0" bIns="0" rtlCol="0" anchor="ctr"/>
          <a:lstStyle/>
          <a:p>
            <a:pPr indent="0" marL="0">
              <a:buNone/>
            </a:pPr>
            <a:r>
              <a:rPr lang="en-US" sz="1900" b="1" dirty="0">
                <a:solidFill>
                  <a:srgbClr val="1A1D26"/>
                </a:solidFill>
                <a:latin typeface="Cambria" pitchFamily="34" charset="0"/>
                <a:ea typeface="Cambria" pitchFamily="34" charset="-122"/>
                <a:cs typeface="Cambria" pitchFamily="34" charset="-120"/>
              </a:rPr>
              <a:t>Labels are for dimensions you group by. Identity belongs in logs.</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PROMQL</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Enough to read the queries ahead</a:t>
            </a:r>
            <a:endParaRPr lang="en-US" sz="3400" dirty="0"/>
          </a:p>
        </p:txBody>
      </p:sp>
      <p:sp>
        <p:nvSpPr>
          <p:cNvPr id="4" name="Text 2"/>
          <p:cNvSpPr/>
          <p:nvPr/>
        </p:nvSpPr>
        <p:spPr>
          <a:xfrm>
            <a:off x="640080" y="1600200"/>
            <a:ext cx="10881360" cy="320040"/>
          </a:xfrm>
          <a:prstGeom prst="rect">
            <a:avLst/>
          </a:prstGeom>
          <a:noFill/>
          <a:ln/>
        </p:spPr>
        <p:txBody>
          <a:bodyPr wrap="square" lIns="0" tIns="0" rIns="0" bIns="0" rtlCol="0" anchor="ctr"/>
          <a:lstStyle/>
          <a:p>
            <a:pPr indent="0" marL="0">
              <a:buNone/>
            </a:pPr>
            <a:r>
              <a:rPr lang="en-US" sz="1500" b="1" dirty="0">
                <a:solidFill>
                  <a:srgbClr val="1A1D26"/>
                </a:solidFill>
                <a:latin typeface="Calibri" pitchFamily="34" charset="0"/>
                <a:ea typeface="Calibri" pitchFamily="34" charset="-122"/>
                <a:cs typeface="Calibri" pitchFamily="34" charset="-120"/>
              </a:rPr>
              <a:t>CPU usage percentage per node</a:t>
            </a:r>
            <a:endParaRPr lang="en-US" sz="1500" dirty="0"/>
          </a:p>
        </p:txBody>
      </p:sp>
      <p:sp>
        <p:nvSpPr>
          <p:cNvPr id="5" name="Shape 3"/>
          <p:cNvSpPr/>
          <p:nvPr/>
        </p:nvSpPr>
        <p:spPr>
          <a:xfrm>
            <a:off x="640080" y="1965960"/>
            <a:ext cx="10881360" cy="548640"/>
          </a:xfrm>
          <a:prstGeom prst="roundRect">
            <a:avLst>
              <a:gd name="adj" fmla="val 8333"/>
            </a:avLst>
          </a:prstGeom>
          <a:solidFill>
            <a:srgbClr val="F4F6F9"/>
          </a:solidFill>
          <a:ln w="12700">
            <a:solidFill>
              <a:srgbClr val="D8DCE3"/>
            </a:solidFill>
            <a:prstDash val="solid"/>
          </a:ln>
        </p:spPr>
      </p:sp>
      <p:sp>
        <p:nvSpPr>
          <p:cNvPr id="6" name="Text 4"/>
          <p:cNvSpPr/>
          <p:nvPr/>
        </p:nvSpPr>
        <p:spPr>
          <a:xfrm>
            <a:off x="804672" y="2075688"/>
            <a:ext cx="10552176" cy="329184"/>
          </a:xfrm>
          <a:prstGeom prst="rect">
            <a:avLst/>
          </a:prstGeom>
          <a:noFill/>
          <a:ln/>
        </p:spPr>
        <p:txBody>
          <a:bodyPr wrap="square" lIns="0" tIns="0" rIns="0" bIns="0" rtlCol="0" anchor="t"/>
          <a:lstStyle/>
          <a:p>
            <a:pPr indent="0" marL="0">
              <a:buNone/>
            </a:pPr>
            <a:r>
              <a:rPr lang="en-US" sz="1300" dirty="0">
                <a:solidFill>
                  <a:srgbClr val="3D4351"/>
                </a:solidFill>
                <a:latin typeface="Courier New" pitchFamily="34" charset="0"/>
                <a:ea typeface="Courier New" pitchFamily="34" charset="-122"/>
                <a:cs typeface="Courier New" pitchFamily="34" charset="-120"/>
              </a:rPr>
              <a:t>100 - (avg by (instance) (rate(node_cpu_seconds_total{mode="idle"}[5m])) * 100)</a:t>
            </a:r>
            <a:endParaRPr lang="en-US" sz="1300" dirty="0"/>
          </a:p>
        </p:txBody>
      </p:sp>
      <p:sp>
        <p:nvSpPr>
          <p:cNvPr id="7" name="Shape 5"/>
          <p:cNvSpPr/>
          <p:nvPr/>
        </p:nvSpPr>
        <p:spPr>
          <a:xfrm>
            <a:off x="685800" y="2798064"/>
            <a:ext cx="146304" cy="146304"/>
          </a:xfrm>
          <a:prstGeom prst="ellipse">
            <a:avLst/>
          </a:prstGeom>
          <a:solidFill>
            <a:srgbClr val="E8590C"/>
          </a:solidFill>
          <a:ln w="12700">
            <a:solidFill>
              <a:srgbClr val="E8590C"/>
            </a:solidFill>
            <a:prstDash val="solid"/>
          </a:ln>
        </p:spPr>
      </p:sp>
      <p:sp>
        <p:nvSpPr>
          <p:cNvPr id="8" name="Text 6"/>
          <p:cNvSpPr/>
          <p:nvPr/>
        </p:nvSpPr>
        <p:spPr>
          <a:xfrm>
            <a:off x="1005840" y="2697480"/>
            <a:ext cx="4572000" cy="347472"/>
          </a:xfrm>
          <a:prstGeom prst="rect">
            <a:avLst/>
          </a:prstGeom>
          <a:noFill/>
          <a:ln/>
        </p:spPr>
        <p:txBody>
          <a:bodyPr wrap="square" lIns="0" tIns="0" rIns="0" bIns="0" rtlCol="0" anchor="ctr"/>
          <a:lstStyle/>
          <a:p>
            <a:pPr indent="0" marL="0">
              <a:buNone/>
            </a:pPr>
            <a:r>
              <a:rPr lang="en-US" sz="1300" dirty="0">
                <a:solidFill>
                  <a:srgbClr val="1A1D26"/>
                </a:solidFill>
                <a:latin typeface="Courier New" pitchFamily="34" charset="0"/>
                <a:ea typeface="Courier New" pitchFamily="34" charset="-122"/>
                <a:cs typeface="Courier New" pitchFamily="34" charset="-120"/>
              </a:rPr>
              <a:t>node_cpu_seconds_total{mode="idle"}</a:t>
            </a:r>
            <a:endParaRPr lang="en-US" sz="1300" dirty="0"/>
          </a:p>
        </p:txBody>
      </p:sp>
      <p:sp>
        <p:nvSpPr>
          <p:cNvPr id="9" name="Text 7"/>
          <p:cNvSpPr/>
          <p:nvPr/>
        </p:nvSpPr>
        <p:spPr>
          <a:xfrm>
            <a:off x="5760720" y="2715768"/>
            <a:ext cx="5669280" cy="320040"/>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select the idle time counters</a:t>
            </a:r>
            <a:endParaRPr lang="en-US" sz="1300" dirty="0"/>
          </a:p>
        </p:txBody>
      </p:sp>
      <p:sp>
        <p:nvSpPr>
          <p:cNvPr id="10" name="Shape 8"/>
          <p:cNvSpPr/>
          <p:nvPr/>
        </p:nvSpPr>
        <p:spPr>
          <a:xfrm>
            <a:off x="685800" y="3364992"/>
            <a:ext cx="146304" cy="146304"/>
          </a:xfrm>
          <a:prstGeom prst="ellipse">
            <a:avLst/>
          </a:prstGeom>
          <a:solidFill>
            <a:srgbClr val="2F9E44"/>
          </a:solidFill>
          <a:ln w="12700">
            <a:solidFill>
              <a:srgbClr val="2F9E44"/>
            </a:solidFill>
            <a:prstDash val="solid"/>
          </a:ln>
        </p:spPr>
      </p:sp>
      <p:sp>
        <p:nvSpPr>
          <p:cNvPr id="11" name="Text 9"/>
          <p:cNvSpPr/>
          <p:nvPr/>
        </p:nvSpPr>
        <p:spPr>
          <a:xfrm>
            <a:off x="1005840" y="3264408"/>
            <a:ext cx="4572000" cy="347472"/>
          </a:xfrm>
          <a:prstGeom prst="rect">
            <a:avLst/>
          </a:prstGeom>
          <a:noFill/>
          <a:ln/>
        </p:spPr>
        <p:txBody>
          <a:bodyPr wrap="square" lIns="0" tIns="0" rIns="0" bIns="0" rtlCol="0" anchor="ctr"/>
          <a:lstStyle/>
          <a:p>
            <a:pPr indent="0" marL="0">
              <a:buNone/>
            </a:pPr>
            <a:r>
              <a:rPr lang="en-US" sz="1300" dirty="0">
                <a:solidFill>
                  <a:srgbClr val="1A1D26"/>
                </a:solidFill>
                <a:latin typeface="Courier New" pitchFamily="34" charset="0"/>
                <a:ea typeface="Courier New" pitchFamily="34" charset="-122"/>
                <a:cs typeface="Courier New" pitchFamily="34" charset="-120"/>
              </a:rPr>
              <a:t>rate(...[5m])</a:t>
            </a:r>
            <a:endParaRPr lang="en-US" sz="1300" dirty="0"/>
          </a:p>
        </p:txBody>
      </p:sp>
      <p:sp>
        <p:nvSpPr>
          <p:cNvPr id="12" name="Text 10"/>
          <p:cNvSpPr/>
          <p:nvPr/>
        </p:nvSpPr>
        <p:spPr>
          <a:xfrm>
            <a:off x="5760720" y="3282696"/>
            <a:ext cx="5669280" cy="320040"/>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per-second increase over a 5 minute window</a:t>
            </a:r>
            <a:endParaRPr lang="en-US" sz="1300" dirty="0"/>
          </a:p>
        </p:txBody>
      </p:sp>
      <p:sp>
        <p:nvSpPr>
          <p:cNvPr id="13" name="Shape 11"/>
          <p:cNvSpPr/>
          <p:nvPr/>
        </p:nvSpPr>
        <p:spPr>
          <a:xfrm>
            <a:off x="685800" y="3931920"/>
            <a:ext cx="146304" cy="146304"/>
          </a:xfrm>
          <a:prstGeom prst="ellipse">
            <a:avLst/>
          </a:prstGeom>
          <a:solidFill>
            <a:srgbClr val="6741D9"/>
          </a:solidFill>
          <a:ln w="12700">
            <a:solidFill>
              <a:srgbClr val="6741D9"/>
            </a:solidFill>
            <a:prstDash val="solid"/>
          </a:ln>
        </p:spPr>
      </p:sp>
      <p:sp>
        <p:nvSpPr>
          <p:cNvPr id="14" name="Text 12"/>
          <p:cNvSpPr/>
          <p:nvPr/>
        </p:nvSpPr>
        <p:spPr>
          <a:xfrm>
            <a:off x="1005840" y="3831336"/>
            <a:ext cx="4572000" cy="347472"/>
          </a:xfrm>
          <a:prstGeom prst="rect">
            <a:avLst/>
          </a:prstGeom>
          <a:noFill/>
          <a:ln/>
        </p:spPr>
        <p:txBody>
          <a:bodyPr wrap="square" lIns="0" tIns="0" rIns="0" bIns="0" rtlCol="0" anchor="ctr"/>
          <a:lstStyle/>
          <a:p>
            <a:pPr indent="0" marL="0">
              <a:buNone/>
            </a:pPr>
            <a:r>
              <a:rPr lang="en-US" sz="1300" dirty="0">
                <a:solidFill>
                  <a:srgbClr val="1A1D26"/>
                </a:solidFill>
                <a:latin typeface="Courier New" pitchFamily="34" charset="0"/>
                <a:ea typeface="Courier New" pitchFamily="34" charset="-122"/>
                <a:cs typeface="Courier New" pitchFamily="34" charset="-120"/>
              </a:rPr>
              <a:t>avg by (instance)</a:t>
            </a:r>
            <a:endParaRPr lang="en-US" sz="1300" dirty="0"/>
          </a:p>
        </p:txBody>
      </p:sp>
      <p:sp>
        <p:nvSpPr>
          <p:cNvPr id="15" name="Text 13"/>
          <p:cNvSpPr/>
          <p:nvPr/>
        </p:nvSpPr>
        <p:spPr>
          <a:xfrm>
            <a:off x="5760720" y="3849624"/>
            <a:ext cx="5669280" cy="320040"/>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collapse per-core series into one value per node</a:t>
            </a:r>
            <a:endParaRPr lang="en-US" sz="1300" dirty="0"/>
          </a:p>
        </p:txBody>
      </p:sp>
      <p:sp>
        <p:nvSpPr>
          <p:cNvPr id="16" name="Shape 14"/>
          <p:cNvSpPr/>
          <p:nvPr/>
        </p:nvSpPr>
        <p:spPr>
          <a:xfrm>
            <a:off x="685800" y="4498848"/>
            <a:ext cx="146304" cy="146304"/>
          </a:xfrm>
          <a:prstGeom prst="ellipse">
            <a:avLst/>
          </a:prstGeom>
          <a:solidFill>
            <a:srgbClr val="1971C2"/>
          </a:solidFill>
          <a:ln w="12700">
            <a:solidFill>
              <a:srgbClr val="1971C2"/>
            </a:solidFill>
            <a:prstDash val="solid"/>
          </a:ln>
        </p:spPr>
      </p:sp>
      <p:sp>
        <p:nvSpPr>
          <p:cNvPr id="17" name="Text 15"/>
          <p:cNvSpPr/>
          <p:nvPr/>
        </p:nvSpPr>
        <p:spPr>
          <a:xfrm>
            <a:off x="1005840" y="4398264"/>
            <a:ext cx="4572000" cy="347472"/>
          </a:xfrm>
          <a:prstGeom prst="rect">
            <a:avLst/>
          </a:prstGeom>
          <a:noFill/>
          <a:ln/>
        </p:spPr>
        <p:txBody>
          <a:bodyPr wrap="square" lIns="0" tIns="0" rIns="0" bIns="0" rtlCol="0" anchor="ctr"/>
          <a:lstStyle/>
          <a:p>
            <a:pPr indent="0" marL="0">
              <a:buNone/>
            </a:pPr>
            <a:r>
              <a:rPr lang="en-US" sz="1300" dirty="0">
                <a:solidFill>
                  <a:srgbClr val="1A1D26"/>
                </a:solidFill>
                <a:latin typeface="Courier New" pitchFamily="34" charset="0"/>
                <a:ea typeface="Courier New" pitchFamily="34" charset="-122"/>
                <a:cs typeface="Courier New" pitchFamily="34" charset="-120"/>
              </a:rPr>
              <a:t>100 - ...</a:t>
            </a:r>
            <a:endParaRPr lang="en-US" sz="1300" dirty="0"/>
          </a:p>
        </p:txBody>
      </p:sp>
      <p:sp>
        <p:nvSpPr>
          <p:cNvPr id="18" name="Text 16"/>
          <p:cNvSpPr/>
          <p:nvPr/>
        </p:nvSpPr>
        <p:spPr>
          <a:xfrm>
            <a:off x="5760720" y="4416552"/>
            <a:ext cx="5669280" cy="320040"/>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time not spent idle is time spent busy</a:t>
            </a:r>
            <a:endParaRPr lang="en-US" sz="1300" dirty="0"/>
          </a:p>
        </p:txBody>
      </p:sp>
      <p:sp>
        <p:nvSpPr>
          <p:cNvPr id="19" name="Text 17"/>
          <p:cNvSpPr/>
          <p:nvPr/>
        </p:nvSpPr>
        <p:spPr>
          <a:xfrm>
            <a:off x="640080" y="5120640"/>
            <a:ext cx="10881360" cy="320040"/>
          </a:xfrm>
          <a:prstGeom prst="rect">
            <a:avLst/>
          </a:prstGeom>
          <a:noFill/>
          <a:ln/>
        </p:spPr>
        <p:txBody>
          <a:bodyPr wrap="square" lIns="0" tIns="0" rIns="0" bIns="0" rtlCol="0" anchor="ctr"/>
          <a:lstStyle/>
          <a:p>
            <a:pPr indent="0" marL="0">
              <a:buNone/>
            </a:pPr>
            <a:r>
              <a:rPr lang="en-US" sz="1500" b="1" dirty="0">
                <a:solidFill>
                  <a:srgbClr val="1A1D26"/>
                </a:solidFill>
                <a:latin typeface="Calibri" pitchFamily="34" charset="0"/>
                <a:ea typeface="Calibri" pitchFamily="34" charset="-122"/>
                <a:cs typeface="Calibri" pitchFamily="34" charset="-120"/>
              </a:rPr>
              <a:t>HTTP error rate</a:t>
            </a:r>
            <a:endParaRPr lang="en-US" sz="1500" dirty="0"/>
          </a:p>
        </p:txBody>
      </p:sp>
      <p:sp>
        <p:nvSpPr>
          <p:cNvPr id="20" name="Shape 18"/>
          <p:cNvSpPr/>
          <p:nvPr/>
        </p:nvSpPr>
        <p:spPr>
          <a:xfrm>
            <a:off x="640080" y="5468112"/>
            <a:ext cx="10881360" cy="530352"/>
          </a:xfrm>
          <a:prstGeom prst="roundRect">
            <a:avLst>
              <a:gd name="adj" fmla="val 8621"/>
            </a:avLst>
          </a:prstGeom>
          <a:solidFill>
            <a:srgbClr val="F4F6F9"/>
          </a:solidFill>
          <a:ln w="12700">
            <a:solidFill>
              <a:srgbClr val="D8DCE3"/>
            </a:solidFill>
            <a:prstDash val="solid"/>
          </a:ln>
        </p:spPr>
      </p:sp>
      <p:sp>
        <p:nvSpPr>
          <p:cNvPr id="21" name="Text 19"/>
          <p:cNvSpPr/>
          <p:nvPr/>
        </p:nvSpPr>
        <p:spPr>
          <a:xfrm>
            <a:off x="804672" y="5577840"/>
            <a:ext cx="10552176" cy="310896"/>
          </a:xfrm>
          <a:prstGeom prst="rect">
            <a:avLst/>
          </a:prstGeom>
          <a:noFill/>
          <a:ln/>
        </p:spPr>
        <p:txBody>
          <a:bodyPr wrap="square" lIns="0" tIns="0" rIns="0" bIns="0" rtlCol="0" anchor="t"/>
          <a:lstStyle/>
          <a:p>
            <a:pPr indent="0" marL="0">
              <a:buNone/>
            </a:pPr>
            <a:r>
              <a:rPr lang="en-US" sz="1300" dirty="0">
                <a:solidFill>
                  <a:srgbClr val="3D4351"/>
                </a:solidFill>
                <a:latin typeface="Courier New" pitchFamily="34" charset="0"/>
                <a:ea typeface="Courier New" pitchFamily="34" charset="-122"/>
                <a:cs typeface="Courier New" pitchFamily="34" charset="-120"/>
              </a:rPr>
              <a:t>rate(http_requests_total{status=~"5.."}[5m])</a:t>
            </a:r>
            <a:endParaRPr lang="en-US" sz="1300" dirty="0"/>
          </a:p>
        </p:txBody>
      </p:sp>
      <p:sp>
        <p:nvSpPr>
          <p:cNvPr id="22" name="Text 20"/>
          <p:cNvSpPr/>
          <p:nvPr/>
        </p:nvSpPr>
        <p:spPr>
          <a:xfrm>
            <a:off x="640080" y="6108192"/>
            <a:ext cx="10881360" cy="32004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 is a regular expression matcher, so status=~"5.." selects every 5xx code.</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824"/>
        </a:solidFill>
      </p:bgPr>
    </p:bg>
    <p:spTree>
      <p:nvGrpSpPr>
        <p:cNvPr id="1" name=""/>
        <p:cNvGrpSpPr/>
        <p:nvPr/>
      </p:nvGrpSpPr>
      <p:grpSpPr>
        <a:xfrm>
          <a:off x="0" y="0"/>
          <a:ext cx="0" cy="0"/>
          <a:chOff x="0" y="0"/>
          <a:chExt cx="0" cy="0"/>
        </a:xfrm>
      </p:grpSpPr>
      <p:sp>
        <p:nvSpPr>
          <p:cNvPr id="2" name="Text 0"/>
          <p:cNvSpPr/>
          <p:nvPr/>
        </p:nvSpPr>
        <p:spPr>
          <a:xfrm>
            <a:off x="640080" y="2468880"/>
            <a:ext cx="10881360" cy="457200"/>
          </a:xfrm>
          <a:prstGeom prst="rect">
            <a:avLst/>
          </a:prstGeom>
          <a:noFill/>
          <a:ln/>
        </p:spPr>
        <p:txBody>
          <a:bodyPr wrap="square" lIns="0" tIns="0" rIns="0" bIns="0" rtlCol="0" anchor="ctr"/>
          <a:lstStyle/>
          <a:p>
            <a:pPr indent="0" marL="0">
              <a:buNone/>
            </a:pPr>
            <a:r>
              <a:rPr lang="en-US" sz="1700" b="1" spc="300" kern="0" dirty="0">
                <a:solidFill>
                  <a:srgbClr val="E8590C"/>
                </a:solidFill>
                <a:latin typeface="Calibri" pitchFamily="34" charset="0"/>
                <a:ea typeface="Calibri" pitchFamily="34" charset="-122"/>
                <a:cs typeface="Calibri" pitchFamily="34" charset="-120"/>
              </a:rPr>
              <a:t>Section 3</a:t>
            </a:r>
            <a:endParaRPr lang="en-US" sz="1700" dirty="0"/>
          </a:p>
        </p:txBody>
      </p:sp>
      <p:sp>
        <p:nvSpPr>
          <p:cNvPr id="3" name="Text 1"/>
          <p:cNvSpPr/>
          <p:nvPr/>
        </p:nvSpPr>
        <p:spPr>
          <a:xfrm>
            <a:off x="640080" y="2926080"/>
            <a:ext cx="1088136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Installing Prometheus with APT</a:t>
            </a:r>
            <a:endParaRPr lang="en-US" sz="4600" dirty="0"/>
          </a:p>
        </p:txBody>
      </p:sp>
      <p:sp>
        <p:nvSpPr>
          <p:cNvPr id="4" name="Text 2"/>
          <p:cNvSpPr/>
          <p:nvPr/>
        </p:nvSpPr>
        <p:spPr>
          <a:xfrm>
            <a:off x="640080" y="3840480"/>
            <a:ext cx="10881360" cy="365760"/>
          </a:xfrm>
          <a:prstGeom prst="rect">
            <a:avLst/>
          </a:prstGeom>
          <a:noFill/>
          <a:ln/>
        </p:spPr>
        <p:txBody>
          <a:bodyPr wrap="square" lIns="0" tIns="0" rIns="0" bIns="0" rtlCol="0" anchor="ctr"/>
          <a:lstStyle/>
          <a:p>
            <a:pPr indent="0" marL="0">
              <a:buNone/>
            </a:pPr>
            <a:r>
              <a:rPr lang="en-US" sz="1500" dirty="0">
                <a:solidFill>
                  <a:srgbClr val="9AA4B8"/>
                </a:solidFill>
                <a:latin typeface="Calibri" pitchFamily="34" charset="0"/>
                <a:ea typeface="Calibri" pitchFamily="34" charset="-122"/>
                <a:cs typeface="Calibri" pitchFamily="34" charset="-120"/>
              </a:rPr>
              <a:t>Roughly 5 minutes, on a plain Ubuntu VM</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PURPOSE</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Why bother with a throwaway install?</a:t>
            </a:r>
            <a:endParaRPr lang="en-US" sz="3400" dirty="0"/>
          </a:p>
        </p:txBody>
      </p:sp>
      <p:sp>
        <p:nvSpPr>
          <p:cNvPr id="4" name="Shape 2"/>
          <p:cNvSpPr/>
          <p:nvPr/>
        </p:nvSpPr>
        <p:spPr>
          <a:xfrm>
            <a:off x="640080" y="1691640"/>
            <a:ext cx="10881360" cy="1371600"/>
          </a:xfrm>
          <a:prstGeom prst="roundRect">
            <a:avLst>
              <a:gd name="adj" fmla="val 5333"/>
            </a:avLst>
          </a:prstGeom>
          <a:solidFill>
            <a:srgbClr val="F4F6F9"/>
          </a:solidFill>
          <a:ln w="19050">
            <a:solidFill>
              <a:srgbClr val="6B7280"/>
            </a:solidFill>
            <a:prstDash val="solid"/>
          </a:ln>
        </p:spPr>
      </p:sp>
      <p:sp>
        <p:nvSpPr>
          <p:cNvPr id="5" name="Text 3"/>
          <p:cNvSpPr/>
          <p:nvPr/>
        </p:nvSpPr>
        <p:spPr>
          <a:xfrm>
            <a:off x="1005840" y="1920240"/>
            <a:ext cx="10149840" cy="365760"/>
          </a:xfrm>
          <a:prstGeom prst="rect">
            <a:avLst/>
          </a:prstGeom>
          <a:noFill/>
          <a:ln/>
        </p:spPr>
        <p:txBody>
          <a:bodyPr wrap="square" lIns="0" tIns="0" rIns="0" bIns="0" rtlCol="0" anchor="ctr"/>
          <a:lstStyle/>
          <a:p>
            <a:pPr indent="0" marL="0">
              <a:buNone/>
            </a:pPr>
            <a:r>
              <a:rPr lang="en-US" sz="1700" b="1" dirty="0">
                <a:solidFill>
                  <a:srgbClr val="1A1D26"/>
                </a:solidFill>
                <a:latin typeface="Calibri" pitchFamily="34" charset="0"/>
                <a:ea typeface="Calibri" pitchFamily="34" charset="-122"/>
                <a:cs typeface="Calibri" pitchFamily="34" charset="-120"/>
              </a:rPr>
              <a:t>Section 4 is fifty minutes of operator, CRDs, ServiceMonitors and sidecars.</a:t>
            </a:r>
            <a:endParaRPr lang="en-US" sz="1700" dirty="0"/>
          </a:p>
        </p:txBody>
      </p:sp>
      <p:sp>
        <p:nvSpPr>
          <p:cNvPr id="6" name="Text 4"/>
          <p:cNvSpPr/>
          <p:nvPr/>
        </p:nvSpPr>
        <p:spPr>
          <a:xfrm>
            <a:off x="1005840" y="2331720"/>
            <a:ext cx="10149840" cy="365760"/>
          </a:xfrm>
          <a:prstGeom prst="rect">
            <a:avLst/>
          </a:prstGeom>
          <a:noFill/>
          <a:ln/>
        </p:spPr>
        <p:txBody>
          <a:bodyPr wrap="square" lIns="0" tIns="0" rIns="0" bIns="0" rtlCol="0" anchor="ctr"/>
          <a:lstStyle/>
          <a:p>
            <a:pPr indent="0" marL="0">
              <a:buNone/>
            </a:pPr>
            <a:r>
              <a:rPr lang="en-US" sz="1500" dirty="0">
                <a:solidFill>
                  <a:srgbClr val="3D4351"/>
                </a:solidFill>
                <a:latin typeface="Calibri" pitchFamily="34" charset="0"/>
                <a:ea typeface="Calibri" pitchFamily="34" charset="-122"/>
                <a:cs typeface="Calibri" pitchFamily="34" charset="-120"/>
              </a:rPr>
              <a:t>It is entirely reasonable to look at all that machinery and ask whether it is really necessary.</a:t>
            </a:r>
            <a:endParaRPr lang="en-US" sz="1500" dirty="0"/>
          </a:p>
        </p:txBody>
      </p:sp>
      <p:sp>
        <p:nvSpPr>
          <p:cNvPr id="7" name="Shape 5"/>
          <p:cNvSpPr/>
          <p:nvPr/>
        </p:nvSpPr>
        <p:spPr>
          <a:xfrm>
            <a:off x="640080" y="3291840"/>
            <a:ext cx="10881360" cy="1371600"/>
          </a:xfrm>
          <a:prstGeom prst="roundRect">
            <a:avLst>
              <a:gd name="adj" fmla="val 5333"/>
            </a:avLst>
          </a:prstGeom>
          <a:solidFill>
            <a:srgbClr val="FFE8D6"/>
          </a:solidFill>
          <a:ln w="19050">
            <a:solidFill>
              <a:srgbClr val="E8590C"/>
            </a:solidFill>
            <a:prstDash val="solid"/>
          </a:ln>
        </p:spPr>
      </p:sp>
      <p:sp>
        <p:nvSpPr>
          <p:cNvPr id="8" name="Text 6"/>
          <p:cNvSpPr/>
          <p:nvPr/>
        </p:nvSpPr>
        <p:spPr>
          <a:xfrm>
            <a:off x="1005840" y="3547872"/>
            <a:ext cx="10149840" cy="365760"/>
          </a:xfrm>
          <a:prstGeom prst="rect">
            <a:avLst/>
          </a:prstGeom>
          <a:noFill/>
          <a:ln/>
        </p:spPr>
        <p:txBody>
          <a:bodyPr wrap="square" lIns="0" tIns="0" rIns="0" bIns="0" rtlCol="0" anchor="ctr"/>
          <a:lstStyle/>
          <a:p>
            <a:pPr indent="0" marL="0">
              <a:buNone/>
            </a:pPr>
            <a:r>
              <a:rPr lang="en-US" sz="1700" b="1" dirty="0">
                <a:solidFill>
                  <a:srgbClr val="1A1D26"/>
                </a:solidFill>
                <a:latin typeface="Calibri" pitchFamily="34" charset="0"/>
                <a:ea typeface="Calibri" pitchFamily="34" charset="-122"/>
                <a:cs typeface="Calibri" pitchFamily="34" charset="-120"/>
              </a:rPr>
              <a:t>The fastest way to answer that is to install Prometheus the simple way and see what is missing.</a:t>
            </a:r>
            <a:endParaRPr lang="en-US" sz="1700" dirty="0"/>
          </a:p>
        </p:txBody>
      </p:sp>
      <p:sp>
        <p:nvSpPr>
          <p:cNvPr id="9" name="Text 7"/>
          <p:cNvSpPr/>
          <p:nvPr/>
        </p:nvSpPr>
        <p:spPr>
          <a:xfrm>
            <a:off x="1005840" y="3950208"/>
            <a:ext cx="10149840" cy="365760"/>
          </a:xfrm>
          <a:prstGeom prst="rect">
            <a:avLst/>
          </a:prstGeom>
          <a:noFill/>
          <a:ln/>
        </p:spPr>
        <p:txBody>
          <a:bodyPr wrap="square" lIns="0" tIns="0" rIns="0" bIns="0" rtlCol="0" anchor="ctr"/>
          <a:lstStyle/>
          <a:p>
            <a:pPr indent="0" marL="0">
              <a:buNone/>
            </a:pPr>
            <a:r>
              <a:rPr lang="en-US" sz="1500" dirty="0">
                <a:solidFill>
                  <a:srgbClr val="3D4351"/>
                </a:solidFill>
                <a:latin typeface="Calibri" pitchFamily="34" charset="0"/>
                <a:ea typeface="Calibri" pitchFamily="34" charset="-122"/>
                <a:cs typeface="Calibri" pitchFamily="34" charset="-120"/>
              </a:rPr>
              <a:t>Five minutes here makes the next fifty minutes make sense.</a:t>
            </a:r>
            <a:endParaRPr lang="en-US" sz="1500" dirty="0"/>
          </a:p>
        </p:txBody>
      </p:sp>
      <p:sp>
        <p:nvSpPr>
          <p:cNvPr id="10" name="Text 8"/>
          <p:cNvSpPr/>
          <p:nvPr/>
        </p:nvSpPr>
        <p:spPr>
          <a:xfrm>
            <a:off x="640080" y="4983480"/>
            <a:ext cx="10881360" cy="365760"/>
          </a:xfrm>
          <a:prstGeom prst="rect">
            <a:avLst/>
          </a:prstGeom>
          <a:noFill/>
          <a:ln/>
        </p:spPr>
        <p:txBody>
          <a:bodyPr wrap="square" lIns="0" tIns="0" rIns="0" bIns="0" rtlCol="0" anchor="ctr"/>
          <a:lstStyle/>
          <a:p>
            <a:pPr indent="0" marL="0">
              <a:buNone/>
            </a:pPr>
            <a:r>
              <a:rPr lang="en-US" sz="1600" b="1" dirty="0">
                <a:solidFill>
                  <a:srgbClr val="1A1D26"/>
                </a:solidFill>
                <a:latin typeface="Cambria" pitchFamily="34" charset="0"/>
                <a:ea typeface="Cambria" pitchFamily="34" charset="-122"/>
                <a:cs typeface="Cambria" pitchFamily="34" charset="-120"/>
              </a:rPr>
              <a:t>Two machines, deliberately separate</a:t>
            </a:r>
            <a:endParaRPr lang="en-US" sz="1600" dirty="0"/>
          </a:p>
        </p:txBody>
      </p:sp>
      <p:sp>
        <p:nvSpPr>
          <p:cNvPr id="11" name="Text 9"/>
          <p:cNvSpPr/>
          <p:nvPr/>
        </p:nvSpPr>
        <p:spPr>
          <a:xfrm>
            <a:off x="640080" y="5376672"/>
            <a:ext cx="10881360" cy="777240"/>
          </a:xfrm>
          <a:prstGeom prst="rect">
            <a:avLst/>
          </a:prstGeom>
          <a:noFill/>
          <a:ln/>
        </p:spPr>
        <p:txBody>
          <a:bodyPr wrap="square" lIns="0" tIns="0" rIns="0" bIns="0" rtlCol="0" anchor="ctr"/>
          <a:lstStyle/>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This section runs on a plain Ubuntu VM with no kubectl, no kubeconfig and no AWS credentials.</a:t>
            </a:r>
            <a:endParaRPr lang="en-US" sz="1400" dirty="0"/>
          </a:p>
          <a:p>
            <a:pPr indent="0" marL="0">
              <a:lnSpc>
                <a:spcPts val="2000"/>
              </a:lnSpc>
              <a:buNone/>
            </a:pPr>
            <a:r>
              <a:rPr lang="en-US" sz="1400" dirty="0">
                <a:solidFill>
                  <a:srgbClr val="3D4351"/>
                </a:solidFill>
                <a:latin typeface="Calibri" pitchFamily="34" charset="0"/>
                <a:ea typeface="Calibri" pitchFamily="34" charset="-122"/>
                <a:cs typeface="Calibri" pitchFamily="34" charset="-120"/>
              </a:rPr>
              <a:t>When we conclude that this Prometheus cannot see the cluster, that is a literal fact about the machine.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APT INSTALL</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What the package manager hands you</a:t>
            </a:r>
            <a:endParaRPr lang="en-US" sz="3400" dirty="0"/>
          </a:p>
        </p:txBody>
      </p:sp>
      <p:sp>
        <p:nvSpPr>
          <p:cNvPr id="4" name="Shape 2"/>
          <p:cNvSpPr/>
          <p:nvPr/>
        </p:nvSpPr>
        <p:spPr>
          <a:xfrm>
            <a:off x="640080" y="1645920"/>
            <a:ext cx="10881360" cy="566928"/>
          </a:xfrm>
          <a:prstGeom prst="roundRect">
            <a:avLst>
              <a:gd name="adj" fmla="val 8065"/>
            </a:avLst>
          </a:prstGeom>
          <a:solidFill>
            <a:srgbClr val="F4F6F9"/>
          </a:solidFill>
          <a:ln w="12700">
            <a:solidFill>
              <a:srgbClr val="D8DCE3"/>
            </a:solidFill>
            <a:prstDash val="solid"/>
          </a:ln>
        </p:spPr>
      </p:sp>
      <p:sp>
        <p:nvSpPr>
          <p:cNvPr id="5" name="Text 3"/>
          <p:cNvSpPr/>
          <p:nvPr/>
        </p:nvSpPr>
        <p:spPr>
          <a:xfrm>
            <a:off x="804672" y="1755648"/>
            <a:ext cx="10552176" cy="347472"/>
          </a:xfrm>
          <a:prstGeom prst="rect">
            <a:avLst/>
          </a:prstGeom>
          <a:noFill/>
          <a:ln/>
        </p:spPr>
        <p:txBody>
          <a:bodyPr wrap="square" lIns="0" tIns="0" rIns="0" bIns="0" rtlCol="0" anchor="t"/>
          <a:lstStyle/>
          <a:p>
            <a:pPr indent="0" marL="0">
              <a:buNone/>
            </a:pPr>
            <a:r>
              <a:rPr lang="en-US" sz="1500" dirty="0">
                <a:solidFill>
                  <a:srgbClr val="3D4351"/>
                </a:solidFill>
                <a:latin typeface="Courier New" pitchFamily="34" charset="0"/>
                <a:ea typeface="Courier New" pitchFamily="34" charset="-122"/>
                <a:cs typeface="Courier New" pitchFamily="34" charset="-120"/>
              </a:rPr>
              <a:t>sudo apt install -y prometheus prometheus-alertmanager</a:t>
            </a:r>
            <a:endParaRPr lang="en-US" sz="1500" dirty="0"/>
          </a:p>
        </p:txBody>
      </p:sp>
      <p:sp>
        <p:nvSpPr>
          <p:cNvPr id="6" name="Shape 4"/>
          <p:cNvSpPr/>
          <p:nvPr/>
        </p:nvSpPr>
        <p:spPr>
          <a:xfrm>
            <a:off x="640080" y="2514600"/>
            <a:ext cx="5257800" cy="1207008"/>
          </a:xfrm>
          <a:prstGeom prst="roundRect">
            <a:avLst>
              <a:gd name="adj" fmla="val 6061"/>
            </a:avLst>
          </a:prstGeom>
          <a:solidFill>
            <a:srgbClr val="DFF3E3"/>
          </a:solidFill>
          <a:ln w="19050">
            <a:solidFill>
              <a:srgbClr val="2F9E44"/>
            </a:solidFill>
            <a:prstDash val="solid"/>
          </a:ln>
        </p:spPr>
      </p:sp>
      <p:sp>
        <p:nvSpPr>
          <p:cNvPr id="7" name="Text 5"/>
          <p:cNvSpPr/>
          <p:nvPr/>
        </p:nvSpPr>
        <p:spPr>
          <a:xfrm>
            <a:off x="1005840" y="2715768"/>
            <a:ext cx="4572000" cy="347472"/>
          </a:xfrm>
          <a:prstGeom prst="rect">
            <a:avLst/>
          </a:prstGeom>
          <a:noFill/>
          <a:ln/>
        </p:spPr>
        <p:txBody>
          <a:bodyPr wrap="square" lIns="0" tIns="0" rIns="0" bIns="0" rtlCol="0" anchor="ctr"/>
          <a:lstStyle/>
          <a:p>
            <a:pPr indent="0" marL="0">
              <a:buNone/>
            </a:pPr>
            <a:r>
              <a:rPr lang="en-US" sz="1600" b="1" dirty="0">
                <a:solidFill>
                  <a:srgbClr val="2F9E44"/>
                </a:solidFill>
                <a:latin typeface="Cambria" pitchFamily="34" charset="0"/>
                <a:ea typeface="Cambria" pitchFamily="34" charset="-122"/>
                <a:cs typeface="Cambria" pitchFamily="34" charset="-120"/>
              </a:rPr>
              <a:t>A systemd service</a:t>
            </a:r>
            <a:endParaRPr lang="en-US" sz="1600" dirty="0"/>
          </a:p>
        </p:txBody>
      </p:sp>
      <p:sp>
        <p:nvSpPr>
          <p:cNvPr id="8" name="Text 6"/>
          <p:cNvSpPr/>
          <p:nvPr/>
        </p:nvSpPr>
        <p:spPr>
          <a:xfrm>
            <a:off x="1005840" y="3090672"/>
            <a:ext cx="4572000" cy="502920"/>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Starts at boot, restarts on failure, on this one machine</a:t>
            </a:r>
            <a:endParaRPr lang="en-US" sz="1300" dirty="0"/>
          </a:p>
        </p:txBody>
      </p:sp>
      <p:sp>
        <p:nvSpPr>
          <p:cNvPr id="9" name="Shape 7"/>
          <p:cNvSpPr/>
          <p:nvPr/>
        </p:nvSpPr>
        <p:spPr>
          <a:xfrm>
            <a:off x="6263640" y="2514600"/>
            <a:ext cx="5257800" cy="1207008"/>
          </a:xfrm>
          <a:prstGeom prst="roundRect">
            <a:avLst>
              <a:gd name="adj" fmla="val 6061"/>
            </a:avLst>
          </a:prstGeom>
          <a:solidFill>
            <a:srgbClr val="FFE8D6"/>
          </a:solidFill>
          <a:ln w="19050">
            <a:solidFill>
              <a:srgbClr val="E8590C"/>
            </a:solidFill>
            <a:prstDash val="solid"/>
          </a:ln>
        </p:spPr>
      </p:sp>
      <p:sp>
        <p:nvSpPr>
          <p:cNvPr id="10" name="Text 8"/>
          <p:cNvSpPr/>
          <p:nvPr/>
        </p:nvSpPr>
        <p:spPr>
          <a:xfrm>
            <a:off x="6629400" y="2715768"/>
            <a:ext cx="4572000" cy="347472"/>
          </a:xfrm>
          <a:prstGeom prst="rect">
            <a:avLst/>
          </a:prstGeom>
          <a:noFill/>
          <a:ln/>
        </p:spPr>
        <p:txBody>
          <a:bodyPr wrap="square" lIns="0" tIns="0" rIns="0" bIns="0" rtlCol="0" anchor="ctr"/>
          <a:lstStyle/>
          <a:p>
            <a:pPr indent="0" marL="0">
              <a:buNone/>
            </a:pPr>
            <a:r>
              <a:rPr lang="en-US" sz="1600" b="1" dirty="0">
                <a:solidFill>
                  <a:srgbClr val="E8590C"/>
                </a:solidFill>
                <a:latin typeface="Cambria" pitchFamily="34" charset="0"/>
                <a:ea typeface="Cambria" pitchFamily="34" charset="-122"/>
                <a:cs typeface="Cambria" pitchFamily="34" charset="-120"/>
              </a:rPr>
              <a:t>A config file</a:t>
            </a:r>
            <a:endParaRPr lang="en-US" sz="1600" dirty="0"/>
          </a:p>
        </p:txBody>
      </p:sp>
      <p:sp>
        <p:nvSpPr>
          <p:cNvPr id="11" name="Text 9"/>
          <p:cNvSpPr/>
          <p:nvPr/>
        </p:nvSpPr>
        <p:spPr>
          <a:xfrm>
            <a:off x="6629400" y="3090672"/>
            <a:ext cx="4572000" cy="502920"/>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/etc/prometheus/prometheus.yml, edited by hand</a:t>
            </a:r>
            <a:endParaRPr lang="en-US" sz="1300" dirty="0"/>
          </a:p>
        </p:txBody>
      </p:sp>
      <p:sp>
        <p:nvSpPr>
          <p:cNvPr id="12" name="Shape 10"/>
          <p:cNvSpPr/>
          <p:nvPr/>
        </p:nvSpPr>
        <p:spPr>
          <a:xfrm>
            <a:off x="640080" y="3931920"/>
            <a:ext cx="5257800" cy="1207008"/>
          </a:xfrm>
          <a:prstGeom prst="roundRect">
            <a:avLst>
              <a:gd name="adj" fmla="val 6061"/>
            </a:avLst>
          </a:prstGeom>
          <a:solidFill>
            <a:srgbClr val="E9E2FB"/>
          </a:solidFill>
          <a:ln w="19050">
            <a:solidFill>
              <a:srgbClr val="6741D9"/>
            </a:solidFill>
            <a:prstDash val="solid"/>
          </a:ln>
        </p:spPr>
      </p:sp>
      <p:sp>
        <p:nvSpPr>
          <p:cNvPr id="13" name="Text 11"/>
          <p:cNvSpPr/>
          <p:nvPr/>
        </p:nvSpPr>
        <p:spPr>
          <a:xfrm>
            <a:off x="1005840" y="4133088"/>
            <a:ext cx="4572000" cy="347472"/>
          </a:xfrm>
          <a:prstGeom prst="rect">
            <a:avLst/>
          </a:prstGeom>
          <a:noFill/>
          <a:ln/>
        </p:spPr>
        <p:txBody>
          <a:bodyPr wrap="square" lIns="0" tIns="0" rIns="0" bIns="0" rtlCol="0" anchor="ctr"/>
          <a:lstStyle/>
          <a:p>
            <a:pPr indent="0" marL="0">
              <a:buNone/>
            </a:pPr>
            <a:r>
              <a:rPr lang="en-US" sz="1600" b="1" dirty="0">
                <a:solidFill>
                  <a:srgbClr val="6741D9"/>
                </a:solidFill>
                <a:latin typeface="Cambria" pitchFamily="34" charset="0"/>
                <a:ea typeface="Cambria" pitchFamily="34" charset="-122"/>
                <a:cs typeface="Cambria" pitchFamily="34" charset="-120"/>
              </a:rPr>
              <a:t>The same web UI</a:t>
            </a:r>
            <a:endParaRPr lang="en-US" sz="1600" dirty="0"/>
          </a:p>
        </p:txBody>
      </p:sp>
      <p:sp>
        <p:nvSpPr>
          <p:cNvPr id="14" name="Text 12"/>
          <p:cNvSpPr/>
          <p:nvPr/>
        </p:nvSpPr>
        <p:spPr>
          <a:xfrm>
            <a:off x="1005840" y="4507992"/>
            <a:ext cx="4572000" cy="502920"/>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Port 9090. Identical to what section 4 gives you</a:t>
            </a:r>
            <a:endParaRPr lang="en-US" sz="1300" dirty="0"/>
          </a:p>
        </p:txBody>
      </p:sp>
      <p:sp>
        <p:nvSpPr>
          <p:cNvPr id="15" name="Shape 13"/>
          <p:cNvSpPr/>
          <p:nvPr/>
        </p:nvSpPr>
        <p:spPr>
          <a:xfrm>
            <a:off x="6263640" y="3931920"/>
            <a:ext cx="5257800" cy="1207008"/>
          </a:xfrm>
          <a:prstGeom prst="roundRect">
            <a:avLst>
              <a:gd name="adj" fmla="val 6061"/>
            </a:avLst>
          </a:prstGeom>
          <a:solidFill>
            <a:srgbClr val="FBE0E0"/>
          </a:solidFill>
          <a:ln w="19050">
            <a:solidFill>
              <a:srgbClr val="C92A2A"/>
            </a:solidFill>
            <a:prstDash val="solid"/>
          </a:ln>
        </p:spPr>
      </p:sp>
      <p:sp>
        <p:nvSpPr>
          <p:cNvPr id="16" name="Text 14"/>
          <p:cNvSpPr/>
          <p:nvPr/>
        </p:nvSpPr>
        <p:spPr>
          <a:xfrm>
            <a:off x="6629400" y="4133088"/>
            <a:ext cx="4572000" cy="347472"/>
          </a:xfrm>
          <a:prstGeom prst="rect">
            <a:avLst/>
          </a:prstGeom>
          <a:noFill/>
          <a:ln/>
        </p:spPr>
        <p:txBody>
          <a:bodyPr wrap="square" lIns="0" tIns="0" rIns="0" bIns="0" rtlCol="0" anchor="ctr"/>
          <a:lstStyle/>
          <a:p>
            <a:pPr indent="0" marL="0">
              <a:buNone/>
            </a:pPr>
            <a:r>
              <a:rPr lang="en-US" sz="1600" b="1" dirty="0">
                <a:solidFill>
                  <a:srgbClr val="C92A2A"/>
                </a:solidFill>
                <a:latin typeface="Cambria" pitchFamily="34" charset="0"/>
                <a:ea typeface="Cambria" pitchFamily="34" charset="-122"/>
                <a:cs typeface="Cambria" pitchFamily="34" charset="-120"/>
              </a:rPr>
              <a:t>A version well behind</a:t>
            </a:r>
            <a:endParaRPr lang="en-US" sz="1600" dirty="0"/>
          </a:p>
        </p:txBody>
      </p:sp>
      <p:sp>
        <p:nvSpPr>
          <p:cNvPr id="17" name="Text 15"/>
          <p:cNvSpPr/>
          <p:nvPr/>
        </p:nvSpPr>
        <p:spPr>
          <a:xfrm>
            <a:off x="6629400" y="4507992"/>
            <a:ext cx="4572000" cy="502920"/>
          </a:xfrm>
          <a:prstGeom prst="rect">
            <a:avLst/>
          </a:prstGeom>
          <a:noFill/>
          <a:ln/>
        </p:spPr>
        <p:txBody>
          <a:bodyPr wrap="square" lIns="0" tIns="0" rIns="0" bIns="0" rtlCol="0" anchor="ctr"/>
          <a:lstStyle/>
          <a:p>
            <a:pPr indent="0" marL="0">
              <a:buNone/>
            </a:pPr>
            <a:r>
              <a:rPr lang="en-US" sz="1300" dirty="0">
                <a:solidFill>
                  <a:srgbClr val="3D4351"/>
                </a:solidFill>
                <a:latin typeface="Calibri" pitchFamily="34" charset="0"/>
                <a:ea typeface="Calibri" pitchFamily="34" charset="-122"/>
                <a:cs typeface="Calibri" pitchFamily="34" charset="-120"/>
              </a:rPr>
              <a:t>2.53.5 from universe, while upstream is on 3.x</a:t>
            </a:r>
            <a:endParaRPr lang="en-US" sz="1300" dirty="0"/>
          </a:p>
        </p:txBody>
      </p:sp>
      <p:sp>
        <p:nvSpPr>
          <p:cNvPr id="18" name="Text 16"/>
          <p:cNvSpPr/>
          <p:nvPr/>
        </p:nvSpPr>
        <p:spPr>
          <a:xfrm>
            <a:off x="640080" y="5577840"/>
            <a:ext cx="10881360" cy="365760"/>
          </a:xfrm>
          <a:prstGeom prst="rect">
            <a:avLst/>
          </a:prstGeom>
          <a:noFill/>
          <a:ln/>
        </p:spPr>
        <p:txBody>
          <a:bodyPr wrap="square" lIns="0" tIns="0" rIns="0" bIns="0" rtlCol="0" anchor="ctr"/>
          <a:lstStyle/>
          <a:p>
            <a:pPr indent="0" marL="0">
              <a:buNone/>
            </a:pPr>
            <a:r>
              <a:rPr lang="en-US" sz="1500" i="1" dirty="0">
                <a:solidFill>
                  <a:srgbClr val="3D4351"/>
                </a:solidFill>
                <a:latin typeface="Calibri" pitchFamily="34" charset="0"/>
                <a:ea typeface="Calibri" pitchFamily="34" charset="-122"/>
                <a:cs typeface="Calibri" pitchFamily="34" charset="-120"/>
              </a:rPr>
              <a:t>On a handful of virtual machines with stable addresses, this is perfectly workable. That is why the package exists.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/etc/prometheus/prometheus.yml</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One word is the whole argument</a:t>
            </a:r>
            <a:endParaRPr lang="en-US" sz="3400" dirty="0"/>
          </a:p>
        </p:txBody>
      </p:sp>
      <p:sp>
        <p:nvSpPr>
          <p:cNvPr id="4" name="Shape 2"/>
          <p:cNvSpPr/>
          <p:nvPr/>
        </p:nvSpPr>
        <p:spPr>
          <a:xfrm>
            <a:off x="640080" y="1645920"/>
            <a:ext cx="6035040" cy="2423160"/>
          </a:xfrm>
          <a:prstGeom prst="roundRect">
            <a:avLst>
              <a:gd name="adj" fmla="val 1887"/>
            </a:avLst>
          </a:prstGeom>
          <a:solidFill>
            <a:srgbClr val="F4F6F9"/>
          </a:solidFill>
          <a:ln w="12700">
            <a:solidFill>
              <a:srgbClr val="D8DCE3"/>
            </a:solidFill>
            <a:prstDash val="solid"/>
          </a:ln>
        </p:spPr>
      </p:sp>
      <p:sp>
        <p:nvSpPr>
          <p:cNvPr id="5" name="Text 3"/>
          <p:cNvSpPr/>
          <p:nvPr/>
        </p:nvSpPr>
        <p:spPr>
          <a:xfrm>
            <a:off x="804672" y="1755648"/>
            <a:ext cx="5705856" cy="2203704"/>
          </a:xfrm>
          <a:prstGeom prst="rect">
            <a:avLst/>
          </a:prstGeom>
          <a:noFill/>
          <a:ln/>
        </p:spPr>
        <p:txBody>
          <a:bodyPr wrap="square" lIns="0" tIns="0" rIns="0" bIns="0" rtlCol="0" anchor="t"/>
          <a:lstStyle/>
          <a:p>
            <a:pPr indent="0" marL="0">
              <a:buNone/>
            </a:pPr>
            <a:r>
              <a:rPr lang="en-US" sz="1300" dirty="0">
                <a:solidFill>
                  <a:srgbClr val="3D4351"/>
                </a:solidFill>
                <a:latin typeface="Courier New" pitchFamily="34" charset="0"/>
                <a:ea typeface="Courier New" pitchFamily="34" charset="-122"/>
                <a:cs typeface="Courier New" pitchFamily="34" charset="-120"/>
              </a:rPr>
              <a:t>scrape_configs:</a:t>
            </a:r>
            <a:endParaRPr lang="en-US" sz="1300" dirty="0"/>
          </a:p>
          <a:p>
            <a:pPr indent="0" marL="0">
              <a:buNone/>
            </a:pPr>
            <a:r>
              <a:rPr lang="en-US" sz="1300" dirty="0">
                <a:solidFill>
                  <a:srgbClr val="3D4351"/>
                </a:solidFill>
                <a:latin typeface="Courier New" pitchFamily="34" charset="0"/>
                <a:ea typeface="Courier New" pitchFamily="34" charset="-122"/>
                <a:cs typeface="Courier New" pitchFamily="34" charset="-120"/>
              </a:rPr>
              <a:t>  - job_name: prometheus</a:t>
            </a:r>
            <a:endParaRPr lang="en-US" sz="1300" dirty="0"/>
          </a:p>
          <a:p>
            <a:pPr indent="0" marL="0">
              <a:buNone/>
            </a:pPr>
            <a:r>
              <a:rPr lang="en-US" sz="1300" dirty="0">
                <a:solidFill>
                  <a:srgbClr val="3D4351"/>
                </a:solidFill>
                <a:latin typeface="Courier New" pitchFamily="34" charset="0"/>
                <a:ea typeface="Courier New" pitchFamily="34" charset="-122"/>
                <a:cs typeface="Courier New" pitchFamily="34" charset="-120"/>
              </a:rPr>
              <a:t>    static_configs:</a:t>
            </a:r>
            <a:endParaRPr lang="en-US" sz="1300" dirty="0"/>
          </a:p>
          <a:p>
            <a:pPr indent="0" marL="0">
              <a:buNone/>
            </a:pPr>
            <a:r>
              <a:rPr lang="en-US" sz="1300" dirty="0">
                <a:solidFill>
                  <a:srgbClr val="3D4351"/>
                </a:solidFill>
                <a:latin typeface="Courier New" pitchFamily="34" charset="0"/>
                <a:ea typeface="Courier New" pitchFamily="34" charset="-122"/>
                <a:cs typeface="Courier New" pitchFamily="34" charset="-120"/>
              </a:rPr>
              <a:t>      - targets: ['localhost:9090']</a:t>
            </a:r>
            <a:endParaRPr lang="en-US" sz="1300" dirty="0"/>
          </a:p>
          <a:p>
            <a:pPr indent="0" marL="0">
              <a:buNone/>
            </a:pPr>
            <a:endParaRPr lang="en-US" sz="1300" dirty="0"/>
          </a:p>
          <a:p>
            <a:pPr indent="0" marL="0">
              <a:buNone/>
            </a:pPr>
            <a:r>
              <a:rPr lang="en-US" sz="1300" dirty="0">
                <a:solidFill>
                  <a:srgbClr val="3D4351"/>
                </a:solidFill>
                <a:latin typeface="Courier New" pitchFamily="34" charset="0"/>
                <a:ea typeface="Courier New" pitchFamily="34" charset="-122"/>
                <a:cs typeface="Courier New" pitchFamily="34" charset="-120"/>
              </a:rPr>
              <a:t>  - job_name: node</a:t>
            </a:r>
            <a:endParaRPr lang="en-US" sz="1300" dirty="0"/>
          </a:p>
          <a:p>
            <a:pPr indent="0" marL="0">
              <a:buNone/>
            </a:pPr>
            <a:r>
              <a:rPr lang="en-US" sz="1300" dirty="0">
                <a:solidFill>
                  <a:srgbClr val="3D4351"/>
                </a:solidFill>
                <a:latin typeface="Courier New" pitchFamily="34" charset="0"/>
                <a:ea typeface="Courier New" pitchFamily="34" charset="-122"/>
                <a:cs typeface="Courier New" pitchFamily="34" charset="-120"/>
              </a:rPr>
              <a:t>    static_configs:</a:t>
            </a:r>
            <a:endParaRPr lang="en-US" sz="1300" dirty="0"/>
          </a:p>
          <a:p>
            <a:pPr indent="0" marL="0">
              <a:buNone/>
            </a:pPr>
            <a:r>
              <a:rPr lang="en-US" sz="1300" dirty="0">
                <a:solidFill>
                  <a:srgbClr val="3D4351"/>
                </a:solidFill>
                <a:latin typeface="Courier New" pitchFamily="34" charset="0"/>
                <a:ea typeface="Courier New" pitchFamily="34" charset="-122"/>
                <a:cs typeface="Courier New" pitchFamily="34" charset="-120"/>
              </a:rPr>
              <a:t>      - targets: ['localhost:9100']</a:t>
            </a:r>
            <a:endParaRPr lang="en-US" sz="1300" dirty="0"/>
          </a:p>
        </p:txBody>
      </p:sp>
      <p:sp>
        <p:nvSpPr>
          <p:cNvPr id="6" name="Shape 4"/>
          <p:cNvSpPr/>
          <p:nvPr/>
        </p:nvSpPr>
        <p:spPr>
          <a:xfrm>
            <a:off x="1133856" y="2139696"/>
            <a:ext cx="1636776" cy="246888"/>
          </a:xfrm>
          <a:prstGeom prst="roundRect">
            <a:avLst>
              <a:gd name="adj" fmla="val 14815"/>
            </a:avLst>
          </a:prstGeom>
          <a:solidFill>
            <a:srgbClr val="FFF3BF">
              <a:alpha val="0"/>
            </a:srgbClr>
          </a:solidFill>
          <a:ln w="25400">
            <a:solidFill>
              <a:srgbClr val="E8590C"/>
            </a:solidFill>
            <a:prstDash val="solid"/>
          </a:ln>
        </p:spPr>
      </p:sp>
      <p:sp>
        <p:nvSpPr>
          <p:cNvPr id="7" name="Shape 5"/>
          <p:cNvSpPr/>
          <p:nvPr/>
        </p:nvSpPr>
        <p:spPr>
          <a:xfrm>
            <a:off x="2971800" y="2194560"/>
            <a:ext cx="411480" cy="146304"/>
          </a:xfrm>
          <a:prstGeom prst="rightArrow">
            <a:avLst/>
          </a:prstGeom>
          <a:solidFill>
            <a:srgbClr val="E8590C"/>
          </a:solidFill>
          <a:ln w="12700">
            <a:solidFill>
              <a:srgbClr val="E8590C"/>
            </a:solidFill>
            <a:prstDash val="solid"/>
          </a:ln>
        </p:spPr>
      </p:sp>
      <p:sp>
        <p:nvSpPr>
          <p:cNvPr id="8" name="Text 6"/>
          <p:cNvSpPr/>
          <p:nvPr/>
        </p:nvSpPr>
        <p:spPr>
          <a:xfrm>
            <a:off x="3474720" y="2139696"/>
            <a:ext cx="1371600" cy="256032"/>
          </a:xfrm>
          <a:prstGeom prst="rect">
            <a:avLst/>
          </a:prstGeom>
          <a:noFill/>
          <a:ln/>
        </p:spPr>
        <p:txBody>
          <a:bodyPr wrap="square" lIns="0" tIns="0" rIns="0" bIns="0" rtlCol="0" anchor="ctr"/>
          <a:lstStyle/>
          <a:p>
            <a:pPr indent="0" marL="0">
              <a:buNone/>
            </a:pPr>
            <a:r>
              <a:rPr lang="en-US" sz="1200" b="1" i="1" dirty="0">
                <a:solidFill>
                  <a:srgbClr val="E8590C"/>
                </a:solidFill>
                <a:latin typeface="Calibri" pitchFamily="34" charset="0"/>
                <a:ea typeface="Calibri" pitchFamily="34" charset="-122"/>
                <a:cs typeface="Calibri" pitchFamily="34" charset="-120"/>
              </a:rPr>
              <a:t>this word</a:t>
            </a:r>
            <a:endParaRPr lang="en-US" sz="1200" dirty="0"/>
          </a:p>
        </p:txBody>
      </p:sp>
      <p:sp>
        <p:nvSpPr>
          <p:cNvPr id="9" name="Shape 7"/>
          <p:cNvSpPr/>
          <p:nvPr/>
        </p:nvSpPr>
        <p:spPr>
          <a:xfrm>
            <a:off x="6995160" y="1645920"/>
            <a:ext cx="4526280" cy="2423160"/>
          </a:xfrm>
          <a:prstGeom prst="roundRect">
            <a:avLst>
              <a:gd name="adj" fmla="val 3019"/>
            </a:avLst>
          </a:prstGeom>
          <a:solidFill>
            <a:srgbClr val="FFE8D6"/>
          </a:solidFill>
          <a:ln w="19050">
            <a:solidFill>
              <a:srgbClr val="E8590C"/>
            </a:solidFill>
            <a:prstDash val="solid"/>
          </a:ln>
        </p:spPr>
      </p:sp>
      <p:sp>
        <p:nvSpPr>
          <p:cNvPr id="10" name="Text 8"/>
          <p:cNvSpPr/>
          <p:nvPr/>
        </p:nvSpPr>
        <p:spPr>
          <a:xfrm>
            <a:off x="7315200" y="1874520"/>
            <a:ext cx="3931920" cy="365760"/>
          </a:xfrm>
          <a:prstGeom prst="rect">
            <a:avLst/>
          </a:prstGeom>
          <a:noFill/>
          <a:ln/>
        </p:spPr>
        <p:txBody>
          <a:bodyPr wrap="square" lIns="0" tIns="0" rIns="0" bIns="0" rtlCol="0" anchor="ctr"/>
          <a:lstStyle/>
          <a:p>
            <a:pPr indent="0" marL="0">
              <a:buNone/>
            </a:pPr>
            <a:r>
              <a:rPr lang="en-US" sz="1700" b="1" dirty="0">
                <a:solidFill>
                  <a:srgbClr val="E8590C"/>
                </a:solidFill>
                <a:latin typeface="Cambria" pitchFamily="34" charset="0"/>
                <a:ea typeface="Cambria" pitchFamily="34" charset="-122"/>
                <a:cs typeface="Cambria" pitchFamily="34" charset="-120"/>
              </a:rPr>
              <a:t>Every target, by hand</a:t>
            </a:r>
            <a:endParaRPr lang="en-US" sz="1700" dirty="0"/>
          </a:p>
        </p:txBody>
      </p:sp>
      <p:sp>
        <p:nvSpPr>
          <p:cNvPr id="11" name="Text 9"/>
          <p:cNvSpPr/>
          <p:nvPr/>
        </p:nvSpPr>
        <p:spPr>
          <a:xfrm>
            <a:off x="7315200" y="2286000"/>
            <a:ext cx="3931920" cy="1691640"/>
          </a:xfrm>
          <a:prstGeom prst="rect">
            <a:avLst/>
          </a:prstGeom>
          <a:noFill/>
          <a:ln/>
        </p:spPr>
        <p:txBody>
          <a:bodyPr wrap="square" lIns="0" tIns="0" rIns="0" bIns="0" rtlCol="0" anchor="ctr"/>
          <a:lstStyle/>
          <a:p>
            <a:pPr indent="0" marL="0">
              <a:lnSpc>
                <a:spcPts val="1700"/>
              </a:lnSpc>
              <a:buNone/>
            </a:pPr>
            <a:r>
              <a:rPr lang="en-US" sz="1300" dirty="0">
                <a:solidFill>
                  <a:srgbClr val="3D4351"/>
                </a:solidFill>
                <a:latin typeface="Calibri" pitchFamily="34" charset="0"/>
                <a:ea typeface="Calibri" pitchFamily="34" charset="-122"/>
                <a:cs typeface="Calibri" pitchFamily="34" charset="-120"/>
              </a:rPr>
              <a:t>Deploy a new application?</a:t>
            </a:r>
            <a:endParaRPr lang="en-US" sz="1300" dirty="0"/>
          </a:p>
          <a:p>
            <a:pPr indent="0" marL="0">
              <a:lnSpc>
                <a:spcPts val="1700"/>
              </a:lnSpc>
              <a:buNone/>
            </a:pPr>
            <a:r>
              <a:rPr lang="en-US" sz="1300" dirty="0">
                <a:solidFill>
                  <a:srgbClr val="3D4351"/>
                </a:solidFill>
                <a:latin typeface="Calibri" pitchFamily="34" charset="0"/>
                <a:ea typeface="Calibri" pitchFamily="34" charset="-122"/>
                <a:cs typeface="Calibri" pitchFamily="34" charset="-120"/>
              </a:rPr>
              <a:t>Edit this file.</a:t>
            </a:r>
            <a:endParaRPr lang="en-US" sz="1300" dirty="0"/>
          </a:p>
          <a:p>
            <a:pPr indent="0" marL="0">
              <a:lnSpc>
                <a:spcPts val="1700"/>
              </a:lnSpc>
              <a:buNone/>
            </a:pPr>
            <a:endParaRPr lang="en-US" sz="1300" dirty="0"/>
          </a:p>
          <a:p>
            <a:pPr indent="0" marL="0">
              <a:lnSpc>
                <a:spcPts val="1700"/>
              </a:lnSpc>
              <a:buNone/>
            </a:pPr>
            <a:r>
              <a:rPr lang="en-US" sz="1300" dirty="0">
                <a:solidFill>
                  <a:srgbClr val="3D4351"/>
                </a:solidFill>
                <a:latin typeface="Calibri" pitchFamily="34" charset="0"/>
                <a:ea typeface="Calibri" pitchFamily="34" charset="-122"/>
                <a:cs typeface="Calibri" pitchFamily="34" charset="-120"/>
              </a:rPr>
              <a:t>Add a server?</a:t>
            </a:r>
            <a:endParaRPr lang="en-US" sz="1300" dirty="0"/>
          </a:p>
          <a:p>
            <a:pPr indent="0" marL="0">
              <a:lnSpc>
                <a:spcPts val="1700"/>
              </a:lnSpc>
              <a:buNone/>
            </a:pPr>
            <a:r>
              <a:rPr lang="en-US" sz="1300" dirty="0">
                <a:solidFill>
                  <a:srgbClr val="3D4351"/>
                </a:solidFill>
                <a:latin typeface="Calibri" pitchFamily="34" charset="0"/>
                <a:ea typeface="Calibri" pitchFamily="34" charset="-122"/>
                <a:cs typeface="Calibri" pitchFamily="34" charset="-120"/>
              </a:rPr>
              <a:t>Edit this file.</a:t>
            </a:r>
            <a:endParaRPr lang="en-US" sz="1300" dirty="0"/>
          </a:p>
          <a:p>
            <a:pPr indent="0" marL="0">
              <a:lnSpc>
                <a:spcPts val="1700"/>
              </a:lnSpc>
              <a:buNone/>
            </a:pPr>
            <a:endParaRPr lang="en-US" sz="1300" dirty="0"/>
          </a:p>
          <a:p>
            <a:pPr indent="0" marL="0">
              <a:lnSpc>
                <a:spcPts val="1700"/>
              </a:lnSpc>
              <a:buNone/>
            </a:pPr>
            <a:r>
              <a:rPr lang="en-US" sz="1300" dirty="0">
                <a:solidFill>
                  <a:srgbClr val="3D4351"/>
                </a:solidFill>
                <a:latin typeface="Calibri" pitchFamily="34" charset="0"/>
                <a:ea typeface="Calibri" pitchFamily="34" charset="-122"/>
                <a:cs typeface="Calibri" pitchFamily="34" charset="-120"/>
              </a:rPr>
              <a:t>An IP address changed?</a:t>
            </a:r>
            <a:endParaRPr lang="en-US" sz="1300" dirty="0"/>
          </a:p>
          <a:p>
            <a:pPr indent="0" marL="0">
              <a:lnSpc>
                <a:spcPts val="1700"/>
              </a:lnSpc>
              <a:buNone/>
            </a:pPr>
            <a:r>
              <a:rPr lang="en-US" sz="1300" dirty="0">
                <a:solidFill>
                  <a:srgbClr val="3D4351"/>
                </a:solidFill>
                <a:latin typeface="Calibri" pitchFamily="34" charset="0"/>
                <a:ea typeface="Calibri" pitchFamily="34" charset="-122"/>
                <a:cs typeface="Calibri" pitchFamily="34" charset="-120"/>
              </a:rPr>
              <a:t>Edit this file.</a:t>
            </a:r>
            <a:endParaRPr lang="en-US" sz="1300" dirty="0"/>
          </a:p>
        </p:txBody>
      </p:sp>
      <p:sp>
        <p:nvSpPr>
          <p:cNvPr id="12" name="Shape 10"/>
          <p:cNvSpPr/>
          <p:nvPr/>
        </p:nvSpPr>
        <p:spPr>
          <a:xfrm>
            <a:off x="640080" y="4343400"/>
            <a:ext cx="10881360" cy="1828800"/>
          </a:xfrm>
          <a:prstGeom prst="roundRect">
            <a:avLst>
              <a:gd name="adj" fmla="val 4000"/>
            </a:avLst>
          </a:prstGeom>
          <a:solidFill>
            <a:srgbClr val="FBE0E0"/>
          </a:solidFill>
          <a:ln w="19050">
            <a:solidFill>
              <a:srgbClr val="C92A2A"/>
            </a:solidFill>
            <a:prstDash val="solid"/>
          </a:ln>
        </p:spPr>
      </p:sp>
      <p:sp>
        <p:nvSpPr>
          <p:cNvPr id="13" name="Text 11"/>
          <p:cNvSpPr/>
          <p:nvPr/>
        </p:nvSpPr>
        <p:spPr>
          <a:xfrm>
            <a:off x="1005840" y="4553712"/>
            <a:ext cx="10149840" cy="365760"/>
          </a:xfrm>
          <a:prstGeom prst="rect">
            <a:avLst/>
          </a:prstGeom>
          <a:noFill/>
          <a:ln/>
        </p:spPr>
        <p:txBody>
          <a:bodyPr wrap="square" lIns="0" tIns="0" rIns="0" bIns="0" rtlCol="0" anchor="ctr"/>
          <a:lstStyle/>
          <a:p>
            <a:pPr indent="0" marL="0">
              <a:buNone/>
            </a:pPr>
            <a:r>
              <a:rPr lang="en-US" sz="1800" b="1" dirty="0">
                <a:solidFill>
                  <a:srgbClr val="C92A2A"/>
                </a:solidFill>
                <a:latin typeface="Cambria" pitchFamily="34" charset="0"/>
                <a:ea typeface="Cambria" pitchFamily="34" charset="-122"/>
                <a:cs typeface="Cambria" pitchFamily="34" charset="-120"/>
              </a:rPr>
              <a:t>Now consider Kubernetes</a:t>
            </a:r>
            <a:endParaRPr lang="en-US" sz="1800" dirty="0"/>
          </a:p>
        </p:txBody>
      </p:sp>
      <p:sp>
        <p:nvSpPr>
          <p:cNvPr id="14" name="Text 12"/>
          <p:cNvSpPr/>
          <p:nvPr/>
        </p:nvSpPr>
        <p:spPr>
          <a:xfrm>
            <a:off x="1005840" y="4983480"/>
            <a:ext cx="10149840" cy="777240"/>
          </a:xfrm>
          <a:prstGeom prst="rect">
            <a:avLst/>
          </a:prstGeom>
          <a:noFill/>
          <a:ln/>
        </p:spPr>
        <p:txBody>
          <a:bodyPr wrap="square" lIns="0" tIns="0" rIns="0" bIns="0" rtlCol="0" anchor="ctr"/>
          <a:lstStyle/>
          <a:p>
            <a:pPr indent="0" marL="0">
              <a:lnSpc>
                <a:spcPts val="2100"/>
              </a:lnSpc>
              <a:buNone/>
            </a:pPr>
            <a:r>
              <a:rPr lang="en-US" sz="1450" dirty="0">
                <a:solidFill>
                  <a:srgbClr val="1A1D26"/>
                </a:solidFill>
                <a:latin typeface="Calibri" pitchFamily="34" charset="0"/>
                <a:ea typeface="Calibri" pitchFamily="34" charset="-122"/>
                <a:cs typeface="Calibri" pitchFamily="34" charset="-120"/>
              </a:rPr>
              <a:t>Pods are created and destroyed continuously. Their names carry generated suffixes. Their IP addresses come from a pool and are reused.</a:t>
            </a:r>
            <a:endParaRPr lang="en-US" sz="1450" dirty="0"/>
          </a:p>
          <a:p>
            <a:pPr indent="0" marL="0">
              <a:lnSpc>
                <a:spcPts val="2100"/>
              </a:lnSpc>
              <a:buNone/>
            </a:pPr>
            <a:r>
              <a:rPr lang="en-US" sz="1450" dirty="0">
                <a:solidFill>
                  <a:srgbClr val="1A1D26"/>
                </a:solidFill>
                <a:latin typeface="Calibri" pitchFamily="34" charset="0"/>
                <a:ea typeface="Calibri" pitchFamily="34" charset="-122"/>
                <a:cs typeface="Calibri" pitchFamily="34" charset="-120"/>
              </a:rPr>
              <a:t>A deployment scaling from three replicas to ten creates seven targets that did not exist a second ago, at addresses nobody can predict.</a:t>
            </a:r>
            <a:endParaRPr lang="en-US" sz="1450" dirty="0"/>
          </a:p>
        </p:txBody>
      </p:sp>
      <p:sp>
        <p:nvSpPr>
          <p:cNvPr id="15" name="Text 13"/>
          <p:cNvSpPr/>
          <p:nvPr/>
        </p:nvSpPr>
        <p:spPr>
          <a:xfrm>
            <a:off x="1005840" y="5760720"/>
            <a:ext cx="10149840" cy="320040"/>
          </a:xfrm>
          <a:prstGeom prst="rect">
            <a:avLst/>
          </a:prstGeom>
          <a:noFill/>
          <a:ln/>
        </p:spPr>
        <p:txBody>
          <a:bodyPr wrap="square" lIns="0" tIns="0" rIns="0" bIns="0" rtlCol="0" anchor="ctr"/>
          <a:lstStyle/>
          <a:p>
            <a:pPr indent="0" marL="0">
              <a:buNone/>
            </a:pPr>
            <a:r>
              <a:rPr lang="en-US" sz="1600" b="1" dirty="0">
                <a:solidFill>
                  <a:srgbClr val="C92A2A"/>
                </a:solidFill>
                <a:latin typeface="Calibri" pitchFamily="34" charset="0"/>
                <a:ea typeface="Calibri" pitchFamily="34" charset="-122"/>
                <a:cs typeface="Calibri" pitchFamily="34" charset="-120"/>
              </a:rPr>
              <a:t>There is no way to write that into a static file.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THE PROOF</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Status, then Targets</a:t>
            </a:r>
            <a:endParaRPr lang="en-US" sz="3400" dirty="0"/>
          </a:p>
        </p:txBody>
      </p:sp>
      <p:sp>
        <p:nvSpPr>
          <p:cNvPr id="4" name="Shape 2"/>
          <p:cNvSpPr/>
          <p:nvPr/>
        </p:nvSpPr>
        <p:spPr>
          <a:xfrm>
            <a:off x="640080" y="1691640"/>
            <a:ext cx="5257800" cy="2743200"/>
          </a:xfrm>
          <a:prstGeom prst="roundRect">
            <a:avLst>
              <a:gd name="adj" fmla="val 2667"/>
            </a:avLst>
          </a:prstGeom>
          <a:solidFill>
            <a:srgbClr val="F4F6F9"/>
          </a:solidFill>
          <a:ln w="19050">
            <a:solidFill>
              <a:srgbClr val="6B7280"/>
            </a:solidFill>
            <a:prstDash val="solid"/>
          </a:ln>
        </p:spPr>
      </p:sp>
      <p:sp>
        <p:nvSpPr>
          <p:cNvPr id="5" name="Text 3"/>
          <p:cNvSpPr/>
          <p:nvPr/>
        </p:nvSpPr>
        <p:spPr>
          <a:xfrm>
            <a:off x="960120" y="1901952"/>
            <a:ext cx="4572000" cy="347472"/>
          </a:xfrm>
          <a:prstGeom prst="rect">
            <a:avLst/>
          </a:prstGeom>
          <a:noFill/>
          <a:ln/>
        </p:spPr>
        <p:txBody>
          <a:bodyPr wrap="square" lIns="0" tIns="0" rIns="0" bIns="0" rtlCol="0" anchor="ctr"/>
          <a:lstStyle/>
          <a:p>
            <a:pPr indent="0" marL="0">
              <a:buNone/>
            </a:pPr>
            <a:r>
              <a:rPr lang="en-US" sz="1600" b="1" spc="100" kern="0" dirty="0">
                <a:solidFill>
                  <a:srgbClr val="6B7280"/>
                </a:solidFill>
                <a:latin typeface="Cambria" pitchFamily="34" charset="0"/>
                <a:ea typeface="Cambria" pitchFamily="34" charset="-122"/>
                <a:cs typeface="Cambria" pitchFamily="34" charset="-120"/>
              </a:rPr>
              <a:t>APT INSTALL</a:t>
            </a:r>
            <a:endParaRPr lang="en-US" sz="1600" dirty="0"/>
          </a:p>
        </p:txBody>
      </p:sp>
      <p:sp>
        <p:nvSpPr>
          <p:cNvPr id="6" name="Shape 4"/>
          <p:cNvSpPr/>
          <p:nvPr/>
        </p:nvSpPr>
        <p:spPr>
          <a:xfrm>
            <a:off x="960120" y="2331720"/>
            <a:ext cx="4617720" cy="960120"/>
          </a:xfrm>
          <a:prstGeom prst="roundRect">
            <a:avLst>
              <a:gd name="adj" fmla="val 4762"/>
            </a:avLst>
          </a:prstGeom>
          <a:solidFill>
            <a:srgbClr val="F4F6F9"/>
          </a:solidFill>
          <a:ln w="12700">
            <a:solidFill>
              <a:srgbClr val="D8DCE3"/>
            </a:solidFill>
            <a:prstDash val="solid"/>
          </a:ln>
        </p:spPr>
      </p:sp>
      <p:sp>
        <p:nvSpPr>
          <p:cNvPr id="7" name="Text 5"/>
          <p:cNvSpPr/>
          <p:nvPr/>
        </p:nvSpPr>
        <p:spPr>
          <a:xfrm>
            <a:off x="1124712" y="2441448"/>
            <a:ext cx="4288536" cy="740664"/>
          </a:xfrm>
          <a:prstGeom prst="rect">
            <a:avLst/>
          </a:prstGeom>
          <a:noFill/>
          <a:ln/>
        </p:spPr>
        <p:txBody>
          <a:bodyPr wrap="square" lIns="0" tIns="0" rIns="0" bIns="0" rtlCol="0" anchor="t"/>
          <a:lstStyle/>
          <a:p>
            <a:pPr indent="0" marL="0">
              <a:buNone/>
            </a:pPr>
            <a:r>
              <a:rPr lang="en-US" sz="1100" dirty="0">
                <a:solidFill>
                  <a:srgbClr val="3D4351"/>
                </a:solidFill>
                <a:latin typeface="Courier New" pitchFamily="34" charset="0"/>
                <a:ea typeface="Courier New" pitchFamily="34" charset="-122"/>
                <a:cs typeface="Courier New" pitchFamily="34" charset="-120"/>
              </a:rPr>
              <a:t>prometheus  localhost:9090   UP</a:t>
            </a:r>
            <a:endParaRPr lang="en-US" sz="1100" dirty="0"/>
          </a:p>
          <a:p>
            <a:pPr indent="0" marL="0">
              <a:buNone/>
            </a:pPr>
            <a:r>
              <a:rPr lang="en-US" sz="1100" dirty="0">
                <a:solidFill>
                  <a:srgbClr val="3D4351"/>
                </a:solidFill>
                <a:latin typeface="Courier New" pitchFamily="34" charset="0"/>
                <a:ea typeface="Courier New" pitchFamily="34" charset="-122"/>
                <a:cs typeface="Courier New" pitchFamily="34" charset="-120"/>
              </a:rPr>
              <a:t>node        localhost:9100   DOWN</a:t>
            </a:r>
            <a:endParaRPr lang="en-US" sz="1100" dirty="0"/>
          </a:p>
        </p:txBody>
      </p:sp>
      <p:sp>
        <p:nvSpPr>
          <p:cNvPr id="8" name="Text 6"/>
          <p:cNvSpPr/>
          <p:nvPr/>
        </p:nvSpPr>
        <p:spPr>
          <a:xfrm>
            <a:off x="960120" y="3456432"/>
            <a:ext cx="4617720" cy="320040"/>
          </a:xfrm>
          <a:prstGeom prst="rect">
            <a:avLst/>
          </a:prstGeom>
          <a:noFill/>
          <a:ln/>
        </p:spPr>
        <p:txBody>
          <a:bodyPr wrap="square" lIns="0" tIns="0" rIns="0" bIns="0" rtlCol="0" anchor="ctr"/>
          <a:lstStyle/>
          <a:p>
            <a:pPr indent="0" marL="0">
              <a:buNone/>
            </a:pPr>
            <a:r>
              <a:rPr lang="en-US" sz="1400" b="1" dirty="0">
                <a:solidFill>
                  <a:srgbClr val="1A1D26"/>
                </a:solidFill>
                <a:latin typeface="Calibri" pitchFamily="34" charset="0"/>
                <a:ea typeface="Calibri" pitchFamily="34" charset="-122"/>
                <a:cs typeface="Calibri" pitchFamily="34" charset="-120"/>
              </a:rPr>
              <a:t>One target. Prometheus watching itself.</a:t>
            </a:r>
            <a:endParaRPr lang="en-US" sz="1400" dirty="0"/>
          </a:p>
        </p:txBody>
      </p:sp>
      <p:sp>
        <p:nvSpPr>
          <p:cNvPr id="9" name="Text 7"/>
          <p:cNvSpPr/>
          <p:nvPr/>
        </p:nvSpPr>
        <p:spPr>
          <a:xfrm>
            <a:off x="960120" y="3794760"/>
            <a:ext cx="4617720" cy="502920"/>
          </a:xfrm>
          <a:prstGeom prst="rect">
            <a:avLst/>
          </a:prstGeom>
          <a:noFill/>
          <a:ln/>
        </p:spPr>
        <p:txBody>
          <a:bodyPr wrap="square" lIns="0" tIns="0" rIns="0" bIns="0" rtlCol="0" anchor="ctr"/>
          <a:lstStyle/>
          <a:p>
            <a:pPr indent="0" marL="0">
              <a:buNone/>
            </a:pPr>
            <a:r>
              <a:rPr lang="en-US" sz="1250" dirty="0">
                <a:solidFill>
                  <a:srgbClr val="3D4351"/>
                </a:solidFill>
                <a:latin typeface="Calibri" pitchFamily="34" charset="0"/>
                <a:ea typeface="Calibri" pitchFamily="34" charset="-122"/>
                <a:cs typeface="Calibri" pitchFamily="34" charset="-120"/>
              </a:rPr>
              <a:t>Everything else you would ever want to monitor has to be typed into a file by hand.</a:t>
            </a:r>
            <a:endParaRPr lang="en-US" sz="1250" dirty="0"/>
          </a:p>
        </p:txBody>
      </p:sp>
      <p:sp>
        <p:nvSpPr>
          <p:cNvPr id="10" name="Shape 8"/>
          <p:cNvSpPr/>
          <p:nvPr/>
        </p:nvSpPr>
        <p:spPr>
          <a:xfrm>
            <a:off x="6263640" y="1691640"/>
            <a:ext cx="5257800" cy="2743200"/>
          </a:xfrm>
          <a:prstGeom prst="roundRect">
            <a:avLst>
              <a:gd name="adj" fmla="val 2667"/>
            </a:avLst>
          </a:prstGeom>
          <a:solidFill>
            <a:srgbClr val="FFE8D6"/>
          </a:solidFill>
          <a:ln w="19050">
            <a:solidFill>
              <a:srgbClr val="E8590C"/>
            </a:solidFill>
            <a:prstDash val="solid"/>
          </a:ln>
        </p:spPr>
      </p:sp>
      <p:sp>
        <p:nvSpPr>
          <p:cNvPr id="11" name="Text 9"/>
          <p:cNvSpPr/>
          <p:nvPr/>
        </p:nvSpPr>
        <p:spPr>
          <a:xfrm>
            <a:off x="6583680" y="1901952"/>
            <a:ext cx="4572000" cy="347472"/>
          </a:xfrm>
          <a:prstGeom prst="rect">
            <a:avLst/>
          </a:prstGeom>
          <a:noFill/>
          <a:ln/>
        </p:spPr>
        <p:txBody>
          <a:bodyPr wrap="square" lIns="0" tIns="0" rIns="0" bIns="0" rtlCol="0" anchor="ctr"/>
          <a:lstStyle/>
          <a:p>
            <a:pPr indent="0" marL="0">
              <a:buNone/>
            </a:pPr>
            <a:r>
              <a:rPr lang="en-US" sz="1600" b="1" spc="100" kern="0" dirty="0">
                <a:solidFill>
                  <a:srgbClr val="E8590C"/>
                </a:solidFill>
                <a:latin typeface="Cambria" pitchFamily="34" charset="0"/>
                <a:ea typeface="Cambria" pitchFamily="34" charset="-122"/>
                <a:cs typeface="Cambria" pitchFamily="34" charset="-120"/>
              </a:rPr>
              <a:t>SECTION 4, HELM</a:t>
            </a:r>
            <a:endParaRPr lang="en-US" sz="1600" dirty="0"/>
          </a:p>
        </p:txBody>
      </p:sp>
      <p:sp>
        <p:nvSpPr>
          <p:cNvPr id="12" name="Shape 10"/>
          <p:cNvSpPr/>
          <p:nvPr/>
        </p:nvSpPr>
        <p:spPr>
          <a:xfrm>
            <a:off x="6583680" y="2331720"/>
            <a:ext cx="4617720" cy="960120"/>
          </a:xfrm>
          <a:prstGeom prst="roundRect">
            <a:avLst>
              <a:gd name="adj" fmla="val 4762"/>
            </a:avLst>
          </a:prstGeom>
          <a:solidFill>
            <a:srgbClr val="F4F6F9"/>
          </a:solidFill>
          <a:ln w="12700">
            <a:solidFill>
              <a:srgbClr val="D8DCE3"/>
            </a:solidFill>
            <a:prstDash val="solid"/>
          </a:ln>
        </p:spPr>
      </p:sp>
      <p:sp>
        <p:nvSpPr>
          <p:cNvPr id="13" name="Text 11"/>
          <p:cNvSpPr/>
          <p:nvPr/>
        </p:nvSpPr>
        <p:spPr>
          <a:xfrm>
            <a:off x="6748272" y="2441448"/>
            <a:ext cx="4288536" cy="740664"/>
          </a:xfrm>
          <a:prstGeom prst="rect">
            <a:avLst/>
          </a:prstGeom>
          <a:noFill/>
          <a:ln/>
        </p:spPr>
        <p:txBody>
          <a:bodyPr wrap="square" lIns="0" tIns="0" rIns="0" bIns="0" rtlCol="0" anchor="t"/>
          <a:lstStyle/>
          <a:p>
            <a:pPr indent="0" marL="0">
              <a:buNone/>
            </a:pPr>
            <a:r>
              <a:rPr lang="en-US" sz="1100" dirty="0">
                <a:solidFill>
                  <a:srgbClr val="3D4351"/>
                </a:solidFill>
                <a:latin typeface="Courier New" pitchFamily="34" charset="0"/>
                <a:ea typeface="Courier New" pitchFamily="34" charset="-122"/>
                <a:cs typeface="Courier New" pitchFamily="34" charset="-120"/>
              </a:rPr>
              <a:t>kubelet, apiserver, coredns,</a:t>
            </a:r>
            <a:endParaRPr lang="en-US" sz="1100" dirty="0"/>
          </a:p>
          <a:p>
            <a:pPr indent="0" marL="0">
              <a:buNone/>
            </a:pPr>
            <a:r>
              <a:rPr lang="en-US" sz="1100" dirty="0">
                <a:solidFill>
                  <a:srgbClr val="3D4351"/>
                </a:solidFill>
                <a:latin typeface="Courier New" pitchFamily="34" charset="0"/>
                <a:ea typeface="Courier New" pitchFamily="34" charset="-122"/>
                <a:cs typeface="Courier New" pitchFamily="34" charset="-120"/>
              </a:rPr>
              <a:t>node-exporter, kube-state-metrics, ...</a:t>
            </a:r>
            <a:endParaRPr lang="en-US" sz="1100" dirty="0"/>
          </a:p>
        </p:txBody>
      </p:sp>
      <p:sp>
        <p:nvSpPr>
          <p:cNvPr id="14" name="Text 12"/>
          <p:cNvSpPr/>
          <p:nvPr/>
        </p:nvSpPr>
        <p:spPr>
          <a:xfrm>
            <a:off x="6583680" y="3456432"/>
            <a:ext cx="4617720" cy="320040"/>
          </a:xfrm>
          <a:prstGeom prst="rect">
            <a:avLst/>
          </a:prstGeom>
          <a:noFill/>
          <a:ln/>
        </p:spPr>
        <p:txBody>
          <a:bodyPr wrap="square" lIns="0" tIns="0" rIns="0" bIns="0" rtlCol="0" anchor="ctr"/>
          <a:lstStyle/>
          <a:p>
            <a:pPr indent="0" marL="0">
              <a:buNone/>
            </a:pPr>
            <a:r>
              <a:rPr lang="en-US" sz="1400" b="1" dirty="0">
                <a:solidFill>
                  <a:srgbClr val="1A1D26"/>
                </a:solidFill>
                <a:latin typeface="Calibri" pitchFamily="34" charset="0"/>
                <a:ea typeface="Calibri" pitchFamily="34" charset="-122"/>
                <a:cs typeface="Calibri" pitchFamily="34" charset="-120"/>
              </a:rPr>
              <a:t>Dozens of targets. None configured by hand.</a:t>
            </a:r>
            <a:endParaRPr lang="en-US" sz="1400" dirty="0"/>
          </a:p>
        </p:txBody>
      </p:sp>
      <p:sp>
        <p:nvSpPr>
          <p:cNvPr id="15" name="Text 13"/>
          <p:cNvSpPr/>
          <p:nvPr/>
        </p:nvSpPr>
        <p:spPr>
          <a:xfrm>
            <a:off x="6583680" y="3794760"/>
            <a:ext cx="4617720" cy="502920"/>
          </a:xfrm>
          <a:prstGeom prst="rect">
            <a:avLst/>
          </a:prstGeom>
          <a:noFill/>
          <a:ln/>
        </p:spPr>
        <p:txBody>
          <a:bodyPr wrap="square" lIns="0" tIns="0" rIns="0" bIns="0" rtlCol="0" anchor="ctr"/>
          <a:lstStyle/>
          <a:p>
            <a:pPr indent="0" marL="0">
              <a:buNone/>
            </a:pPr>
            <a:r>
              <a:rPr lang="en-US" sz="1250" dirty="0">
                <a:solidFill>
                  <a:srgbClr val="3D4351"/>
                </a:solidFill>
                <a:latin typeface="Calibri" pitchFamily="34" charset="0"/>
                <a:ea typeface="Calibri" pitchFamily="34" charset="-122"/>
                <a:cs typeface="Calibri" pitchFamily="34" charset="-120"/>
              </a:rPr>
              <a:t>Prometheus asked the Kubernetes API what exists and started scraping it.</a:t>
            </a:r>
            <a:endParaRPr lang="en-US" sz="1250" dirty="0"/>
          </a:p>
        </p:txBody>
      </p:sp>
      <p:sp>
        <p:nvSpPr>
          <p:cNvPr id="16" name="Text 14"/>
          <p:cNvSpPr/>
          <p:nvPr/>
        </p:nvSpPr>
        <p:spPr>
          <a:xfrm>
            <a:off x="640080" y="4754880"/>
            <a:ext cx="10881360" cy="411480"/>
          </a:xfrm>
          <a:prstGeom prst="rect">
            <a:avLst/>
          </a:prstGeom>
          <a:noFill/>
          <a:ln/>
        </p:spPr>
        <p:txBody>
          <a:bodyPr wrap="square" lIns="0" tIns="0" rIns="0" bIns="0" rtlCol="0" anchor="ctr"/>
          <a:lstStyle/>
          <a:p>
            <a:pPr indent="0" marL="0">
              <a:buNone/>
            </a:pPr>
            <a:r>
              <a:rPr lang="en-US" sz="1900" b="1" dirty="0">
                <a:solidFill>
                  <a:srgbClr val="1A1D26"/>
                </a:solidFill>
                <a:latin typeface="Cambria" pitchFamily="34" charset="0"/>
                <a:ea typeface="Cambria" pitchFamily="34" charset="-122"/>
                <a:cs typeface="Cambria" pitchFamily="34" charset="-120"/>
              </a:rPr>
              <a:t>Same software. Same web UI. Completely different picture.</a:t>
            </a:r>
            <a:endParaRPr lang="en-US" sz="1900" dirty="0"/>
          </a:p>
        </p:txBody>
      </p:sp>
      <p:sp>
        <p:nvSpPr>
          <p:cNvPr id="17" name="Text 15"/>
          <p:cNvSpPr/>
          <p:nvPr/>
        </p:nvSpPr>
        <p:spPr>
          <a:xfrm>
            <a:off x="640080" y="5230368"/>
            <a:ext cx="10881360" cy="365760"/>
          </a:xfrm>
          <a:prstGeom prst="rect">
            <a:avLst/>
          </a:prstGeom>
          <a:noFill/>
          <a:ln/>
        </p:spPr>
        <p:txBody>
          <a:bodyPr wrap="square" lIns="0" tIns="0" rIns="0" bIns="0" rtlCol="0" anchor="ctr"/>
          <a:lstStyle/>
          <a:p>
            <a:pPr indent="0" marL="0">
              <a:buNone/>
            </a:pPr>
            <a:r>
              <a:rPr lang="en-US" sz="1500" dirty="0">
                <a:solidFill>
                  <a:srgbClr val="3D4351"/>
                </a:solidFill>
                <a:latin typeface="Calibri" pitchFamily="34" charset="0"/>
                <a:ea typeface="Calibri" pitchFamily="34" charset="-122"/>
                <a:cs typeface="Calibri" pitchFamily="34" charset="-120"/>
              </a:rPr>
              <a:t>That gap is what the Prometheus Operator exists to close, and it is why the next section is worth fifty minutes.</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FOUR LIMITATIONS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A1D26"/>
                </a:solidFill>
                <a:latin typeface="Cambria" pitchFamily="34" charset="0"/>
                <a:ea typeface="Cambria" pitchFamily="34" charset="-122"/>
                <a:cs typeface="Cambria" pitchFamily="34" charset="-120"/>
              </a:rPr>
              <a:t>What the simple install cannot do</a:t>
            </a:r>
            <a:endParaRPr lang="en-US" sz="3400" dirty="0"/>
          </a:p>
        </p:txBody>
      </p:sp>
      <p:sp>
        <p:nvSpPr>
          <p:cNvPr id="4" name="Shape 2"/>
          <p:cNvSpPr/>
          <p:nvPr/>
        </p:nvSpPr>
        <p:spPr>
          <a:xfrm>
            <a:off x="640080" y="1691640"/>
            <a:ext cx="10881360" cy="914400"/>
          </a:xfrm>
          <a:prstGeom prst="roundRect">
            <a:avLst>
              <a:gd name="adj" fmla="val 8000"/>
            </a:avLst>
          </a:prstGeom>
          <a:solidFill>
            <a:srgbClr val="FFFFFF"/>
          </a:solidFill>
          <a:ln w="19050">
            <a:solidFill>
              <a:srgbClr val="C92A2A"/>
            </a:solidFill>
            <a:prstDash val="solid"/>
          </a:ln>
        </p:spPr>
      </p:sp>
      <p:sp>
        <p:nvSpPr>
          <p:cNvPr id="5" name="Shape 3"/>
          <p:cNvSpPr/>
          <p:nvPr/>
        </p:nvSpPr>
        <p:spPr>
          <a:xfrm>
            <a:off x="914400" y="1920240"/>
            <a:ext cx="457200" cy="457200"/>
          </a:xfrm>
          <a:prstGeom prst="ellipse">
            <a:avLst/>
          </a:prstGeom>
          <a:solidFill>
            <a:srgbClr val="C92A2A"/>
          </a:solidFill>
          <a:ln w="12700">
            <a:solidFill>
              <a:srgbClr val="C92A2A"/>
            </a:solidFill>
            <a:prstDash val="solid"/>
          </a:ln>
        </p:spPr>
      </p:sp>
      <p:sp>
        <p:nvSpPr>
          <p:cNvPr id="6" name="Text 4"/>
          <p:cNvSpPr/>
          <p:nvPr/>
        </p:nvSpPr>
        <p:spPr>
          <a:xfrm>
            <a:off x="914400" y="1920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54480" y="1837944"/>
            <a:ext cx="3931920" cy="347472"/>
          </a:xfrm>
          <a:prstGeom prst="rect">
            <a:avLst/>
          </a:prstGeom>
          <a:noFill/>
          <a:ln/>
        </p:spPr>
        <p:txBody>
          <a:bodyPr wrap="square" lIns="0" tIns="0" rIns="0" bIns="0" rtlCol="0" anchor="ctr"/>
          <a:lstStyle/>
          <a:p>
            <a:pPr indent="0" marL="0">
              <a:buNone/>
            </a:pPr>
            <a:r>
              <a:rPr lang="en-US" sz="1650" b="1" dirty="0">
                <a:solidFill>
                  <a:srgbClr val="1A1D26"/>
                </a:solidFill>
                <a:latin typeface="Cambria" pitchFamily="34" charset="0"/>
                <a:ea typeface="Cambria" pitchFamily="34" charset="-122"/>
                <a:cs typeface="Cambria" pitchFamily="34" charset="-120"/>
              </a:rPr>
              <a:t>No service discovery</a:t>
            </a:r>
            <a:endParaRPr lang="en-US" sz="1650" dirty="0"/>
          </a:p>
        </p:txBody>
      </p:sp>
      <p:sp>
        <p:nvSpPr>
          <p:cNvPr id="8" name="Text 6"/>
          <p:cNvSpPr/>
          <p:nvPr/>
        </p:nvSpPr>
        <p:spPr>
          <a:xfrm>
            <a:off x="1554480" y="2194560"/>
            <a:ext cx="9509760" cy="32004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Targets are static text. Prometheus cannot learn that something new exists.</a:t>
            </a:r>
            <a:endParaRPr lang="en-US" sz="1350" dirty="0"/>
          </a:p>
        </p:txBody>
      </p:sp>
      <p:sp>
        <p:nvSpPr>
          <p:cNvPr id="9" name="Shape 7"/>
          <p:cNvSpPr/>
          <p:nvPr/>
        </p:nvSpPr>
        <p:spPr>
          <a:xfrm>
            <a:off x="640080" y="2788920"/>
            <a:ext cx="10881360" cy="914400"/>
          </a:xfrm>
          <a:prstGeom prst="roundRect">
            <a:avLst>
              <a:gd name="adj" fmla="val 8000"/>
            </a:avLst>
          </a:prstGeom>
          <a:solidFill>
            <a:srgbClr val="FFFFFF"/>
          </a:solidFill>
          <a:ln w="19050">
            <a:solidFill>
              <a:srgbClr val="C92A2A"/>
            </a:solidFill>
            <a:prstDash val="solid"/>
          </a:ln>
        </p:spPr>
      </p:sp>
      <p:sp>
        <p:nvSpPr>
          <p:cNvPr id="10" name="Shape 8"/>
          <p:cNvSpPr/>
          <p:nvPr/>
        </p:nvSpPr>
        <p:spPr>
          <a:xfrm>
            <a:off x="914400" y="3017520"/>
            <a:ext cx="457200" cy="457200"/>
          </a:xfrm>
          <a:prstGeom prst="ellipse">
            <a:avLst/>
          </a:prstGeom>
          <a:solidFill>
            <a:srgbClr val="C92A2A"/>
          </a:solidFill>
          <a:ln w="12700">
            <a:solidFill>
              <a:srgbClr val="C92A2A"/>
            </a:solidFill>
            <a:prstDash val="solid"/>
          </a:ln>
        </p:spPr>
      </p:sp>
      <p:sp>
        <p:nvSpPr>
          <p:cNvPr id="11" name="Text 9"/>
          <p:cNvSpPr/>
          <p:nvPr/>
        </p:nvSpPr>
        <p:spPr>
          <a:xfrm>
            <a:off x="914400" y="3017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54480" y="2935224"/>
            <a:ext cx="3931920" cy="347472"/>
          </a:xfrm>
          <a:prstGeom prst="rect">
            <a:avLst/>
          </a:prstGeom>
          <a:noFill/>
          <a:ln/>
        </p:spPr>
        <p:txBody>
          <a:bodyPr wrap="square" lIns="0" tIns="0" rIns="0" bIns="0" rtlCol="0" anchor="ctr"/>
          <a:lstStyle/>
          <a:p>
            <a:pPr indent="0" marL="0">
              <a:buNone/>
            </a:pPr>
            <a:r>
              <a:rPr lang="en-US" sz="1650" b="1" dirty="0">
                <a:solidFill>
                  <a:srgbClr val="1A1D26"/>
                </a:solidFill>
                <a:latin typeface="Cambria" pitchFamily="34" charset="0"/>
                <a:ea typeface="Cambria" pitchFamily="34" charset="-122"/>
                <a:cs typeface="Cambria" pitchFamily="34" charset="-120"/>
              </a:rPr>
              <a:t>Manual configuration lifecycle</a:t>
            </a:r>
            <a:endParaRPr lang="en-US" sz="1650" dirty="0"/>
          </a:p>
        </p:txBody>
      </p:sp>
      <p:sp>
        <p:nvSpPr>
          <p:cNvPr id="13" name="Text 11"/>
          <p:cNvSpPr/>
          <p:nvPr/>
        </p:nvSpPr>
        <p:spPr>
          <a:xfrm>
            <a:off x="1554480" y="3291840"/>
            <a:ext cx="9509760" cy="32004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Editing a file on one machine and reloading a service. No API, no pipeline, no git.</a:t>
            </a:r>
            <a:endParaRPr lang="en-US" sz="1350" dirty="0"/>
          </a:p>
        </p:txBody>
      </p:sp>
      <p:sp>
        <p:nvSpPr>
          <p:cNvPr id="14" name="Shape 12"/>
          <p:cNvSpPr/>
          <p:nvPr/>
        </p:nvSpPr>
        <p:spPr>
          <a:xfrm>
            <a:off x="640080" y="3886200"/>
            <a:ext cx="10881360" cy="914400"/>
          </a:xfrm>
          <a:prstGeom prst="roundRect">
            <a:avLst>
              <a:gd name="adj" fmla="val 8000"/>
            </a:avLst>
          </a:prstGeom>
          <a:solidFill>
            <a:srgbClr val="FFFFFF"/>
          </a:solidFill>
          <a:ln w="19050">
            <a:solidFill>
              <a:srgbClr val="C92A2A"/>
            </a:solidFill>
            <a:prstDash val="solid"/>
          </a:ln>
        </p:spPr>
      </p:sp>
      <p:sp>
        <p:nvSpPr>
          <p:cNvPr id="15" name="Shape 13"/>
          <p:cNvSpPr/>
          <p:nvPr/>
        </p:nvSpPr>
        <p:spPr>
          <a:xfrm>
            <a:off x="914400" y="4114800"/>
            <a:ext cx="457200" cy="457200"/>
          </a:xfrm>
          <a:prstGeom prst="ellipse">
            <a:avLst/>
          </a:prstGeom>
          <a:solidFill>
            <a:srgbClr val="C92A2A"/>
          </a:solidFill>
          <a:ln w="12700">
            <a:solidFill>
              <a:srgbClr val="C92A2A"/>
            </a:solidFill>
            <a:prstDash val="solid"/>
          </a:ln>
        </p:spPr>
      </p:sp>
      <p:sp>
        <p:nvSpPr>
          <p:cNvPr id="16" name="Text 14"/>
          <p:cNvSpPr/>
          <p:nvPr/>
        </p:nvSpPr>
        <p:spPr>
          <a:xfrm>
            <a:off x="914400" y="4114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554480" y="4032504"/>
            <a:ext cx="3931920" cy="347472"/>
          </a:xfrm>
          <a:prstGeom prst="rect">
            <a:avLst/>
          </a:prstGeom>
          <a:noFill/>
          <a:ln/>
        </p:spPr>
        <p:txBody>
          <a:bodyPr wrap="square" lIns="0" tIns="0" rIns="0" bIns="0" rtlCol="0" anchor="ctr"/>
          <a:lstStyle/>
          <a:p>
            <a:pPr indent="0" marL="0">
              <a:buNone/>
            </a:pPr>
            <a:r>
              <a:rPr lang="en-US" sz="1650" b="1" dirty="0">
                <a:solidFill>
                  <a:srgbClr val="1A1D26"/>
                </a:solidFill>
                <a:latin typeface="Cambria" pitchFamily="34" charset="0"/>
                <a:ea typeface="Cambria" pitchFamily="34" charset="-122"/>
                <a:cs typeface="Cambria" pitchFamily="34" charset="-120"/>
              </a:rPr>
              <a:t>No Kubernetes awareness</a:t>
            </a:r>
            <a:endParaRPr lang="en-US" sz="1650" dirty="0"/>
          </a:p>
        </p:txBody>
      </p:sp>
      <p:sp>
        <p:nvSpPr>
          <p:cNvPr id="18" name="Text 16"/>
          <p:cNvSpPr/>
          <p:nvPr/>
        </p:nvSpPr>
        <p:spPr>
          <a:xfrm>
            <a:off x="1554480" y="4389120"/>
            <a:ext cx="9509760" cy="32004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No pods, no services, no namespaces. No service account, no path to the API server.</a:t>
            </a:r>
            <a:endParaRPr lang="en-US" sz="1350" dirty="0"/>
          </a:p>
        </p:txBody>
      </p:sp>
      <p:sp>
        <p:nvSpPr>
          <p:cNvPr id="19" name="Shape 17"/>
          <p:cNvSpPr/>
          <p:nvPr/>
        </p:nvSpPr>
        <p:spPr>
          <a:xfrm>
            <a:off x="640080" y="4983480"/>
            <a:ext cx="10881360" cy="914400"/>
          </a:xfrm>
          <a:prstGeom prst="roundRect">
            <a:avLst>
              <a:gd name="adj" fmla="val 8000"/>
            </a:avLst>
          </a:prstGeom>
          <a:solidFill>
            <a:srgbClr val="FFFFFF"/>
          </a:solidFill>
          <a:ln w="19050">
            <a:solidFill>
              <a:srgbClr val="C92A2A"/>
            </a:solidFill>
            <a:prstDash val="solid"/>
          </a:ln>
        </p:spPr>
      </p:sp>
      <p:sp>
        <p:nvSpPr>
          <p:cNvPr id="20" name="Shape 18"/>
          <p:cNvSpPr/>
          <p:nvPr/>
        </p:nvSpPr>
        <p:spPr>
          <a:xfrm>
            <a:off x="914400" y="5212080"/>
            <a:ext cx="457200" cy="457200"/>
          </a:xfrm>
          <a:prstGeom prst="ellipse">
            <a:avLst/>
          </a:prstGeom>
          <a:solidFill>
            <a:srgbClr val="C92A2A"/>
          </a:solidFill>
          <a:ln w="12700">
            <a:solidFill>
              <a:srgbClr val="C92A2A"/>
            </a:solidFill>
            <a:prstDash val="solid"/>
          </a:ln>
        </p:spPr>
      </p:sp>
      <p:sp>
        <p:nvSpPr>
          <p:cNvPr id="21" name="Text 19"/>
          <p:cNvSpPr/>
          <p:nvPr/>
        </p:nvSpPr>
        <p:spPr>
          <a:xfrm>
            <a:off x="914400" y="5212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554480" y="5129784"/>
            <a:ext cx="3931920" cy="347472"/>
          </a:xfrm>
          <a:prstGeom prst="rect">
            <a:avLst/>
          </a:prstGeom>
          <a:noFill/>
          <a:ln/>
        </p:spPr>
        <p:txBody>
          <a:bodyPr wrap="square" lIns="0" tIns="0" rIns="0" bIns="0" rtlCol="0" anchor="ctr"/>
          <a:lstStyle/>
          <a:p>
            <a:pPr indent="0" marL="0">
              <a:buNone/>
            </a:pPr>
            <a:r>
              <a:rPr lang="en-US" sz="1650" b="1" dirty="0">
                <a:solidFill>
                  <a:srgbClr val="1A1D26"/>
                </a:solidFill>
                <a:latin typeface="Cambria" pitchFamily="34" charset="0"/>
                <a:ea typeface="Cambria" pitchFamily="34" charset="-122"/>
                <a:cs typeface="Cambria" pitchFamily="34" charset="-120"/>
              </a:rPr>
              <a:t>Single point of failure</a:t>
            </a:r>
            <a:endParaRPr lang="en-US" sz="1650" dirty="0"/>
          </a:p>
        </p:txBody>
      </p:sp>
      <p:sp>
        <p:nvSpPr>
          <p:cNvPr id="23" name="Text 21"/>
          <p:cNvSpPr/>
          <p:nvPr/>
        </p:nvSpPr>
        <p:spPr>
          <a:xfrm>
            <a:off x="1554480" y="5486400"/>
            <a:ext cx="9509760" cy="320040"/>
          </a:xfrm>
          <a:prstGeom prst="rect">
            <a:avLst/>
          </a:prstGeom>
          <a:noFill/>
          <a:ln/>
        </p:spPr>
        <p:txBody>
          <a:bodyPr wrap="square" lIns="0" tIns="0" rIns="0" bIns="0" rtlCol="0" anchor="ctr"/>
          <a:lstStyle/>
          <a:p>
            <a:pPr indent="0" marL="0">
              <a:buNone/>
            </a:pPr>
            <a:r>
              <a:rPr lang="en-US" sz="1350" dirty="0">
                <a:solidFill>
                  <a:srgbClr val="3D4351"/>
                </a:solidFill>
                <a:latin typeface="Calibri" pitchFamily="34" charset="0"/>
                <a:ea typeface="Calibri" pitchFamily="34" charset="-122"/>
                <a:cs typeface="Calibri" pitchFamily="34" charset="-120"/>
              </a:rPr>
              <a:t>One machine, one disk, one systemd. If it goes down, monitoring goes with it.</a:t>
            </a:r>
            <a:endParaRPr lang="en-US" sz="1350" dirty="0"/>
          </a:p>
        </p:txBody>
      </p:sp>
      <p:sp>
        <p:nvSpPr>
          <p:cNvPr id="24" name="Text 22"/>
          <p:cNvSpPr/>
          <p:nvPr/>
        </p:nvSpPr>
        <p:spPr>
          <a:xfrm>
            <a:off x="640080" y="6172200"/>
            <a:ext cx="10881360" cy="365760"/>
          </a:xfrm>
          <a:prstGeom prst="rect">
            <a:avLst/>
          </a:prstGeom>
          <a:noFill/>
          <a:ln/>
        </p:spPr>
        <p:txBody>
          <a:bodyPr wrap="square" lIns="0" tIns="0" rIns="0" bIns="0" rtlCol="0" anchor="ctr"/>
          <a:lstStyle/>
          <a:p>
            <a:pPr indent="0" marL="0">
              <a:buNone/>
            </a:pPr>
            <a:r>
              <a:rPr lang="en-US" sz="1500" i="1" dirty="0">
                <a:solidFill>
                  <a:srgbClr val="E8590C"/>
                </a:solidFill>
                <a:latin typeface="Calibri" pitchFamily="34" charset="0"/>
                <a:ea typeface="Calibri" pitchFamily="34" charset="-122"/>
                <a:cs typeface="Calibri" pitchFamily="34" charset="-120"/>
              </a:rPr>
              <a:t>Every one of these is addressed in Section 4.</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1824"/>
        </a:solidFill>
      </p:bgPr>
    </p:bg>
    <p:spTree>
      <p:nvGrpSpPr>
        <p:cNvPr id="1" name=""/>
        <p:cNvGrpSpPr/>
        <p:nvPr/>
      </p:nvGrpSpPr>
      <p:grpSpPr>
        <a:xfrm>
          <a:off x="0" y="0"/>
          <a:ext cx="0" cy="0"/>
          <a:chOff x="0" y="0"/>
          <a:chExt cx="0" cy="0"/>
        </a:xfrm>
      </p:grpSpPr>
      <p:sp>
        <p:nvSpPr>
          <p:cNvPr id="2" name="Text 0"/>
          <p:cNvSpPr/>
          <p:nvPr/>
        </p:nvSpPr>
        <p:spPr>
          <a:xfrm>
            <a:off x="640080" y="1371600"/>
            <a:ext cx="10881360" cy="457200"/>
          </a:xfrm>
          <a:prstGeom prst="rect">
            <a:avLst/>
          </a:prstGeom>
          <a:noFill/>
          <a:ln/>
        </p:spPr>
        <p:txBody>
          <a:bodyPr wrap="square" lIns="0" tIns="0" rIns="0" bIns="0" rtlCol="0" anchor="ctr"/>
          <a:lstStyle/>
          <a:p>
            <a:pPr indent="0" marL="0">
              <a:buNone/>
            </a:pPr>
            <a:r>
              <a:rPr lang="en-US" sz="1700" b="1" spc="300" kern="0" dirty="0">
                <a:solidFill>
                  <a:srgbClr val="E8590C"/>
                </a:solidFill>
                <a:latin typeface="Calibri" pitchFamily="34" charset="0"/>
                <a:ea typeface="Calibri" pitchFamily="34" charset="-122"/>
                <a:cs typeface="Calibri" pitchFamily="34" charset="-120"/>
              </a:rPr>
              <a:t>Coming up</a:t>
            </a:r>
            <a:endParaRPr lang="en-US" sz="1700" dirty="0"/>
          </a:p>
        </p:txBody>
      </p:sp>
      <p:sp>
        <p:nvSpPr>
          <p:cNvPr id="3" name="Text 1"/>
          <p:cNvSpPr/>
          <p:nvPr/>
        </p:nvSpPr>
        <p:spPr>
          <a:xfrm>
            <a:off x="640080" y="1828800"/>
            <a:ext cx="10881360" cy="7772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Section 4: Helm Installation</a:t>
            </a:r>
            <a:endParaRPr lang="en-US" sz="4200" dirty="0"/>
          </a:p>
        </p:txBody>
      </p:sp>
      <p:sp>
        <p:nvSpPr>
          <p:cNvPr id="4" name="Shape 2"/>
          <p:cNvSpPr/>
          <p:nvPr/>
        </p:nvSpPr>
        <p:spPr>
          <a:xfrm>
            <a:off x="685800" y="3090672"/>
            <a:ext cx="164592" cy="164592"/>
          </a:xfrm>
          <a:prstGeom prst="ellipse">
            <a:avLst/>
          </a:prstGeom>
          <a:solidFill>
            <a:srgbClr val="E8590C"/>
          </a:solidFill>
          <a:ln w="12700">
            <a:solidFill>
              <a:srgbClr val="E8590C"/>
            </a:solidFill>
            <a:prstDash val="solid"/>
          </a:ln>
        </p:spPr>
      </p:sp>
      <p:sp>
        <p:nvSpPr>
          <p:cNvPr id="5" name="Text 3"/>
          <p:cNvSpPr/>
          <p:nvPr/>
        </p:nvSpPr>
        <p:spPr>
          <a:xfrm>
            <a:off x="1051560" y="2971800"/>
            <a:ext cx="49377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kube-prometheus-stack</a:t>
            </a:r>
            <a:endParaRPr lang="en-US" sz="1700" dirty="0"/>
          </a:p>
        </p:txBody>
      </p:sp>
      <p:sp>
        <p:nvSpPr>
          <p:cNvPr id="6" name="Text 4"/>
          <p:cNvSpPr/>
          <p:nvPr/>
        </p:nvSpPr>
        <p:spPr>
          <a:xfrm>
            <a:off x="6126480" y="2999232"/>
            <a:ext cx="5394960" cy="347472"/>
          </a:xfrm>
          <a:prstGeom prst="rect">
            <a:avLst/>
          </a:prstGeom>
          <a:noFill/>
          <a:ln/>
        </p:spPr>
        <p:txBody>
          <a:bodyPr wrap="square" lIns="0" tIns="0" rIns="0" bIns="0" rtlCol="0" anchor="ctr"/>
          <a:lstStyle/>
          <a:p>
            <a:pPr indent="0" marL="0">
              <a:buNone/>
            </a:pPr>
            <a:r>
              <a:rPr lang="en-US" sz="1400" dirty="0">
                <a:solidFill>
                  <a:srgbClr val="9AA4B8"/>
                </a:solidFill>
                <a:latin typeface="Calibri" pitchFamily="34" charset="0"/>
                <a:ea typeface="Calibri" pitchFamily="34" charset="-122"/>
                <a:cs typeface="Calibri" pitchFamily="34" charset="-120"/>
              </a:rPr>
              <a:t>One chart, the whole stack</a:t>
            </a:r>
            <a:endParaRPr lang="en-US" sz="1400" dirty="0"/>
          </a:p>
        </p:txBody>
      </p:sp>
      <p:sp>
        <p:nvSpPr>
          <p:cNvPr id="7" name="Shape 5"/>
          <p:cNvSpPr/>
          <p:nvPr/>
        </p:nvSpPr>
        <p:spPr>
          <a:xfrm>
            <a:off x="685800" y="3840480"/>
            <a:ext cx="164592" cy="164592"/>
          </a:xfrm>
          <a:prstGeom prst="ellipse">
            <a:avLst/>
          </a:prstGeom>
          <a:solidFill>
            <a:srgbClr val="E8590C"/>
          </a:solidFill>
          <a:ln w="12700">
            <a:solidFill>
              <a:srgbClr val="E8590C"/>
            </a:solidFill>
            <a:prstDash val="solid"/>
          </a:ln>
        </p:spPr>
      </p:sp>
      <p:sp>
        <p:nvSpPr>
          <p:cNvPr id="8" name="Text 6"/>
          <p:cNvSpPr/>
          <p:nvPr/>
        </p:nvSpPr>
        <p:spPr>
          <a:xfrm>
            <a:off x="1051560" y="3721608"/>
            <a:ext cx="49377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Prometheus Operator</a:t>
            </a:r>
            <a:endParaRPr lang="en-US" sz="1700" dirty="0"/>
          </a:p>
        </p:txBody>
      </p:sp>
      <p:sp>
        <p:nvSpPr>
          <p:cNvPr id="9" name="Text 7"/>
          <p:cNvSpPr/>
          <p:nvPr/>
        </p:nvSpPr>
        <p:spPr>
          <a:xfrm>
            <a:off x="6126480" y="3749040"/>
            <a:ext cx="5394960" cy="347472"/>
          </a:xfrm>
          <a:prstGeom prst="rect">
            <a:avLst/>
          </a:prstGeom>
          <a:noFill/>
          <a:ln/>
        </p:spPr>
        <p:txBody>
          <a:bodyPr wrap="square" lIns="0" tIns="0" rIns="0" bIns="0" rtlCol="0" anchor="ctr"/>
          <a:lstStyle/>
          <a:p>
            <a:pPr indent="0" marL="0">
              <a:buNone/>
            </a:pPr>
            <a:r>
              <a:rPr lang="en-US" sz="1400" dirty="0">
                <a:solidFill>
                  <a:srgbClr val="9AA4B8"/>
                </a:solidFill>
                <a:latin typeface="Calibri" pitchFamily="34" charset="0"/>
                <a:ea typeface="Calibri" pitchFamily="34" charset="-122"/>
                <a:cs typeface="Calibri" pitchFamily="34" charset="-120"/>
              </a:rPr>
              <a:t>CRDs instead of config files</a:t>
            </a:r>
            <a:endParaRPr lang="en-US" sz="1400" dirty="0"/>
          </a:p>
        </p:txBody>
      </p:sp>
      <p:sp>
        <p:nvSpPr>
          <p:cNvPr id="10" name="Shape 8"/>
          <p:cNvSpPr/>
          <p:nvPr/>
        </p:nvSpPr>
        <p:spPr>
          <a:xfrm>
            <a:off x="685800" y="4590288"/>
            <a:ext cx="164592" cy="164592"/>
          </a:xfrm>
          <a:prstGeom prst="ellipse">
            <a:avLst/>
          </a:prstGeom>
          <a:solidFill>
            <a:srgbClr val="E8590C"/>
          </a:solidFill>
          <a:ln w="12700">
            <a:solidFill>
              <a:srgbClr val="E8590C"/>
            </a:solidFill>
            <a:prstDash val="solid"/>
          </a:ln>
        </p:spPr>
      </p:sp>
      <p:sp>
        <p:nvSpPr>
          <p:cNvPr id="11" name="Text 9"/>
          <p:cNvSpPr/>
          <p:nvPr/>
        </p:nvSpPr>
        <p:spPr>
          <a:xfrm>
            <a:off x="1051560" y="4471416"/>
            <a:ext cx="49377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Grafana and Alertmanager</a:t>
            </a:r>
            <a:endParaRPr lang="en-US" sz="1700" dirty="0"/>
          </a:p>
        </p:txBody>
      </p:sp>
      <p:sp>
        <p:nvSpPr>
          <p:cNvPr id="12" name="Text 10"/>
          <p:cNvSpPr/>
          <p:nvPr/>
        </p:nvSpPr>
        <p:spPr>
          <a:xfrm>
            <a:off x="6126480" y="4498848"/>
            <a:ext cx="5394960" cy="347472"/>
          </a:xfrm>
          <a:prstGeom prst="rect">
            <a:avLst/>
          </a:prstGeom>
          <a:noFill/>
          <a:ln/>
        </p:spPr>
        <p:txBody>
          <a:bodyPr wrap="square" lIns="0" tIns="0" rIns="0" bIns="0" rtlCol="0" anchor="ctr"/>
          <a:lstStyle/>
          <a:p>
            <a:pPr indent="0" marL="0">
              <a:buNone/>
            </a:pPr>
            <a:r>
              <a:rPr lang="en-US" sz="1400" dirty="0">
                <a:solidFill>
                  <a:srgbClr val="9AA4B8"/>
                </a:solidFill>
                <a:latin typeface="Calibri" pitchFamily="34" charset="0"/>
                <a:ea typeface="Calibri" pitchFamily="34" charset="-122"/>
                <a:cs typeface="Calibri" pitchFamily="34" charset="-120"/>
              </a:rPr>
              <a:t>Pre-wired, no manual datasource</a:t>
            </a:r>
            <a:endParaRPr lang="en-US" sz="1400" dirty="0"/>
          </a:p>
        </p:txBody>
      </p:sp>
      <p:sp>
        <p:nvSpPr>
          <p:cNvPr id="13" name="Shape 11"/>
          <p:cNvSpPr/>
          <p:nvPr/>
        </p:nvSpPr>
        <p:spPr>
          <a:xfrm>
            <a:off x="685800" y="5340096"/>
            <a:ext cx="164592" cy="164592"/>
          </a:xfrm>
          <a:prstGeom prst="ellipse">
            <a:avLst/>
          </a:prstGeom>
          <a:solidFill>
            <a:srgbClr val="E8590C"/>
          </a:solidFill>
          <a:ln w="12700">
            <a:solidFill>
              <a:srgbClr val="E8590C"/>
            </a:solidFill>
            <a:prstDash val="solid"/>
          </a:ln>
        </p:spPr>
      </p:sp>
      <p:sp>
        <p:nvSpPr>
          <p:cNvPr id="14" name="Text 12"/>
          <p:cNvSpPr/>
          <p:nvPr/>
        </p:nvSpPr>
        <p:spPr>
          <a:xfrm>
            <a:off x="1051560" y="5221224"/>
            <a:ext cx="49377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node-exporter, kube-state-metrics</a:t>
            </a:r>
            <a:endParaRPr lang="en-US" sz="1700" dirty="0"/>
          </a:p>
        </p:txBody>
      </p:sp>
      <p:sp>
        <p:nvSpPr>
          <p:cNvPr id="15" name="Text 13"/>
          <p:cNvSpPr/>
          <p:nvPr/>
        </p:nvSpPr>
        <p:spPr>
          <a:xfrm>
            <a:off x="6126480" y="5248656"/>
            <a:ext cx="5394960" cy="347472"/>
          </a:xfrm>
          <a:prstGeom prst="rect">
            <a:avLst/>
          </a:prstGeom>
          <a:noFill/>
          <a:ln/>
        </p:spPr>
        <p:txBody>
          <a:bodyPr wrap="square" lIns="0" tIns="0" rIns="0" bIns="0" rtlCol="0" anchor="ctr"/>
          <a:lstStyle/>
          <a:p>
            <a:pPr indent="0" marL="0">
              <a:buNone/>
            </a:pPr>
            <a:r>
              <a:rPr lang="en-US" sz="1400" dirty="0">
                <a:solidFill>
                  <a:srgbClr val="9AA4B8"/>
                </a:solidFill>
                <a:latin typeface="Calibri" pitchFamily="34" charset="0"/>
                <a:ea typeface="Calibri" pitchFamily="34" charset="-122"/>
                <a:cs typeface="Calibri" pitchFamily="34" charset="-120"/>
              </a:rPr>
              <a:t>Deployed and scraped automatically</a:t>
            </a:r>
            <a:endParaRPr lang="en-US" sz="1400" dirty="0"/>
          </a:p>
        </p:txBody>
      </p:sp>
      <p:sp>
        <p:nvSpPr>
          <p:cNvPr id="16" name="Text 14"/>
          <p:cNvSpPr/>
          <p:nvPr/>
        </p:nvSpPr>
        <p:spPr>
          <a:xfrm>
            <a:off x="640080" y="6144768"/>
            <a:ext cx="10881360" cy="365760"/>
          </a:xfrm>
          <a:prstGeom prst="rect">
            <a:avLst/>
          </a:prstGeom>
          <a:noFill/>
          <a:ln/>
        </p:spPr>
        <p:txBody>
          <a:bodyPr wrap="square" lIns="0" tIns="0" rIns="0" bIns="0" rtlCol="0" anchor="ctr"/>
          <a:lstStyle/>
          <a:p>
            <a:pPr indent="0" marL="0">
              <a:buNone/>
            </a:pPr>
            <a:r>
              <a:rPr lang="en-US" sz="1600" i="1" dirty="0">
                <a:solidFill>
                  <a:srgbClr val="E8590C"/>
                </a:solidFill>
                <a:latin typeface="Calibri" pitchFamily="34" charset="0"/>
                <a:ea typeface="Calibri" pitchFamily="34" charset="-122"/>
                <a:cs typeface="Calibri" pitchFamily="34" charset="-120"/>
              </a:rPr>
              <a:t>When we open the Targets page again, it will not have one entry.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2026-08-09T07:40:08Z</dcterms:created>
  <dcterms:modified xsi:type="dcterms:W3CDTF">2026-08-09T07:40:08Z</dcterms:modified>
</cp:coreProperties>
</file>